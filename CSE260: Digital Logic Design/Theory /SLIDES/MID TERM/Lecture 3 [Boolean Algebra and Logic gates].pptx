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y="5143500" cx="9144000"/>
  <p:notesSz cx="6858000" cy="9144000"/>
  <p:embeddedFontLst>
    <p:embeddedFont>
      <p:font typeface="Roboto Mono Medium"/>
      <p:regular r:id="rId49"/>
      <p:bold r:id="rId50"/>
      <p:italic r:id="rId51"/>
      <p:boldItalic r:id="rId52"/>
    </p:embeddedFont>
    <p:embeddedFont>
      <p:font typeface="Lexend Light"/>
      <p:regular r:id="rId53"/>
      <p:bold r:id="rId54"/>
    </p:embeddedFont>
    <p:embeddedFont>
      <p:font typeface="Lexend Medium"/>
      <p:regular r:id="rId55"/>
      <p:bold r:id="rId56"/>
    </p:embeddedFont>
    <p:embeddedFont>
      <p:font typeface="Lexend"/>
      <p:regular r:id="rId57"/>
      <p:bold r:id="rId5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C172FE3-5CE0-4723-B9A9-000BD7A4E569}">
  <a:tblStyle styleId="{6C172FE3-5CE0-4723-B9A9-000BD7A4E56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347E300B-FD26-4E9D-AB0E-5DAAEE3C185F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45816025-0701-47EE-B307-CD39AD27B1C3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4472C4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4472C4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4472C4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4472C4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font" Target="fonts/RobotoMonoMedium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RobotoMonoMedium-italic.fntdata"/><Relationship Id="rId50" Type="http://schemas.openxmlformats.org/officeDocument/2006/relationships/font" Target="fonts/RobotoMonoMedium-bold.fntdata"/><Relationship Id="rId53" Type="http://schemas.openxmlformats.org/officeDocument/2006/relationships/font" Target="fonts/LexendLight-regular.fntdata"/><Relationship Id="rId52" Type="http://schemas.openxmlformats.org/officeDocument/2006/relationships/font" Target="fonts/RobotoMonoMedium-boldItalic.fntdata"/><Relationship Id="rId11" Type="http://schemas.openxmlformats.org/officeDocument/2006/relationships/slide" Target="slides/slide5.xml"/><Relationship Id="rId55" Type="http://schemas.openxmlformats.org/officeDocument/2006/relationships/font" Target="fonts/LexendMedium-regular.fntdata"/><Relationship Id="rId10" Type="http://schemas.openxmlformats.org/officeDocument/2006/relationships/slide" Target="slides/slide4.xml"/><Relationship Id="rId54" Type="http://schemas.openxmlformats.org/officeDocument/2006/relationships/font" Target="fonts/LexendLight-bold.fntdata"/><Relationship Id="rId13" Type="http://schemas.openxmlformats.org/officeDocument/2006/relationships/slide" Target="slides/slide7.xml"/><Relationship Id="rId57" Type="http://schemas.openxmlformats.org/officeDocument/2006/relationships/font" Target="fonts/Lexend-regular.fntdata"/><Relationship Id="rId12" Type="http://schemas.openxmlformats.org/officeDocument/2006/relationships/slide" Target="slides/slide6.xml"/><Relationship Id="rId56" Type="http://schemas.openxmlformats.org/officeDocument/2006/relationships/font" Target="fonts/LexendMedium-bold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58" Type="http://schemas.openxmlformats.org/officeDocument/2006/relationships/font" Target="fonts/Lexend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61495c2e2e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61495c2e2e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61d68e66d9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61d68e66d9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1d68e66d9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1d68e66d9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61d2ac5f00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61d2ac5f00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61d68e66d9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61d68e66d9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61d68e66d9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61d68e66d9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61d68e66d9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61d68e66d9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61d68e66d9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61d68e66d9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61d68e66d9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61d68e66d9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61d68e66d9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61d68e66d9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61d68e66d9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61d68e66d9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61d68e66d9_0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61d68e66d9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61495c2e2e_0_4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61495c2e2e_0_4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61d68e66d9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61d68e66d9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61d68e66d9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61d68e66d9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61d68e66d9_0_3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61d68e66d9_0_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61d68e66d9_0_3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61d68e66d9_0_3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61d68e66d9_0_3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61d68e66d9_0_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61d68e66d9_0_3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361d68e66d9_0_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61d68e66d9_0_3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361d68e66d9_0_3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61d68e66d9_0_4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61d68e66d9_0_4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61d68e66d9_0_4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361d68e66d9_0_4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61d68e66d9_0_19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361d68e66d9_0_19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61d68e66d9_0_4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61d68e66d9_0_4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61d68e66d9_0_6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361d68e66d9_0_6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61d68e66d9_0_6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361d68e66d9_0_6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61d68e66d9_0_6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361d68e66d9_0_6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61d68e66d9_0_6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361d68e66d9_0_6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61d68e66d9_0_7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361d68e66d9_0_7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61d68e66d9_0_7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361d68e66d9_0_7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361d68e66d9_0_7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5" name="Google Shape;565;g361d68e66d9_0_7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361d68e66d9_0_7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0" name="Google Shape;580;g361d68e66d9_0_7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361d68e66d9_0_7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5" name="Google Shape;595;g361d68e66d9_0_7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361d68e66d9_0_8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361d68e66d9_0_8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361d68e66d9_0_8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8" name="Google Shape;628;g361d68e66d9_0_8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361d68e66d9_0_9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361d68e66d9_0_9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g361d68e66d9_0_1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6" name="Google Shape;866;g361d68e66d9_0_1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g361d68e66d9_0_13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5" name="Google Shape;935;g361d68e66d9_0_1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g361d68e66d9_0_13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2" name="Google Shape;952;g361d68e66d9_0_1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g361d68e66d9_0_15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9" name="Google Shape;1139;g361d68e66d9_0_15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4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g361d68e66d9_0_15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6" name="Google Shape;1156;g361d68e66d9_0_15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18.png"/><Relationship Id="rId5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15.png"/><Relationship Id="rId5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1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png"/><Relationship Id="rId4" Type="http://schemas.openxmlformats.org/officeDocument/2006/relationships/image" Target="../media/image16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hyperlink" Target="https://www.youtube.com/watch?v=-EjGrPhol70&amp;list=PLTlXQu_162Qg8-oRqv_iGYHSz2XrfUc51&amp;index=7" TargetMode="Externa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hyperlink" Target="https://www.youtube.com/watch?v=eAuOqgT5lqM&amp;list=PLTlXQu_162Qg8-oRqv_iGYHSz2XrfUc51&amp;index=8" TargetMode="Externa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08725" y="344175"/>
            <a:ext cx="8501100" cy="20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0">
                <a:latin typeface="Lexend"/>
                <a:ea typeface="Lexend"/>
                <a:cs typeface="Lexend"/>
                <a:sym typeface="Lexend"/>
              </a:rPr>
              <a:t>Lecture 3</a:t>
            </a:r>
            <a:endParaRPr sz="6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200">
                <a:latin typeface="Lexend"/>
                <a:ea typeface="Lexend"/>
                <a:cs typeface="Lexend"/>
                <a:sym typeface="Lexend"/>
              </a:rPr>
              <a:t>Logic Gates &amp; Boolean Algebra</a:t>
            </a:r>
            <a:endParaRPr sz="4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0" y="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Engineering, BRAC University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321450" y="4484225"/>
            <a:ext cx="8501100" cy="10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>
                <a:latin typeface="Lexend"/>
                <a:ea typeface="Lexend"/>
                <a:cs typeface="Lexend"/>
                <a:sym typeface="Lexend"/>
              </a:rPr>
              <a:t>CSE260 : Digital Logic Design</a:t>
            </a:r>
            <a:endParaRPr sz="50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8" name="Google Shape;5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64999" y="2571750"/>
            <a:ext cx="6013999" cy="144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67" name="Google Shape;67;p14"/>
          <p:cNvSpPr/>
          <p:nvPr/>
        </p:nvSpPr>
        <p:spPr>
          <a:xfrm>
            <a:off x="376395" y="1324925"/>
            <a:ext cx="8399100" cy="3480300"/>
          </a:xfrm>
          <a:prstGeom prst="roundRect">
            <a:avLst>
              <a:gd fmla="val 5139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8" name="Google Shape;68;p14"/>
          <p:cNvGrpSpPr/>
          <p:nvPr/>
        </p:nvGrpSpPr>
        <p:grpSpPr>
          <a:xfrm>
            <a:off x="422950" y="1426240"/>
            <a:ext cx="277873" cy="68400"/>
            <a:chOff x="411700" y="2416840"/>
            <a:chExt cx="277873" cy="68400"/>
          </a:xfrm>
        </p:grpSpPr>
        <p:sp>
          <p:nvSpPr>
            <p:cNvPr id="69" name="Google Shape;69;p14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4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4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2" name="Google Shape;72;p14"/>
          <p:cNvSpPr txBox="1"/>
          <p:nvPr/>
        </p:nvSpPr>
        <p:spPr>
          <a:xfrm>
            <a:off x="354925" y="1557600"/>
            <a:ext cx="8399100" cy="21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Binary logic consists of binary variables and logical operations.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Variables are designated by letters such as A, B, C, x, y, z etc. with only 2 possible values: 1 and 0.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Logic operations: and, or, not etc.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" name="Google Shape;73;p14"/>
          <p:cNvSpPr txBox="1"/>
          <p:nvPr/>
        </p:nvSpPr>
        <p:spPr>
          <a:xfrm>
            <a:off x="209775" y="316175"/>
            <a:ext cx="88113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Binary Logic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5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82" name="Google Shape;82;p15"/>
          <p:cNvSpPr/>
          <p:nvPr/>
        </p:nvSpPr>
        <p:spPr>
          <a:xfrm>
            <a:off x="376395" y="1324925"/>
            <a:ext cx="8399100" cy="3480300"/>
          </a:xfrm>
          <a:prstGeom prst="roundRect">
            <a:avLst>
              <a:gd fmla="val 5139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3" name="Google Shape;83;p15"/>
          <p:cNvGrpSpPr/>
          <p:nvPr/>
        </p:nvGrpSpPr>
        <p:grpSpPr>
          <a:xfrm>
            <a:off x="422950" y="1426240"/>
            <a:ext cx="277873" cy="68400"/>
            <a:chOff x="411700" y="2416840"/>
            <a:chExt cx="277873" cy="68400"/>
          </a:xfrm>
        </p:grpSpPr>
        <p:sp>
          <p:nvSpPr>
            <p:cNvPr id="84" name="Google Shape;84;p15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15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5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7" name="Google Shape;87;p15"/>
          <p:cNvSpPr txBox="1"/>
          <p:nvPr/>
        </p:nvSpPr>
        <p:spPr>
          <a:xfrm>
            <a:off x="354925" y="1557600"/>
            <a:ext cx="8399100" cy="21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most basic digital devices are called gates.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gate has one or more inputs and produces an output that is a function of the current input values.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relationship between the input and the output is based on a certain logic.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5"/>
          <p:cNvSpPr txBox="1"/>
          <p:nvPr/>
        </p:nvSpPr>
        <p:spPr>
          <a:xfrm>
            <a:off x="209775" y="316175"/>
            <a:ext cx="88113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Logic Gates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6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" name="Google Shape;95;p16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376395" y="1324925"/>
            <a:ext cx="8399100" cy="3480300"/>
          </a:xfrm>
          <a:prstGeom prst="roundRect">
            <a:avLst>
              <a:gd fmla="val 5139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8" name="Google Shape;98;p16"/>
          <p:cNvGrpSpPr/>
          <p:nvPr/>
        </p:nvGrpSpPr>
        <p:grpSpPr>
          <a:xfrm>
            <a:off x="422950" y="1426240"/>
            <a:ext cx="277873" cy="68400"/>
            <a:chOff x="411700" y="2416840"/>
            <a:chExt cx="277873" cy="68400"/>
          </a:xfrm>
        </p:grpSpPr>
        <p:sp>
          <p:nvSpPr>
            <p:cNvPr id="99" name="Google Shape;99;p16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6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6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2" name="Google Shape;102;p16"/>
          <p:cNvSpPr txBox="1"/>
          <p:nvPr/>
        </p:nvSpPr>
        <p:spPr>
          <a:xfrm>
            <a:off x="354925" y="1557600"/>
            <a:ext cx="8399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Provides a listing of every possible combination of inputs and its corresponding outputs.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" name="Google Shape;103;p16"/>
          <p:cNvSpPr txBox="1"/>
          <p:nvPr/>
        </p:nvSpPr>
        <p:spPr>
          <a:xfrm>
            <a:off x="209775" y="316175"/>
            <a:ext cx="88113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Truth Table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04" name="Google Shape;104;p16"/>
          <p:cNvGraphicFramePr/>
          <p:nvPr/>
        </p:nvGraphicFramePr>
        <p:xfrm>
          <a:off x="2574325" y="25698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{6C172FE3-5CE0-4723-B9A9-000BD7A4E569}</a:tableStyleId>
              </a:tblPr>
              <a:tblGrid>
                <a:gridCol w="1930325"/>
                <a:gridCol w="1728550"/>
              </a:tblGrid>
              <a:tr h="898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INPUTS</a:t>
                      </a:r>
                      <a:endParaRPr b="1"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OUTPUTS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38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7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...</a:t>
                      </a:r>
                      <a:endParaRPr sz="19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...</a:t>
                      </a:r>
                      <a:endParaRPr sz="1900">
                        <a:solidFill>
                          <a:schemeClr val="dk1"/>
                        </a:solidFill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7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08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...</a:t>
                      </a:r>
                      <a:endParaRPr sz="16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...</a:t>
                      </a:r>
                      <a:endParaRPr sz="1900">
                        <a:solidFill>
                          <a:schemeClr val="dk1"/>
                        </a:solidFill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6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112" name="Google Shape;112;p17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113" name="Google Shape;113;p17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7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7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6" name="Google Shape;116;p17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All Logic Gates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" name="Google Shape;117;p17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7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9" name="Google Shape;119;p17"/>
          <p:cNvCxnSpPr/>
          <p:nvPr/>
        </p:nvCxnSpPr>
        <p:spPr>
          <a:xfrm>
            <a:off x="1399300" y="1055075"/>
            <a:ext cx="0" cy="3868500"/>
          </a:xfrm>
          <a:prstGeom prst="straightConnector1">
            <a:avLst/>
          </a:prstGeom>
          <a:noFill/>
          <a:ln cap="flat" cmpd="sng" w="9525">
            <a:solidFill>
              <a:srgbClr val="A9B0F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" name="Google Shape;120;p17"/>
          <p:cNvCxnSpPr/>
          <p:nvPr/>
        </p:nvCxnSpPr>
        <p:spPr>
          <a:xfrm>
            <a:off x="129300" y="1056725"/>
            <a:ext cx="8885400" cy="0"/>
          </a:xfrm>
          <a:prstGeom prst="straightConnector1">
            <a:avLst/>
          </a:prstGeom>
          <a:noFill/>
          <a:ln cap="flat" cmpd="sng" w="9525">
            <a:solidFill>
              <a:srgbClr val="A9B0FE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21" name="Google Shape;121;p17"/>
          <p:cNvGraphicFramePr/>
          <p:nvPr/>
        </p:nvGraphicFramePr>
        <p:xfrm>
          <a:off x="2333175" y="1532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{6C172FE3-5CE0-4723-B9A9-000BD7A4E569}</a:tableStyleId>
              </a:tblPr>
              <a:tblGrid>
                <a:gridCol w="2216425"/>
                <a:gridCol w="2703700"/>
              </a:tblGrid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9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NOT</a:t>
                      </a:r>
                      <a:endParaRPr sz="19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Basic</a:t>
                      </a:r>
                      <a:endParaRPr sz="19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Gates</a:t>
                      </a:r>
                      <a:endParaRPr sz="19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9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AND</a:t>
                      </a:r>
                      <a:endParaRPr sz="19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vMerge="1"/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9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OR</a:t>
                      </a:r>
                      <a:endParaRPr sz="19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vMerge="1"/>
              </a:tr>
              <a:tr h="195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9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NAND</a:t>
                      </a:r>
                      <a:endParaRPr sz="19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Universal</a:t>
                      </a:r>
                      <a:endParaRPr sz="19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Gates</a:t>
                      </a:r>
                      <a:endParaRPr sz="19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9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NOR</a:t>
                      </a:r>
                      <a:endParaRPr sz="19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vMerge="1"/>
              </a:tr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9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XOR</a:t>
                      </a:r>
                      <a:endParaRPr sz="19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Exclusive</a:t>
                      </a:r>
                      <a:endParaRPr sz="19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Gates</a:t>
                      </a:r>
                      <a:endParaRPr sz="19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9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XNOR</a:t>
                      </a:r>
                      <a:endParaRPr sz="19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vMerge="1"/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7" name="Google Shape;12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129" name="Google Shape;129;p18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130" name="Google Shape;130;p18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8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8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3" name="Google Shape;133;p18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2-input AND gate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8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" name="Google Shape;135;p18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" name="Google Shape;136;p18"/>
          <p:cNvSpPr txBox="1"/>
          <p:nvPr/>
        </p:nvSpPr>
        <p:spPr>
          <a:xfrm>
            <a:off x="567600" y="4217750"/>
            <a:ext cx="8202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i="0" lang="en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Output will be 1 only when both inputs are 1</a:t>
            </a:r>
            <a:endParaRPr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" name="Google Shape;137;p18"/>
          <p:cNvSpPr txBox="1"/>
          <p:nvPr/>
        </p:nvSpPr>
        <p:spPr>
          <a:xfrm>
            <a:off x="4381575" y="2844337"/>
            <a:ext cx="13032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i="0" lang="en" sz="2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 = on</a:t>
            </a:r>
            <a:endParaRPr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i="0" lang="en" sz="2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 = off</a:t>
            </a:r>
            <a:endParaRPr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38" name="Google Shape;138;p18"/>
          <p:cNvGraphicFramePr/>
          <p:nvPr/>
        </p:nvGraphicFramePr>
        <p:xfrm>
          <a:off x="567588" y="1389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{6C172FE3-5CE0-4723-B9A9-000BD7A4E569}</a:tableStyleId>
              </a:tblPr>
              <a:tblGrid>
                <a:gridCol w="1059825"/>
                <a:gridCol w="1292825"/>
                <a:gridCol w="1292825"/>
              </a:tblGrid>
              <a:tr h="452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b="1"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A.B</a:t>
                      </a:r>
                      <a:endParaRPr b="1"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i="0" sz="2400" u="none">
                        <a:solidFill>
                          <a:srgbClr val="000000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solidFill>
                          <a:schemeClr val="dk1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solidFill>
                          <a:schemeClr val="dk1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solidFill>
                          <a:schemeClr val="dk1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139" name="Google Shape;13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98560" y="1389575"/>
            <a:ext cx="2783040" cy="112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9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5" name="Google Shape;14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147" name="Google Shape;147;p19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148" name="Google Shape;148;p19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9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9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1" name="Google Shape;151;p19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2-input OR gate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>
            <a:off x="567600" y="4217750"/>
            <a:ext cx="8202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Output will be 1 when at least one input is 1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>
            <a:off x="4381575" y="2844337"/>
            <a:ext cx="13032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i="0" lang="en" sz="2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 = on</a:t>
            </a:r>
            <a:endParaRPr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i="0" lang="en" sz="2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 = off</a:t>
            </a:r>
            <a:endParaRPr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56" name="Google Shape;156;p19"/>
          <p:cNvGraphicFramePr/>
          <p:nvPr/>
        </p:nvGraphicFramePr>
        <p:xfrm>
          <a:off x="567588" y="1389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{6C172FE3-5CE0-4723-B9A9-000BD7A4E569}</a:tableStyleId>
              </a:tblPr>
              <a:tblGrid>
                <a:gridCol w="1059825"/>
                <a:gridCol w="1292825"/>
                <a:gridCol w="1292825"/>
              </a:tblGrid>
              <a:tr h="452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b="1"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A+B</a:t>
                      </a:r>
                      <a:endParaRPr b="1"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i="0" sz="2400" u="none">
                        <a:solidFill>
                          <a:srgbClr val="000000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solidFill>
                          <a:schemeClr val="dk1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solidFill>
                          <a:schemeClr val="dk1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solidFill>
                          <a:schemeClr val="dk1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157" name="Google Shape;15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69603" y="1389570"/>
            <a:ext cx="3199992" cy="122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0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3" name="Google Shape;16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165" name="Google Shape;165;p20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166" name="Google Shape;166;p20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20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20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9" name="Google Shape;169;p20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NOT gate (Inverter)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567600" y="4065350"/>
            <a:ext cx="8202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Output will be the inverse of the input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3187400" y="1930037"/>
            <a:ext cx="13032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i="0" lang="en" sz="2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 = on</a:t>
            </a:r>
            <a:endParaRPr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i="0" lang="en" sz="2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 = off</a:t>
            </a:r>
            <a:endParaRPr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4" name="Google Shape;174;p20"/>
          <p:cNvGraphicFramePr/>
          <p:nvPr/>
        </p:nvGraphicFramePr>
        <p:xfrm>
          <a:off x="567588" y="1389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{6C172FE3-5CE0-4723-B9A9-000BD7A4E569}</a:tableStyleId>
              </a:tblPr>
              <a:tblGrid>
                <a:gridCol w="1059825"/>
                <a:gridCol w="1292825"/>
              </a:tblGrid>
              <a:tr h="452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b="1"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A’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175" name="Google Shape;17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05400" y="1008575"/>
            <a:ext cx="2883200" cy="132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05401" y="2564977"/>
            <a:ext cx="2883199" cy="11997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1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1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85" name="Google Shape;185;p21"/>
          <p:cNvSpPr/>
          <p:nvPr/>
        </p:nvSpPr>
        <p:spPr>
          <a:xfrm>
            <a:off x="376395" y="1324925"/>
            <a:ext cx="8399100" cy="3480300"/>
          </a:xfrm>
          <a:prstGeom prst="roundRect">
            <a:avLst>
              <a:gd fmla="val 5139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6" name="Google Shape;186;p21"/>
          <p:cNvGrpSpPr/>
          <p:nvPr/>
        </p:nvGrpSpPr>
        <p:grpSpPr>
          <a:xfrm>
            <a:off x="422950" y="1426240"/>
            <a:ext cx="277873" cy="68400"/>
            <a:chOff x="411700" y="2416840"/>
            <a:chExt cx="277873" cy="68400"/>
          </a:xfrm>
        </p:grpSpPr>
        <p:sp>
          <p:nvSpPr>
            <p:cNvPr id="187" name="Google Shape;187;p21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21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21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0" name="Google Shape;190;p21"/>
          <p:cNvSpPr txBox="1"/>
          <p:nvPr/>
        </p:nvSpPr>
        <p:spPr>
          <a:xfrm>
            <a:off x="354925" y="1557600"/>
            <a:ext cx="8399100" cy="30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NAND and NOR are also known as universal gates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</a:t>
            </a:r>
            <a:r>
              <a:rPr b="1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universal gate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is a </a:t>
            </a:r>
            <a:r>
              <a:rPr b="1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gate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which can implement any other </a:t>
            </a:r>
            <a:r>
              <a:rPr b="1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gate </a:t>
            </a:r>
            <a:endParaRPr b="1"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XOR and XNOR are known as Exclusive Gates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 </a:t>
            </a:r>
            <a:r>
              <a:rPr b="1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exclusive gate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is a </a:t>
            </a:r>
            <a:r>
              <a:rPr b="1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gate 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that outputs based on</a:t>
            </a:r>
            <a:r>
              <a:rPr b="1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exclusive input conditions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1"/>
          <p:cNvSpPr txBox="1"/>
          <p:nvPr/>
        </p:nvSpPr>
        <p:spPr>
          <a:xfrm>
            <a:off x="209775" y="316175"/>
            <a:ext cx="88113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Universal &amp; Exclusive Gate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2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7" name="Google Shape;19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199" name="Google Shape;199;p22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200" name="Google Shape;200;p22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22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22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3" name="Google Shape;203;p22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2-input NAND gate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2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2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2"/>
          <p:cNvSpPr txBox="1"/>
          <p:nvPr/>
        </p:nvSpPr>
        <p:spPr>
          <a:xfrm>
            <a:off x="567600" y="3912950"/>
            <a:ext cx="82020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lang="en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Inverse of AND. 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lang="en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Output will be 1 when </a:t>
            </a:r>
            <a:r>
              <a:rPr lang="en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at least</a:t>
            </a:r>
            <a:r>
              <a:rPr lang="en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one input is 0</a:t>
            </a:r>
            <a:endParaRPr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2"/>
          <p:cNvSpPr txBox="1"/>
          <p:nvPr/>
        </p:nvSpPr>
        <p:spPr>
          <a:xfrm>
            <a:off x="3411275" y="1389587"/>
            <a:ext cx="13032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i="0" lang="en" sz="2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 = on</a:t>
            </a:r>
            <a:endParaRPr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i="0" lang="en" sz="2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 = off</a:t>
            </a:r>
            <a:endParaRPr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08" name="Google Shape;208;p22"/>
          <p:cNvGraphicFramePr/>
          <p:nvPr/>
        </p:nvGraphicFramePr>
        <p:xfrm>
          <a:off x="567588" y="1389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{6C172FE3-5CE0-4723-B9A9-000BD7A4E569}</a:tableStyleId>
              </a:tblPr>
              <a:tblGrid>
                <a:gridCol w="826725"/>
                <a:gridCol w="1008475"/>
                <a:gridCol w="1008475"/>
              </a:tblGrid>
              <a:tr h="452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b="1"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(A.B</a:t>
                      </a: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)’</a:t>
                      </a:r>
                      <a:endParaRPr b="1"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i="0" sz="2400" u="none">
                        <a:solidFill>
                          <a:srgbClr val="000000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solidFill>
                          <a:schemeClr val="dk1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solidFill>
                          <a:schemeClr val="dk1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solidFill>
                          <a:schemeClr val="dk1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209" name="Google Shape;20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84775" y="1389575"/>
            <a:ext cx="3041550" cy="10977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90075" y="2575537"/>
            <a:ext cx="4136249" cy="124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3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6" name="Google Shape;21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218" name="Google Shape;218;p23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219" name="Google Shape;219;p23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23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23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2" name="Google Shape;222;p23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2-input NOR gate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3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3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3"/>
          <p:cNvSpPr txBox="1"/>
          <p:nvPr/>
        </p:nvSpPr>
        <p:spPr>
          <a:xfrm>
            <a:off x="567600" y="3912950"/>
            <a:ext cx="82020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lang="en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Inverse of OR 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lang="en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Output will be 1 when all input is 0</a:t>
            </a:r>
            <a:endParaRPr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3"/>
          <p:cNvSpPr txBox="1"/>
          <p:nvPr/>
        </p:nvSpPr>
        <p:spPr>
          <a:xfrm>
            <a:off x="3411275" y="1389587"/>
            <a:ext cx="13032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i="0" lang="en" sz="2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 = on</a:t>
            </a:r>
            <a:endParaRPr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i="0" lang="en" sz="2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 = off</a:t>
            </a:r>
            <a:endParaRPr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27" name="Google Shape;227;p23"/>
          <p:cNvGraphicFramePr/>
          <p:nvPr/>
        </p:nvGraphicFramePr>
        <p:xfrm>
          <a:off x="567588" y="1389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{6C172FE3-5CE0-4723-B9A9-000BD7A4E569}</a:tableStyleId>
              </a:tblPr>
              <a:tblGrid>
                <a:gridCol w="673175"/>
                <a:gridCol w="854950"/>
                <a:gridCol w="1315550"/>
              </a:tblGrid>
              <a:tr h="452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b="1"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(A+B)’</a:t>
                      </a:r>
                      <a:endParaRPr b="1"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i="0" sz="2400" u="none">
                        <a:solidFill>
                          <a:srgbClr val="000000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solidFill>
                          <a:schemeClr val="dk1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solidFill>
                          <a:schemeClr val="dk1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solidFill>
                          <a:schemeClr val="dk1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228" name="Google Shape;228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99975" y="2761025"/>
            <a:ext cx="3926351" cy="106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09525" y="1389569"/>
            <a:ext cx="3016800" cy="106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4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5" name="Google Shape;23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237" name="Google Shape;237;p24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238" name="Google Shape;238;p24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24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24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1" name="Google Shape;241;p24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2-input XOR gate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4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4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24"/>
          <p:cNvSpPr txBox="1"/>
          <p:nvPr/>
        </p:nvSpPr>
        <p:spPr>
          <a:xfrm>
            <a:off x="567600" y="3774200"/>
            <a:ext cx="8202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Output will be 1 for odd number of 1s in input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Trivia:</a:t>
            </a: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Do you know that A⊕B and </a:t>
            </a:r>
            <a:r>
              <a:rPr b="1"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A’B+AB’</a:t>
            </a: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are the same thing? Create the truth table to verify. 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24"/>
          <p:cNvSpPr txBox="1"/>
          <p:nvPr/>
        </p:nvSpPr>
        <p:spPr>
          <a:xfrm>
            <a:off x="4381575" y="2844337"/>
            <a:ext cx="13032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i="0" lang="en" sz="2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 = on</a:t>
            </a:r>
            <a:endParaRPr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i="0" lang="en" sz="2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 = off</a:t>
            </a:r>
            <a:endParaRPr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46" name="Google Shape;246;p24"/>
          <p:cNvGraphicFramePr/>
          <p:nvPr/>
        </p:nvGraphicFramePr>
        <p:xfrm>
          <a:off x="567588" y="1389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{6C172FE3-5CE0-4723-B9A9-000BD7A4E569}</a:tableStyleId>
              </a:tblPr>
              <a:tblGrid>
                <a:gridCol w="1059825"/>
                <a:gridCol w="1292825"/>
                <a:gridCol w="1292825"/>
              </a:tblGrid>
              <a:tr h="452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b="1"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A⊕B</a:t>
                      </a:r>
                      <a:endParaRPr b="1"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i="0" sz="2400" u="none">
                        <a:solidFill>
                          <a:srgbClr val="000000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solidFill>
                          <a:schemeClr val="dk1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solidFill>
                          <a:schemeClr val="dk1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solidFill>
                          <a:schemeClr val="dk1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247" name="Google Shape;247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84825" y="1389575"/>
            <a:ext cx="2722625" cy="100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5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3" name="Google Shape;25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255" name="Google Shape;255;p25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256" name="Google Shape;256;p25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25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25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9" name="Google Shape;259;p25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2-input XNOR gate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" name="Google Shape;260;p25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" name="Google Shape;261;p25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2" name="Google Shape;262;p25"/>
          <p:cNvSpPr txBox="1"/>
          <p:nvPr/>
        </p:nvSpPr>
        <p:spPr>
          <a:xfrm>
            <a:off x="567600" y="3774200"/>
            <a:ext cx="8202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Inverse of XOR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Trivia:</a:t>
            </a: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Do you know that A⊙B and AB+A’B’ are the same thing? Create the truth table to verify. 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3" name="Google Shape;263;p25"/>
          <p:cNvSpPr txBox="1"/>
          <p:nvPr/>
        </p:nvSpPr>
        <p:spPr>
          <a:xfrm>
            <a:off x="4381575" y="2844337"/>
            <a:ext cx="13032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i="0" lang="en" sz="2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 = on</a:t>
            </a:r>
            <a:endParaRPr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i="0" lang="en" sz="2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 = off</a:t>
            </a:r>
            <a:endParaRPr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64" name="Google Shape;264;p25"/>
          <p:cNvGraphicFramePr/>
          <p:nvPr/>
        </p:nvGraphicFramePr>
        <p:xfrm>
          <a:off x="567588" y="1389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{6C172FE3-5CE0-4723-B9A9-000BD7A4E569}</a:tableStyleId>
              </a:tblPr>
              <a:tblGrid>
                <a:gridCol w="1059825"/>
                <a:gridCol w="1292825"/>
                <a:gridCol w="1292825"/>
              </a:tblGrid>
              <a:tr h="452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b="1"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A⊙B</a:t>
                      </a:r>
                      <a:endParaRPr b="1"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i="0" sz="2400" u="none">
                        <a:solidFill>
                          <a:srgbClr val="000000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solidFill>
                          <a:schemeClr val="dk1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solidFill>
                          <a:schemeClr val="dk1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solidFill>
                          <a:schemeClr val="dk1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265" name="Google Shape;265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32489" y="1389569"/>
            <a:ext cx="3237110" cy="104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6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1" name="Google Shape;27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73" name="Google Shape;273;p26"/>
          <p:cNvSpPr txBox="1"/>
          <p:nvPr/>
        </p:nvSpPr>
        <p:spPr>
          <a:xfrm>
            <a:off x="328350" y="766838"/>
            <a:ext cx="8630700" cy="41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4384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▪"/>
            </a:pP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Prove that:   x . (y + z) = (x . y) + (x . z)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(i) Construct truth table for LHS &amp; RHS of above equality.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BBEAEA"/>
              </a:buClr>
              <a:buSzPts val="24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(ii) Check that </a:t>
            </a:r>
            <a:r>
              <a:rPr lang="en" sz="2000">
                <a:solidFill>
                  <a:srgbClr val="3333FF"/>
                </a:solidFill>
                <a:latin typeface="Lexend"/>
                <a:ea typeface="Lexend"/>
                <a:cs typeface="Lexend"/>
                <a:sym typeface="Lexend"/>
              </a:rPr>
              <a:t>LHS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</a:t>
            </a:r>
            <a:r>
              <a:rPr lang="en" sz="20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RHS</a:t>
            </a:r>
            <a:endParaRPr sz="20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Postulate is SATISFIED because output column 5 &amp; 8 (for LHS &amp; RHS expressions) are equal for all cases.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74" name="Google Shape;274;p26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275" name="Google Shape;275;p26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26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26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8" name="Google Shape;278;p26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Proof using Truth Table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9" name="Google Shape;279;p26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0" name="Google Shape;280;p26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81" name="Google Shape;281;p26"/>
          <p:cNvGraphicFramePr/>
          <p:nvPr/>
        </p:nvGraphicFramePr>
        <p:xfrm>
          <a:off x="679200" y="1421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{6C172FE3-5CE0-4723-B9A9-000BD7A4E569}</a:tableStyleId>
              </a:tblPr>
              <a:tblGrid>
                <a:gridCol w="382900"/>
                <a:gridCol w="382900"/>
                <a:gridCol w="382900"/>
                <a:gridCol w="948425"/>
                <a:gridCol w="1029725"/>
                <a:gridCol w="995650"/>
                <a:gridCol w="1004150"/>
                <a:gridCol w="2658950"/>
              </a:tblGrid>
              <a:tr h="273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z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y+z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3333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x.(y+z)</a:t>
                      </a:r>
                      <a:endParaRPr b="1" sz="1300">
                        <a:solidFill>
                          <a:srgbClr val="3333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x.y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x.z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(x.y)+(x.z)</a:t>
                      </a:r>
                      <a:endParaRPr b="1" sz="1300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i="0" sz="1300" u="none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i="0" sz="1300" u="none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3333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i="0" sz="1300" u="none">
                        <a:solidFill>
                          <a:srgbClr val="3333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i="0" sz="1300" u="none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i="0" sz="1300" u="none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i="0" sz="1300" u="non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3333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solidFill>
                          <a:srgbClr val="3333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3333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solidFill>
                          <a:srgbClr val="3333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3333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solidFill>
                          <a:srgbClr val="3333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3333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solidFill>
                          <a:srgbClr val="3333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3333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300">
                        <a:solidFill>
                          <a:srgbClr val="3333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300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i="0" sz="1300" u="none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i="0" sz="1300" u="none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3333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i="0" sz="1300" u="none">
                        <a:solidFill>
                          <a:srgbClr val="3333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i="0" sz="1300" u="none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i="0" sz="1300" u="none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i="0" sz="1300" u="non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i="0" sz="1300" u="none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3333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i="0" sz="1300" u="none">
                        <a:solidFill>
                          <a:srgbClr val="3333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i="0" sz="1300" u="none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i="0" sz="1300" u="none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i="0" sz="1300" u="non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88" name="Google Shape;288;p27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9" name="Google Shape;289;p27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90" name="Google Shape;290;p27"/>
          <p:cNvGrpSpPr/>
          <p:nvPr/>
        </p:nvGrpSpPr>
        <p:grpSpPr>
          <a:xfrm>
            <a:off x="56107" y="1249084"/>
            <a:ext cx="5812880" cy="1277665"/>
            <a:chOff x="5351018" y="4955476"/>
            <a:chExt cx="4003085" cy="885422"/>
          </a:xfrm>
        </p:grpSpPr>
        <p:sp>
          <p:nvSpPr>
            <p:cNvPr id="291" name="Google Shape;291;p27"/>
            <p:cNvSpPr/>
            <p:nvPr/>
          </p:nvSpPr>
          <p:spPr>
            <a:xfrm>
              <a:off x="5411982" y="5018979"/>
              <a:ext cx="3885217" cy="761341"/>
            </a:xfrm>
            <a:custGeom>
              <a:rect b="b" l="l" r="r" t="t"/>
              <a:pathLst>
                <a:path extrusionOk="0" h="1253236" w="2932239">
                  <a:moveTo>
                    <a:pt x="0" y="0"/>
                  </a:moveTo>
                  <a:lnTo>
                    <a:pt x="2932240" y="0"/>
                  </a:lnTo>
                  <a:lnTo>
                    <a:pt x="2932240" y="1253236"/>
                  </a:lnTo>
                  <a:lnTo>
                    <a:pt x="0" y="1253236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  <p:sp>
          <p:nvSpPr>
            <p:cNvPr id="292" name="Google Shape;292;p27"/>
            <p:cNvSpPr/>
            <p:nvPr/>
          </p:nvSpPr>
          <p:spPr>
            <a:xfrm>
              <a:off x="5351018" y="4955476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  <p:sp>
          <p:nvSpPr>
            <p:cNvPr id="293" name="Google Shape;293;p27"/>
            <p:cNvSpPr/>
            <p:nvPr/>
          </p:nvSpPr>
          <p:spPr>
            <a:xfrm>
              <a:off x="5351018" y="5713898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  <p:sp>
          <p:nvSpPr>
            <p:cNvPr id="294" name="Google Shape;294;p27"/>
            <p:cNvSpPr/>
            <p:nvPr/>
          </p:nvSpPr>
          <p:spPr>
            <a:xfrm>
              <a:off x="9232183" y="4955476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19" y="0"/>
                  </a:lnTo>
                  <a:lnTo>
                    <a:pt x="121919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  <p:sp>
          <p:nvSpPr>
            <p:cNvPr id="295" name="Google Shape;295;p27"/>
            <p:cNvSpPr/>
            <p:nvPr/>
          </p:nvSpPr>
          <p:spPr>
            <a:xfrm>
              <a:off x="9232183" y="5713898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19" y="0"/>
                  </a:lnTo>
                  <a:lnTo>
                    <a:pt x="121919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</p:grpSp>
      <p:sp>
        <p:nvSpPr>
          <p:cNvPr id="296" name="Google Shape;296;p27"/>
          <p:cNvSpPr/>
          <p:nvPr/>
        </p:nvSpPr>
        <p:spPr>
          <a:xfrm>
            <a:off x="4883091" y="2310261"/>
            <a:ext cx="263412" cy="324213"/>
          </a:xfrm>
          <a:custGeom>
            <a:rect b="b" l="l" r="r" t="t"/>
            <a:pathLst>
              <a:path extrusionOk="0" h="19170" w="15575">
                <a:moveTo>
                  <a:pt x="0" y="0"/>
                </a:moveTo>
                <a:lnTo>
                  <a:pt x="3354" y="19170"/>
                </a:lnTo>
                <a:lnTo>
                  <a:pt x="7668" y="11502"/>
                </a:lnTo>
                <a:lnTo>
                  <a:pt x="15575" y="8866"/>
                </a:lnTo>
                <a:close/>
              </a:path>
            </a:pathLst>
          </a:custGeom>
          <a:solidFill>
            <a:srgbClr val="F4F2F2"/>
          </a:solidFill>
          <a:ln cap="flat" cmpd="sng" w="9525">
            <a:solidFill>
              <a:srgbClr val="28C84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97" name="Google Shape;297;p27"/>
          <p:cNvSpPr txBox="1"/>
          <p:nvPr/>
        </p:nvSpPr>
        <p:spPr>
          <a:xfrm>
            <a:off x="208725" y="344175"/>
            <a:ext cx="8501100" cy="20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200">
                <a:latin typeface="Lexend"/>
                <a:ea typeface="Lexend"/>
                <a:cs typeface="Lexend"/>
                <a:sym typeface="Lexend"/>
              </a:rPr>
              <a:t>BOOLEAN ALGEBRA</a:t>
            </a:r>
            <a:endParaRPr sz="4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" name="Google Shape;30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8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28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5" name="Google Shape;305;p2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306" name="Google Shape;306;p28"/>
          <p:cNvSpPr/>
          <p:nvPr/>
        </p:nvSpPr>
        <p:spPr>
          <a:xfrm>
            <a:off x="376395" y="1324925"/>
            <a:ext cx="8399100" cy="3480300"/>
          </a:xfrm>
          <a:prstGeom prst="roundRect">
            <a:avLst>
              <a:gd fmla="val 5139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07" name="Google Shape;307;p28"/>
          <p:cNvGrpSpPr/>
          <p:nvPr/>
        </p:nvGrpSpPr>
        <p:grpSpPr>
          <a:xfrm>
            <a:off x="422950" y="1426240"/>
            <a:ext cx="277873" cy="68400"/>
            <a:chOff x="411700" y="2416840"/>
            <a:chExt cx="277873" cy="68400"/>
          </a:xfrm>
        </p:grpSpPr>
        <p:sp>
          <p:nvSpPr>
            <p:cNvPr id="308" name="Google Shape;308;p28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28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28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1" name="Google Shape;311;p28"/>
          <p:cNvSpPr txBox="1"/>
          <p:nvPr/>
        </p:nvSpPr>
        <p:spPr>
          <a:xfrm>
            <a:off x="354925" y="1557600"/>
            <a:ext cx="8399100" cy="29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Like any other deductive mathematical system, defined with a set of elements, a set of operators and a number of axioms or postulates.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 Boolean algebra, set consists at least 2 variables say x &amp; y, with 2 binary operations {+} and {.} and 1 unary operation {‘}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8"/>
          <p:cNvSpPr txBox="1"/>
          <p:nvPr/>
        </p:nvSpPr>
        <p:spPr>
          <a:xfrm>
            <a:off x="209775" y="316175"/>
            <a:ext cx="88113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Boolean Algebra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Google Shape;31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9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9" name="Google Shape;319;p29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0" name="Google Shape;320;p2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321" name="Google Shape;321;p29"/>
          <p:cNvSpPr/>
          <p:nvPr/>
        </p:nvSpPr>
        <p:spPr>
          <a:xfrm>
            <a:off x="376395" y="1324925"/>
            <a:ext cx="8399100" cy="3480300"/>
          </a:xfrm>
          <a:prstGeom prst="roundRect">
            <a:avLst>
              <a:gd fmla="val 5139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2" name="Google Shape;322;p29"/>
          <p:cNvGrpSpPr/>
          <p:nvPr/>
        </p:nvGrpSpPr>
        <p:grpSpPr>
          <a:xfrm>
            <a:off x="422950" y="1426240"/>
            <a:ext cx="277873" cy="68400"/>
            <a:chOff x="411700" y="2416840"/>
            <a:chExt cx="277873" cy="68400"/>
          </a:xfrm>
        </p:grpSpPr>
        <p:sp>
          <p:nvSpPr>
            <p:cNvPr id="323" name="Google Shape;323;p29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29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29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6" name="Google Shape;326;p29"/>
          <p:cNvSpPr txBox="1"/>
          <p:nvPr/>
        </p:nvSpPr>
        <p:spPr>
          <a:xfrm>
            <a:off x="354925" y="1557600"/>
            <a:ext cx="8399100" cy="21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51459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▪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Theorems can be proved using the </a:t>
            </a:r>
            <a:r>
              <a:rPr lang="en" sz="24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truth table method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 (Exercise: Prove De-Morgan’s theorem using the truth table.)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51459" lvl="0" marL="342900" rtl="0" algn="l"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▪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They can also be proved by </a:t>
            </a:r>
            <a:r>
              <a:rPr lang="en" sz="24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algebraic manipulation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using axioms/postulates or other basic theorems.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7" name="Google Shape;327;p29"/>
          <p:cNvSpPr txBox="1"/>
          <p:nvPr/>
        </p:nvSpPr>
        <p:spPr>
          <a:xfrm>
            <a:off x="209775" y="316175"/>
            <a:ext cx="88113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Basic Theorems of Boolean Algebra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0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3" name="Google Shape;33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3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335" name="Google Shape;335;p30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336" name="Google Shape;336;p30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30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30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9" name="Google Shape;339;p30"/>
          <p:cNvSpPr txBox="1"/>
          <p:nvPr/>
        </p:nvSpPr>
        <p:spPr>
          <a:xfrm>
            <a:off x="209775" y="163775"/>
            <a:ext cx="9045900" cy="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latin typeface="Lexend"/>
                <a:ea typeface="Lexend"/>
                <a:cs typeface="Lexend"/>
                <a:sym typeface="Lexend"/>
              </a:rPr>
              <a:t>Postulates and Theorems of Boolean Algebra</a:t>
            </a:r>
            <a:endParaRPr sz="2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0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30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342" name="Google Shape;342;p30"/>
          <p:cNvGraphicFramePr/>
          <p:nvPr/>
        </p:nvGraphicFramePr>
        <p:xfrm>
          <a:off x="111900" y="725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{347E300B-FD26-4E9D-AB0E-5DAAEE3C185F}</a:tableStyleId>
              </a:tblPr>
              <a:tblGrid>
                <a:gridCol w="2571025"/>
                <a:gridCol w="2351400"/>
                <a:gridCol w="24612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Postulate 2: Identity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(a) x + 0 = x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(b) x . 1 = x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Postulate 3: Commutative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(a) x + y = y + x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(b) x . y = y . x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Postulate 4: Distributive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(a) x(y+z) = xy + xz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(b) x + yz = (x+y).(x+z)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Postulate 5: Complement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(a) x + x’ = 1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(b) x . x’ = 0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Theorem 1: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(a) x + x = x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(b) x . x = x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Theorem 2: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(a) x + 1 = 1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(b) x . 0 = 0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Theorem 3: Involution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(x’)’ = x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Theorem 4: Associative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(a) x+(y+z) = (x+y) +z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(b) x.(y.z) = (x.y).z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Theorem 5: DeMorgan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(a) (x + y)’ = x’ . y’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(b) (xy)’ = x’ + y’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Theorem 6: Absorption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(a) x + xy = x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(b) x. (x + y) = x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43" name="Google Shape;343;p30"/>
          <p:cNvSpPr/>
          <p:nvPr/>
        </p:nvSpPr>
        <p:spPr>
          <a:xfrm>
            <a:off x="7007675" y="2871100"/>
            <a:ext cx="2139505" cy="1030377"/>
          </a:xfrm>
          <a:custGeom>
            <a:rect b="b" l="l" r="r" t="t"/>
            <a:pathLst>
              <a:path extrusionOk="0" h="949656" w="1775523">
                <a:moveTo>
                  <a:pt x="1439418" y="0"/>
                </a:moveTo>
                <a:lnTo>
                  <a:pt x="336233" y="0"/>
                </a:lnTo>
                <a:cubicBezTo>
                  <a:pt x="151321" y="0"/>
                  <a:pt x="0" y="151321"/>
                  <a:pt x="0" y="336233"/>
                </a:cubicBezTo>
                <a:lnTo>
                  <a:pt x="0" y="336233"/>
                </a:lnTo>
                <a:cubicBezTo>
                  <a:pt x="0" y="521145"/>
                  <a:pt x="151321" y="672465"/>
                  <a:pt x="336233" y="672465"/>
                </a:cubicBezTo>
                <a:lnTo>
                  <a:pt x="1208913" y="672465"/>
                </a:lnTo>
                <a:cubicBezTo>
                  <a:pt x="1243330" y="724091"/>
                  <a:pt x="1406017" y="956183"/>
                  <a:pt x="1544828" y="949516"/>
                </a:cubicBezTo>
                <a:lnTo>
                  <a:pt x="1545019" y="949516"/>
                </a:lnTo>
                <a:cubicBezTo>
                  <a:pt x="1551940" y="949516"/>
                  <a:pt x="1555750" y="941515"/>
                  <a:pt x="1551305" y="936181"/>
                </a:cubicBezTo>
                <a:cubicBezTo>
                  <a:pt x="1540701" y="923481"/>
                  <a:pt x="1529144" y="904431"/>
                  <a:pt x="1523365" y="893763"/>
                </a:cubicBezTo>
                <a:cubicBezTo>
                  <a:pt x="1516825" y="881761"/>
                  <a:pt x="1463992" y="766191"/>
                  <a:pt x="1473073" y="670751"/>
                </a:cubicBezTo>
                <a:cubicBezTo>
                  <a:pt x="1642301" y="653669"/>
                  <a:pt x="1775523" y="509778"/>
                  <a:pt x="1775523" y="336233"/>
                </a:cubicBezTo>
                <a:lnTo>
                  <a:pt x="1775523" y="336233"/>
                </a:lnTo>
                <a:cubicBezTo>
                  <a:pt x="1775523" y="151321"/>
                  <a:pt x="1624203" y="0"/>
                  <a:pt x="1439291" y="0"/>
                </a:cubicBezTo>
                <a:close/>
              </a:path>
            </a:pathLst>
          </a:custGeom>
          <a:solidFill>
            <a:srgbClr val="119BF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000">
                <a:solidFill>
                  <a:schemeClr val="lt1"/>
                </a:solidFill>
              </a:rPr>
              <a:t>All are very very important!</a:t>
            </a:r>
            <a:endParaRPr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" name="Google Shape;34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31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0" name="Google Shape;350;p31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1" name="Google Shape;351;p3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352" name="Google Shape;352;p31"/>
          <p:cNvSpPr/>
          <p:nvPr/>
        </p:nvSpPr>
        <p:spPr>
          <a:xfrm>
            <a:off x="376395" y="1324925"/>
            <a:ext cx="8399100" cy="3480300"/>
          </a:xfrm>
          <a:prstGeom prst="roundRect">
            <a:avLst>
              <a:gd fmla="val 5139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3" name="Google Shape;353;p31"/>
          <p:cNvGrpSpPr/>
          <p:nvPr/>
        </p:nvGrpSpPr>
        <p:grpSpPr>
          <a:xfrm>
            <a:off x="422950" y="1426240"/>
            <a:ext cx="277873" cy="68400"/>
            <a:chOff x="411700" y="2416840"/>
            <a:chExt cx="277873" cy="68400"/>
          </a:xfrm>
        </p:grpSpPr>
        <p:sp>
          <p:nvSpPr>
            <p:cNvPr id="354" name="Google Shape;354;p31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31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31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7" name="Google Shape;357;p31"/>
          <p:cNvSpPr txBox="1"/>
          <p:nvPr/>
        </p:nvSpPr>
        <p:spPr>
          <a:xfrm>
            <a:off x="209775" y="316175"/>
            <a:ext cx="88113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Basic Theorems of Boolean Algebra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355850" y="1392550"/>
            <a:ext cx="8440200" cy="3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74650" lvl="0" marL="4572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300"/>
              <a:buFont typeface="Lexend"/>
              <a:buChar char="●"/>
            </a:pPr>
            <a:r>
              <a:rPr lang="en" sz="2300">
                <a:latin typeface="Lexend"/>
                <a:ea typeface="Lexend"/>
                <a:cs typeface="Lexend"/>
                <a:sym typeface="Lexend"/>
              </a:rPr>
              <a:t>Theorem 2a can be proved by:</a:t>
            </a:r>
            <a:endParaRPr sz="23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>
                <a:latin typeface="Lexend"/>
                <a:ea typeface="Lexend"/>
                <a:cs typeface="Lexend"/>
                <a:sym typeface="Lexend"/>
              </a:rPr>
              <a:t>                   x + 1= x+(x+x’)              (complement)</a:t>
            </a:r>
            <a:endParaRPr sz="23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>
                <a:latin typeface="Lexend"/>
                <a:ea typeface="Lexend"/>
                <a:cs typeface="Lexend"/>
                <a:sym typeface="Lexend"/>
              </a:rPr>
              <a:t>			     = (x+x)+x’                  (Th. 4)</a:t>
            </a:r>
            <a:endParaRPr sz="23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>
                <a:latin typeface="Lexend"/>
                <a:ea typeface="Lexend"/>
                <a:cs typeface="Lexend"/>
                <a:sym typeface="Lexend"/>
              </a:rPr>
              <a:t>			     =  x+x’                        (complement)</a:t>
            </a:r>
            <a:endParaRPr sz="23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>
                <a:latin typeface="Lexend"/>
                <a:ea typeface="Lexend"/>
                <a:cs typeface="Lexend"/>
                <a:sym typeface="Lexend"/>
              </a:rPr>
              <a:t>			     = 1</a:t>
            </a:r>
            <a:endParaRPr sz="23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>
                <a:latin typeface="Lexend"/>
                <a:ea typeface="Lexend"/>
                <a:cs typeface="Lexend"/>
                <a:sym typeface="Lexend"/>
              </a:rPr>
              <a:t>By duality, theorem 2b:</a:t>
            </a:r>
            <a:endParaRPr sz="23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" sz="2300">
                <a:latin typeface="Lexend"/>
                <a:ea typeface="Lexend"/>
                <a:cs typeface="Lexend"/>
                <a:sym typeface="Lexend"/>
              </a:rPr>
              <a:t>                              x.(0)= 0</a:t>
            </a:r>
            <a:endParaRPr sz="23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i="1" lang="en" sz="1700">
                <a:latin typeface="Lexend"/>
                <a:ea typeface="Lexend"/>
                <a:cs typeface="Lexend"/>
                <a:sym typeface="Lexend"/>
              </a:rPr>
              <a:t>Note: There can be other ways of making this proof. See Morris Mano</a:t>
            </a:r>
            <a:endParaRPr i="1" sz="17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3" name="Google Shape;36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32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5" name="Google Shape;365;p32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6" name="Google Shape;366;p3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367" name="Google Shape;367;p32"/>
          <p:cNvSpPr/>
          <p:nvPr/>
        </p:nvSpPr>
        <p:spPr>
          <a:xfrm>
            <a:off x="376395" y="1324925"/>
            <a:ext cx="8399100" cy="3480300"/>
          </a:xfrm>
          <a:prstGeom prst="roundRect">
            <a:avLst>
              <a:gd fmla="val 5139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8" name="Google Shape;368;p32"/>
          <p:cNvGrpSpPr/>
          <p:nvPr/>
        </p:nvGrpSpPr>
        <p:grpSpPr>
          <a:xfrm>
            <a:off x="422950" y="1426240"/>
            <a:ext cx="277873" cy="68400"/>
            <a:chOff x="411700" y="2416840"/>
            <a:chExt cx="277873" cy="68400"/>
          </a:xfrm>
        </p:grpSpPr>
        <p:sp>
          <p:nvSpPr>
            <p:cNvPr id="369" name="Google Shape;369;p32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32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32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2" name="Google Shape;372;p32"/>
          <p:cNvSpPr txBox="1"/>
          <p:nvPr/>
        </p:nvSpPr>
        <p:spPr>
          <a:xfrm>
            <a:off x="209775" y="316175"/>
            <a:ext cx="88113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Basic Theorems of Boolean Algebra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3" name="Google Shape;373;p32"/>
          <p:cNvSpPr txBox="1"/>
          <p:nvPr/>
        </p:nvSpPr>
        <p:spPr>
          <a:xfrm>
            <a:off x="355850" y="1392550"/>
            <a:ext cx="8440200" cy="3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1950" lvl="0" marL="4572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100"/>
              <a:buFont typeface="Lexend"/>
              <a:buChar char="●"/>
            </a:pPr>
            <a:r>
              <a:rPr lang="en" sz="2100">
                <a:latin typeface="Lexend"/>
                <a:ea typeface="Lexend"/>
                <a:cs typeface="Lexend"/>
                <a:sym typeface="Lexend"/>
              </a:rPr>
              <a:t>Theorem 6a (absorption) can be proved by: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" sz="2100">
                <a:latin typeface="Lexend"/>
                <a:ea typeface="Lexend"/>
                <a:cs typeface="Lexend"/>
                <a:sym typeface="Lexend"/>
              </a:rPr>
              <a:t>                   x + x.y = x.1 + x.y     (identity)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" sz="2100">
                <a:latin typeface="Lexend"/>
                <a:ea typeface="Lexend"/>
                <a:cs typeface="Lexend"/>
                <a:sym typeface="Lexend"/>
              </a:rPr>
              <a:t>                              = x.(1 + y)      (distributivity)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" sz="2100">
                <a:latin typeface="Lexend"/>
                <a:ea typeface="Lexend"/>
                <a:cs typeface="Lexend"/>
                <a:sym typeface="Lexend"/>
              </a:rPr>
              <a:t>                              = x.(y + 1)      (commutativity)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" sz="2100">
                <a:latin typeface="Lexend"/>
                <a:ea typeface="Lexend"/>
                <a:cs typeface="Lexend"/>
                <a:sym typeface="Lexend"/>
              </a:rPr>
              <a:t>                              = x.1              (Theorem 2a)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" sz="2100">
                <a:latin typeface="Lexend"/>
                <a:ea typeface="Lexend"/>
                <a:cs typeface="Lexend"/>
                <a:sym typeface="Lexend"/>
              </a:rPr>
              <a:t>                              = x                 (identity)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" sz="2100">
                <a:latin typeface="Lexend"/>
                <a:ea typeface="Lexend"/>
                <a:cs typeface="Lexend"/>
                <a:sym typeface="Lexend"/>
              </a:rPr>
              <a:t>By duality, theorem 6b: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" sz="2100">
                <a:latin typeface="Lexend"/>
                <a:ea typeface="Lexend"/>
                <a:cs typeface="Lexend"/>
                <a:sym typeface="Lexend"/>
              </a:rPr>
              <a:t>                              x.(x+y) = x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" sz="2100">
                <a:latin typeface="Lexend"/>
                <a:ea typeface="Lexend"/>
                <a:cs typeface="Lexend"/>
                <a:sym typeface="Lexend"/>
              </a:rPr>
              <a:t>Try prove this by algebraic manipulation.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3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9" name="Google Shape;37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3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pic>
        <p:nvPicPr>
          <p:cNvPr id="381" name="Google Shape;381;p33"/>
          <p:cNvPicPr preferRelativeResize="0"/>
          <p:nvPr/>
        </p:nvPicPr>
        <p:blipFill rotWithShape="1">
          <a:blip r:embed="rId4">
            <a:alphaModFix amt="40000"/>
          </a:blip>
          <a:srcRect b="11308" l="0" r="0" t="0"/>
          <a:stretch/>
        </p:blipFill>
        <p:spPr>
          <a:xfrm>
            <a:off x="0" y="811796"/>
            <a:ext cx="3551473" cy="485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33"/>
          <p:cNvPicPr preferRelativeResize="0"/>
          <p:nvPr/>
        </p:nvPicPr>
        <p:blipFill rotWithShape="1">
          <a:blip r:embed="rId5">
            <a:alphaModFix/>
          </a:blip>
          <a:srcRect b="10185" l="0" r="0" t="0"/>
          <a:stretch/>
        </p:blipFill>
        <p:spPr>
          <a:xfrm>
            <a:off x="0" y="2993025"/>
            <a:ext cx="1802949" cy="485001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383" name="Google Shape;383;p33"/>
          <p:cNvSpPr txBox="1"/>
          <p:nvPr/>
        </p:nvSpPr>
        <p:spPr>
          <a:xfrm>
            <a:off x="328350" y="766838"/>
            <a:ext cx="86307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●"/>
            </a:pPr>
            <a:r>
              <a:rPr b="1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Duality Principle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– every valid Boolean expression (equality) remains valid if the operators and identity elements are interchanged, as follows: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	+ ↔ .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	1 ↔ 0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Example: Given the expression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		      a + (b.c) = (a+b).(a+c)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     then its dual expression is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		      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. (b+c) = (a.b) + (a.c) 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84" name="Google Shape;384;p33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385" name="Google Shape;385;p33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33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33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8" name="Google Shape;388;p33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Duality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9" name="Google Shape;389;p33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0" name="Google Shape;390;p33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4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96" name="Google Shape;39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398" name="Google Shape;398;p34"/>
          <p:cNvSpPr txBox="1"/>
          <p:nvPr/>
        </p:nvSpPr>
        <p:spPr>
          <a:xfrm>
            <a:off x="328350" y="766838"/>
            <a:ext cx="86307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●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Duality gives free theorems – 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“two for the price of one”.  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You prove one theorem and the other comes for free!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●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If (x+y+z)' = x'.y.'z' is valid,  then its dual is also valid: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(x.y.z)' = x'+y'+z’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●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If x + 1 = 1 is valid, then its dual is also valid: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	x . 0 = 0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99" name="Google Shape;399;p34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400" name="Google Shape;400;p34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34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34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3" name="Google Shape;403;p34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Duality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4" name="Google Shape;404;p34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4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5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11" name="Google Shape;41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3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413" name="Google Shape;413;p35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414" name="Google Shape;414;p35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35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35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7" name="Google Shape;417;p35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Operator Precedence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8" name="Google Shape;418;p35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9" name="Google Shape;419;p35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20" name="Google Shape;420;p35"/>
          <p:cNvGrpSpPr/>
          <p:nvPr/>
        </p:nvGrpSpPr>
        <p:grpSpPr>
          <a:xfrm>
            <a:off x="1373390" y="1040993"/>
            <a:ext cx="3640837" cy="3367717"/>
            <a:chOff x="-1501353" y="1063177"/>
            <a:chExt cx="1717700" cy="1154158"/>
          </a:xfrm>
        </p:grpSpPr>
        <p:sp>
          <p:nvSpPr>
            <p:cNvPr id="421" name="Google Shape;421;p35"/>
            <p:cNvSpPr/>
            <p:nvPr/>
          </p:nvSpPr>
          <p:spPr>
            <a:xfrm>
              <a:off x="-1501353" y="1890733"/>
              <a:ext cx="1717700" cy="326602"/>
            </a:xfrm>
            <a:custGeom>
              <a:rect b="b" l="l" r="r" t="t"/>
              <a:pathLst>
                <a:path extrusionOk="0" h="326602" w="1717700">
                  <a:moveTo>
                    <a:pt x="0" y="0"/>
                  </a:moveTo>
                  <a:lnTo>
                    <a:pt x="1285361" y="0"/>
                  </a:lnTo>
                  <a:lnTo>
                    <a:pt x="1717700" y="326603"/>
                  </a:lnTo>
                  <a:lnTo>
                    <a:pt x="432340" y="3266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8C84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/>
                <a:t>OR</a:t>
              </a:r>
              <a:endParaRPr sz="2400"/>
            </a:p>
          </p:txBody>
        </p:sp>
        <p:sp>
          <p:nvSpPr>
            <p:cNvPr id="422" name="Google Shape;422;p35"/>
            <p:cNvSpPr/>
            <p:nvPr/>
          </p:nvSpPr>
          <p:spPr>
            <a:xfrm>
              <a:off x="-1501353" y="1612936"/>
              <a:ext cx="1717700" cy="326643"/>
            </a:xfrm>
            <a:custGeom>
              <a:rect b="b" l="l" r="r" t="t"/>
              <a:pathLst>
                <a:path extrusionOk="0" h="326643" w="1717700">
                  <a:moveTo>
                    <a:pt x="0" y="0"/>
                  </a:moveTo>
                  <a:lnTo>
                    <a:pt x="1285361" y="0"/>
                  </a:lnTo>
                  <a:lnTo>
                    <a:pt x="1717700" y="326643"/>
                  </a:lnTo>
                  <a:lnTo>
                    <a:pt x="432340" y="3266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9BF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latin typeface="Lexend"/>
                  <a:ea typeface="Lexend"/>
                  <a:cs typeface="Lexend"/>
                  <a:sym typeface="Lexend"/>
                </a:rPr>
                <a:t>AND</a:t>
              </a:r>
              <a:endParaRPr sz="24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23" name="Google Shape;423;p35"/>
            <p:cNvSpPr/>
            <p:nvPr/>
          </p:nvSpPr>
          <p:spPr>
            <a:xfrm>
              <a:off x="-1501353" y="1337637"/>
              <a:ext cx="1717700" cy="326643"/>
            </a:xfrm>
            <a:custGeom>
              <a:rect b="b" l="l" r="r" t="t"/>
              <a:pathLst>
                <a:path extrusionOk="0" h="326643" w="1717700">
                  <a:moveTo>
                    <a:pt x="0" y="0"/>
                  </a:moveTo>
                  <a:lnTo>
                    <a:pt x="1285361" y="0"/>
                  </a:lnTo>
                  <a:lnTo>
                    <a:pt x="1717700" y="326643"/>
                  </a:lnTo>
                  <a:lnTo>
                    <a:pt x="432340" y="3266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6B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latin typeface="Lexend"/>
                  <a:ea typeface="Lexend"/>
                  <a:cs typeface="Lexend"/>
                  <a:sym typeface="Lexend"/>
                </a:rPr>
                <a:t>NOT</a:t>
              </a:r>
              <a:endParaRPr sz="24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24" name="Google Shape;424;p35"/>
            <p:cNvSpPr/>
            <p:nvPr/>
          </p:nvSpPr>
          <p:spPr>
            <a:xfrm>
              <a:off x="-1501353" y="1063177"/>
              <a:ext cx="1717700" cy="326602"/>
            </a:xfrm>
            <a:custGeom>
              <a:rect b="b" l="l" r="r" t="t"/>
              <a:pathLst>
                <a:path extrusionOk="0" h="326602" w="1717700">
                  <a:moveTo>
                    <a:pt x="0" y="0"/>
                  </a:moveTo>
                  <a:lnTo>
                    <a:pt x="1285361" y="0"/>
                  </a:lnTo>
                  <a:lnTo>
                    <a:pt x="1717700" y="326603"/>
                  </a:lnTo>
                  <a:lnTo>
                    <a:pt x="432340" y="3266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6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latin typeface="Lexend"/>
                  <a:ea typeface="Lexend"/>
                  <a:cs typeface="Lexend"/>
                  <a:sym typeface="Lexend"/>
                </a:rPr>
                <a:t>Parenthesis</a:t>
              </a:r>
              <a:endParaRPr sz="24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425" name="Google Shape;425;p35"/>
          <p:cNvSpPr/>
          <p:nvPr/>
        </p:nvSpPr>
        <p:spPr>
          <a:xfrm>
            <a:off x="5915025" y="1315150"/>
            <a:ext cx="914400" cy="2819400"/>
          </a:xfrm>
          <a:prstGeom prst="downArrow">
            <a:avLst>
              <a:gd fmla="val 18097" name="adj1"/>
              <a:gd fmla="val 50000" name="adj2"/>
            </a:avLst>
          </a:prstGeom>
          <a:gradFill>
            <a:gsLst>
              <a:gs pos="0">
                <a:srgbClr val="C00000"/>
              </a:gs>
              <a:gs pos="50000">
                <a:srgbClr val="FF0000"/>
              </a:gs>
              <a:gs pos="100000">
                <a:srgbClr val="FFFF00"/>
              </a:gs>
            </a:gsLst>
            <a:lin ang="5400012" scaled="0"/>
          </a:gra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BBEAE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35"/>
          <p:cNvSpPr txBox="1"/>
          <p:nvPr/>
        </p:nvSpPr>
        <p:spPr>
          <a:xfrm>
            <a:off x="6981825" y="1315150"/>
            <a:ext cx="1600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i="0" lang="en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Highest</a:t>
            </a:r>
            <a:endParaRPr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7" name="Google Shape;427;p35"/>
          <p:cNvSpPr txBox="1"/>
          <p:nvPr/>
        </p:nvSpPr>
        <p:spPr>
          <a:xfrm>
            <a:off x="6981825" y="3486850"/>
            <a:ext cx="1600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i="0" lang="en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Lowest</a:t>
            </a:r>
            <a:endParaRPr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2" name="Google Shape;43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36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4" name="Google Shape;434;p36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5" name="Google Shape;435;p3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436" name="Google Shape;436;p36"/>
          <p:cNvSpPr/>
          <p:nvPr/>
        </p:nvSpPr>
        <p:spPr>
          <a:xfrm>
            <a:off x="357202" y="1202846"/>
            <a:ext cx="8437500" cy="3521100"/>
          </a:xfrm>
          <a:prstGeom prst="roundRect">
            <a:avLst>
              <a:gd fmla="val 3928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36"/>
          <p:cNvSpPr/>
          <p:nvPr/>
        </p:nvSpPr>
        <p:spPr>
          <a:xfrm>
            <a:off x="3545249" y="2850750"/>
            <a:ext cx="2248500" cy="1652700"/>
          </a:xfrm>
          <a:prstGeom prst="roundRect">
            <a:avLst>
              <a:gd fmla="val 4721" name="adj"/>
            </a:avLst>
          </a:prstGeom>
          <a:solidFill>
            <a:srgbClr val="FFC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36"/>
          <p:cNvSpPr/>
          <p:nvPr/>
        </p:nvSpPr>
        <p:spPr>
          <a:xfrm>
            <a:off x="6130099" y="2850750"/>
            <a:ext cx="2248500" cy="1652700"/>
          </a:xfrm>
          <a:prstGeom prst="roundRect">
            <a:avLst>
              <a:gd fmla="val 4721" name="adj"/>
            </a:avLst>
          </a:prstGeom>
          <a:solidFill>
            <a:srgbClr val="28C8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36"/>
          <p:cNvSpPr/>
          <p:nvPr/>
        </p:nvSpPr>
        <p:spPr>
          <a:xfrm>
            <a:off x="960400" y="2850750"/>
            <a:ext cx="2248500" cy="1652700"/>
          </a:xfrm>
          <a:prstGeom prst="roundRect">
            <a:avLst>
              <a:gd fmla="val 4721" name="adj"/>
            </a:avLst>
          </a:prstGeom>
          <a:solidFill>
            <a:srgbClr val="FF6B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40" name="Google Shape;440;p36"/>
          <p:cNvGrpSpPr/>
          <p:nvPr/>
        </p:nvGrpSpPr>
        <p:grpSpPr>
          <a:xfrm>
            <a:off x="427350" y="1281750"/>
            <a:ext cx="277873" cy="68400"/>
            <a:chOff x="520925" y="1460325"/>
            <a:chExt cx="277873" cy="68400"/>
          </a:xfrm>
        </p:grpSpPr>
        <p:sp>
          <p:nvSpPr>
            <p:cNvPr id="441" name="Google Shape;441;p36"/>
            <p:cNvSpPr/>
            <p:nvPr/>
          </p:nvSpPr>
          <p:spPr>
            <a:xfrm>
              <a:off x="520925" y="1460325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36"/>
            <p:cNvSpPr/>
            <p:nvPr/>
          </p:nvSpPr>
          <p:spPr>
            <a:xfrm>
              <a:off x="625661" y="1460325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36"/>
            <p:cNvSpPr/>
            <p:nvPr/>
          </p:nvSpPr>
          <p:spPr>
            <a:xfrm>
              <a:off x="730398" y="1460325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4" name="Google Shape;444;p36"/>
          <p:cNvSpPr txBox="1"/>
          <p:nvPr/>
        </p:nvSpPr>
        <p:spPr>
          <a:xfrm>
            <a:off x="209775" y="316175"/>
            <a:ext cx="85848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Simplification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5" name="Google Shape;445;p36"/>
          <p:cNvSpPr txBox="1"/>
          <p:nvPr/>
        </p:nvSpPr>
        <p:spPr>
          <a:xfrm>
            <a:off x="960400" y="3312975"/>
            <a:ext cx="2248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Lexend Medium"/>
                <a:ea typeface="Lexend Medium"/>
                <a:cs typeface="Lexend Medium"/>
                <a:sym typeface="Lexend Medium"/>
              </a:rPr>
              <a:t>Using</a:t>
            </a:r>
            <a:endParaRPr sz="1800"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Lexend Medium"/>
                <a:ea typeface="Lexend Medium"/>
                <a:cs typeface="Lexend Medium"/>
                <a:sym typeface="Lexend Medium"/>
              </a:rPr>
              <a:t>Boolean Algebra</a:t>
            </a:r>
            <a:endParaRPr sz="1800"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446" name="Google Shape;446;p36"/>
          <p:cNvSpPr txBox="1"/>
          <p:nvPr/>
        </p:nvSpPr>
        <p:spPr>
          <a:xfrm>
            <a:off x="3545250" y="3309450"/>
            <a:ext cx="2248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Lexend Medium"/>
                <a:ea typeface="Lexend Medium"/>
                <a:cs typeface="Lexend Medium"/>
                <a:sym typeface="Lexend Medium"/>
              </a:rPr>
              <a:t>K-Map</a:t>
            </a:r>
            <a:endParaRPr sz="1800"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Lexend Medium"/>
                <a:ea typeface="Lexend Medium"/>
                <a:cs typeface="Lexend Medium"/>
                <a:sym typeface="Lexend Medium"/>
              </a:rPr>
              <a:t>(Lecture 5)</a:t>
            </a:r>
            <a:endParaRPr sz="1800"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447" name="Google Shape;447;p36"/>
          <p:cNvSpPr txBox="1"/>
          <p:nvPr/>
        </p:nvSpPr>
        <p:spPr>
          <a:xfrm>
            <a:off x="6130100" y="3307650"/>
            <a:ext cx="2248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Lexend Medium"/>
                <a:ea typeface="Lexend Medium"/>
                <a:cs typeface="Lexend Medium"/>
                <a:sym typeface="Lexend Medium"/>
              </a:rPr>
              <a:t>Tabulation</a:t>
            </a:r>
            <a:endParaRPr sz="1800"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Lexend Medium"/>
                <a:ea typeface="Lexend Medium"/>
                <a:cs typeface="Lexend Medium"/>
                <a:sym typeface="Lexend Medium"/>
              </a:rPr>
              <a:t>(Self-Study)</a:t>
            </a:r>
            <a:endParaRPr sz="1800"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448" name="Google Shape;448;p36"/>
          <p:cNvSpPr txBox="1"/>
          <p:nvPr/>
        </p:nvSpPr>
        <p:spPr>
          <a:xfrm>
            <a:off x="354925" y="1557600"/>
            <a:ext cx="8399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We can simply a boolean function in the following ways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37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54" name="Google Shape;45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456" name="Google Shape;456;p37"/>
          <p:cNvSpPr txBox="1"/>
          <p:nvPr/>
        </p:nvSpPr>
        <p:spPr>
          <a:xfrm>
            <a:off x="328350" y="766838"/>
            <a:ext cx="8630700" cy="39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Example: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F1= xyz'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" sz="2400">
                <a:solidFill>
                  <a:srgbClr val="000080"/>
                </a:solidFill>
                <a:latin typeface="Lexend"/>
                <a:ea typeface="Lexend"/>
                <a:cs typeface="Lexend"/>
                <a:sym typeface="Lexend"/>
              </a:rPr>
              <a:t> F2= x + y'z</a:t>
            </a:r>
            <a:endParaRPr sz="2400">
              <a:solidFill>
                <a:srgbClr val="00008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</a:t>
            </a:r>
            <a:r>
              <a:rPr lang="en" sz="2400">
                <a:solidFill>
                  <a:srgbClr val="C00000"/>
                </a:solidFill>
                <a:latin typeface="Lexend"/>
                <a:ea typeface="Lexend"/>
                <a:cs typeface="Lexend"/>
                <a:sym typeface="Lexend"/>
              </a:rPr>
              <a:t>F3=(x'y'z)+(x'yz)+(xy</a:t>
            </a:r>
            <a:r>
              <a:rPr lang="en" sz="2400">
                <a:solidFill>
                  <a:srgbClr val="C00000"/>
                </a:solidFill>
                <a:latin typeface="Lexend"/>
                <a:ea typeface="Lexend"/>
                <a:cs typeface="Lexend"/>
                <a:sym typeface="Lexend"/>
              </a:rPr>
              <a:t>')</a:t>
            </a:r>
            <a:endParaRPr sz="2400">
              <a:solidFill>
                <a:srgbClr val="C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</a:t>
            </a:r>
            <a:r>
              <a:rPr lang="en" sz="24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F4=xy'+x'</a:t>
            </a:r>
            <a:r>
              <a:rPr lang="en" sz="24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 sz="24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From the truth table, </a:t>
            </a:r>
            <a:r>
              <a:rPr lang="en" sz="2100">
                <a:solidFill>
                  <a:srgbClr val="C00000"/>
                </a:solidFill>
                <a:latin typeface="Lexend"/>
                <a:ea typeface="Lexend"/>
                <a:cs typeface="Lexend"/>
                <a:sym typeface="Lexend"/>
              </a:rPr>
              <a:t>F3</a:t>
            </a:r>
            <a:r>
              <a:rPr lang="en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</a:t>
            </a:r>
            <a:r>
              <a:rPr lang="en" sz="21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F4</a:t>
            </a:r>
            <a:r>
              <a:rPr lang="en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Can you also prove by algebraic manipulation that </a:t>
            </a:r>
            <a:r>
              <a:rPr lang="en" sz="2100">
                <a:solidFill>
                  <a:srgbClr val="C00000"/>
                </a:solidFill>
                <a:latin typeface="Lexend"/>
                <a:ea typeface="Lexend"/>
                <a:cs typeface="Lexend"/>
                <a:sym typeface="Lexend"/>
              </a:rPr>
              <a:t>F3</a:t>
            </a:r>
            <a:r>
              <a:rPr lang="en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</a:t>
            </a:r>
            <a:r>
              <a:rPr lang="en" sz="21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F4</a:t>
            </a:r>
            <a:r>
              <a:rPr lang="en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57" name="Google Shape;457;p37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458" name="Google Shape;458;p37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37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37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1" name="Google Shape;461;p37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Boolean Functions (Solve ?)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7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3" name="Google Shape;463;p37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464" name="Google Shape;464;p37"/>
          <p:cNvGraphicFramePr/>
          <p:nvPr/>
        </p:nvGraphicFramePr>
        <p:xfrm>
          <a:off x="5062200" y="10988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{6C172FE3-5CE0-4723-B9A9-000BD7A4E569}</a:tableStyleId>
              </a:tblPr>
              <a:tblGrid>
                <a:gridCol w="544450"/>
                <a:gridCol w="544450"/>
                <a:gridCol w="544450"/>
                <a:gridCol w="544450"/>
                <a:gridCol w="544450"/>
                <a:gridCol w="544450"/>
                <a:gridCol w="631500"/>
              </a:tblGrid>
              <a:tr h="328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z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F1</a:t>
                      </a:r>
                      <a:endParaRPr sz="15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00008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F2</a:t>
                      </a:r>
                      <a:endParaRPr sz="1500">
                        <a:solidFill>
                          <a:srgbClr val="00008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C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F3</a:t>
                      </a:r>
                      <a:endParaRPr sz="1500">
                        <a:solidFill>
                          <a:srgbClr val="C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F4</a:t>
                      </a:r>
                      <a:endParaRPr sz="1500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38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i="0" sz="1500" u="none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i="0" sz="1500" u="none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8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i="0" sz="1500" u="none">
                        <a:solidFill>
                          <a:srgbClr val="00008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C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i="0" sz="1500" u="none">
                        <a:solidFill>
                          <a:srgbClr val="C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i="0" sz="1500" u="non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5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5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8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500">
                        <a:solidFill>
                          <a:srgbClr val="00008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C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500">
                        <a:solidFill>
                          <a:srgbClr val="C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500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38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5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5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8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500">
                        <a:solidFill>
                          <a:srgbClr val="00008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C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500">
                        <a:solidFill>
                          <a:srgbClr val="C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500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38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5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5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8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500">
                        <a:solidFill>
                          <a:srgbClr val="00008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C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500">
                        <a:solidFill>
                          <a:srgbClr val="C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500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38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8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500">
                        <a:solidFill>
                          <a:srgbClr val="00008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C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500">
                        <a:solidFill>
                          <a:srgbClr val="C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500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38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8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500">
                        <a:solidFill>
                          <a:srgbClr val="00008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C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500">
                        <a:solidFill>
                          <a:srgbClr val="C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500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38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i="0" sz="1500" u="none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i="0" sz="1500" u="none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8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i="0" sz="1500" u="none">
                        <a:solidFill>
                          <a:srgbClr val="00008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C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i="0" sz="1500" u="none">
                        <a:solidFill>
                          <a:srgbClr val="C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i="0" sz="1500" u="non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38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i="0" sz="1500" u="none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8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i="0" sz="1500" u="none">
                        <a:solidFill>
                          <a:srgbClr val="00008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C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i="0" sz="1500" u="none">
                        <a:solidFill>
                          <a:srgbClr val="C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i="0" sz="1500" u="non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38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70" name="Google Shape;470;p38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0" y="1453925"/>
            <a:ext cx="1513652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471" name="Google Shape;471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3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473" name="Google Shape;473;p38"/>
          <p:cNvSpPr txBox="1"/>
          <p:nvPr/>
        </p:nvSpPr>
        <p:spPr>
          <a:xfrm>
            <a:off x="328350" y="766912"/>
            <a:ext cx="8630700" cy="38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If F3=(x'y'z)+(x'yz)+(xy') and F4=xy'+x'z, prove F3=F4 by algebraic manipulation.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Solution: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F3=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(x'y'z)+(x'yz)+(xy')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x’y’z+x’yz+xy’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=x’z(y’+y)+xy’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=x’z(1)+xy’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=x’z+xy’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=F4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74" name="Google Shape;474;p38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475" name="Google Shape;475;p38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38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38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8" name="Google Shape;478;p38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Boolean Functions (Solve ?)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9" name="Google Shape;479;p38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0" name="Google Shape;480;p38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81" name="Google Shape;481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07408" y="1176086"/>
            <a:ext cx="5560390" cy="31009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39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87" name="Google Shape;487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3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489" name="Google Shape;489;p39"/>
          <p:cNvSpPr txBox="1"/>
          <p:nvPr/>
        </p:nvSpPr>
        <p:spPr>
          <a:xfrm>
            <a:off x="328350" y="766912"/>
            <a:ext cx="8630700" cy="31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a)Simplify to minimum literals:   xy+xy’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b)Reduce to 6 literals:   BC+AC’+AB+BCD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Simplify the following equations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x+x’y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 x(x’+y)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e) x’y’z+x’yz+xy’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90" name="Google Shape;490;p39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491" name="Google Shape;491;p39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39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39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4" name="Google Shape;494;p39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Try it yourself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5" name="Google Shape;495;p39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6" name="Google Shape;496;p39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97" name="Google Shape;497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58951" y="1840079"/>
            <a:ext cx="5062201" cy="28231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40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03" name="Google Shape;503;p40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0" y="810650"/>
            <a:ext cx="1513652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504" name="Google Shape;504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4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506" name="Google Shape;506;p40"/>
          <p:cNvSpPr txBox="1"/>
          <p:nvPr/>
        </p:nvSpPr>
        <p:spPr>
          <a:xfrm>
            <a:off x="328350" y="766912"/>
            <a:ext cx="86307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Solution: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xy+xy’   =x(y+y’)   =x(1)   =x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b)BC+AC’+AB+BCD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=BC(1+D)+AC’+AB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=BC(1)+AC’+AB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=BC+AB+AC’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=B(C+A)+AC’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x+x’y   =(x+x’).(x+y)   =1.(x+y)   =x+y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 x(x’+y)   =xx’+xy   =0+xy   =xy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e) x’y’z+x’yz+xy’   =x’z(y’+y)+xy’   =x’z+xy’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507" name="Google Shape;507;p40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508" name="Google Shape;508;p40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40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40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11" name="Google Shape;511;p40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Try it yourself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2" name="Google Shape;512;p40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3" name="Google Shape;513;p40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4" name="Google Shape;514;p40"/>
          <p:cNvSpPr/>
          <p:nvPr/>
        </p:nvSpPr>
        <p:spPr>
          <a:xfrm>
            <a:off x="5598334" y="2158068"/>
            <a:ext cx="3360177" cy="1797224"/>
          </a:xfrm>
          <a:custGeom>
            <a:rect b="b" l="l" r="r" t="t"/>
            <a:pathLst>
              <a:path extrusionOk="0" h="949656" w="1775523">
                <a:moveTo>
                  <a:pt x="1439355" y="0"/>
                </a:moveTo>
                <a:lnTo>
                  <a:pt x="336232" y="0"/>
                </a:lnTo>
                <a:cubicBezTo>
                  <a:pt x="151321" y="0"/>
                  <a:pt x="0" y="151321"/>
                  <a:pt x="0" y="336233"/>
                </a:cubicBezTo>
                <a:lnTo>
                  <a:pt x="0" y="336233"/>
                </a:lnTo>
                <a:cubicBezTo>
                  <a:pt x="0" y="521145"/>
                  <a:pt x="151321" y="672465"/>
                  <a:pt x="336232" y="672465"/>
                </a:cubicBezTo>
                <a:lnTo>
                  <a:pt x="1208913" y="672465"/>
                </a:lnTo>
                <a:cubicBezTo>
                  <a:pt x="1243330" y="724091"/>
                  <a:pt x="1406017" y="956183"/>
                  <a:pt x="1544828" y="949516"/>
                </a:cubicBezTo>
                <a:lnTo>
                  <a:pt x="1545019" y="949516"/>
                </a:lnTo>
                <a:cubicBezTo>
                  <a:pt x="1551940" y="949516"/>
                  <a:pt x="1555750" y="941515"/>
                  <a:pt x="1551305" y="936181"/>
                </a:cubicBezTo>
                <a:cubicBezTo>
                  <a:pt x="1540701" y="923481"/>
                  <a:pt x="1529144" y="904431"/>
                  <a:pt x="1523365" y="893763"/>
                </a:cubicBezTo>
                <a:cubicBezTo>
                  <a:pt x="1516825" y="881761"/>
                  <a:pt x="1463992" y="766191"/>
                  <a:pt x="1473073" y="670751"/>
                </a:cubicBezTo>
                <a:cubicBezTo>
                  <a:pt x="1642301" y="653669"/>
                  <a:pt x="1775523" y="509778"/>
                  <a:pt x="1775523" y="336233"/>
                </a:cubicBezTo>
                <a:lnTo>
                  <a:pt x="1775523" y="336233"/>
                </a:lnTo>
                <a:cubicBezTo>
                  <a:pt x="1775523" y="151321"/>
                  <a:pt x="1624203" y="0"/>
                  <a:pt x="1439291" y="0"/>
                </a:cubicBezTo>
                <a:close/>
              </a:path>
            </a:pathLst>
          </a:custGeom>
          <a:solidFill>
            <a:srgbClr val="FF6B4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Now Try Proving Using Truth Table!!!</a:t>
            </a:r>
            <a:endParaRPr sz="24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41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20" name="Google Shape;520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4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pic>
        <p:nvPicPr>
          <p:cNvPr id="522" name="Google Shape;522;p41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0" y="2156175"/>
            <a:ext cx="1802949" cy="485001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523" name="Google Shape;523;p41"/>
          <p:cNvSpPr txBox="1"/>
          <p:nvPr/>
        </p:nvSpPr>
        <p:spPr>
          <a:xfrm>
            <a:off x="328350" y="766838"/>
            <a:ext cx="8630700" cy="41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63550" lvl="0" marL="5143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AutoNum type="arabicPeriod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Take dual of the function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463550" lvl="0" marL="5143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AutoNum type="arabicPeriod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Complement each literals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514350" lvl="0" marL="514350" rtl="0" algn="l">
              <a:spcBef>
                <a:spcPts val="640"/>
              </a:spcBef>
              <a:spcAft>
                <a:spcPts val="0"/>
              </a:spcAft>
              <a:buClr>
                <a:srgbClr val="BBEAEA"/>
              </a:buClr>
              <a:buSzPts val="32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514350" lvl="0" marL="514350" rtl="0" algn="l">
              <a:spcBef>
                <a:spcPts val="640"/>
              </a:spcBef>
              <a:spcAft>
                <a:spcPts val="0"/>
              </a:spcAft>
              <a:buClr>
                <a:srgbClr val="BBEAEA"/>
              </a:buClr>
              <a:buSzPts val="3200"/>
              <a:buFont typeface="Arial"/>
              <a:buNone/>
            </a:pPr>
            <a:r>
              <a:rPr lang="en" sz="24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Example: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F1= x’yz’+x’y’z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463550" lvl="0" marL="5143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AutoNum type="arabicPeriod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Dual of the function F1 is 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42906" rtl="0" algn="ctr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(x’+y+z’).(x’+y’+z)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463550" lvl="0" marL="5143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AutoNum type="arabicPeriod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Complement each literal= 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42906" rtl="0" algn="ctr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(x+y’+z)(x+y+z’)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514350" lvl="0" marL="51435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Therefore, F1’= (x+y’+z)(x+y+z’)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524" name="Google Shape;524;p41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525" name="Google Shape;525;p41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41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41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8" name="Google Shape;528;p41"/>
          <p:cNvSpPr txBox="1"/>
          <p:nvPr/>
        </p:nvSpPr>
        <p:spPr>
          <a:xfrm>
            <a:off x="240250" y="1681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Complementing a function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9" name="Google Shape;529;p41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0" name="Google Shape;530;p41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/>
          <p:nvPr/>
        </p:nvSpPr>
        <p:spPr>
          <a:xfrm>
            <a:off x="5667375" y="1867100"/>
            <a:ext cx="3475586" cy="1780605"/>
          </a:xfrm>
          <a:custGeom>
            <a:rect b="b" l="l" r="r" t="t"/>
            <a:pathLst>
              <a:path extrusionOk="0" h="949656" w="1775523">
                <a:moveTo>
                  <a:pt x="1439418" y="0"/>
                </a:moveTo>
                <a:lnTo>
                  <a:pt x="336232" y="0"/>
                </a:lnTo>
                <a:cubicBezTo>
                  <a:pt x="151320" y="0"/>
                  <a:pt x="0" y="151321"/>
                  <a:pt x="0" y="336233"/>
                </a:cubicBezTo>
                <a:lnTo>
                  <a:pt x="0" y="336233"/>
                </a:lnTo>
                <a:cubicBezTo>
                  <a:pt x="0" y="521145"/>
                  <a:pt x="151320" y="672465"/>
                  <a:pt x="336232" y="672465"/>
                </a:cubicBezTo>
                <a:lnTo>
                  <a:pt x="1208912" y="672465"/>
                </a:lnTo>
                <a:cubicBezTo>
                  <a:pt x="1243330" y="724091"/>
                  <a:pt x="1406017" y="956183"/>
                  <a:pt x="1544827" y="949516"/>
                </a:cubicBezTo>
                <a:lnTo>
                  <a:pt x="1545018" y="949516"/>
                </a:lnTo>
                <a:cubicBezTo>
                  <a:pt x="1551939" y="949516"/>
                  <a:pt x="1555750" y="941515"/>
                  <a:pt x="1551305" y="936181"/>
                </a:cubicBezTo>
                <a:cubicBezTo>
                  <a:pt x="1540700" y="923481"/>
                  <a:pt x="1529143" y="904431"/>
                  <a:pt x="1523364" y="893763"/>
                </a:cubicBezTo>
                <a:cubicBezTo>
                  <a:pt x="1516825" y="881761"/>
                  <a:pt x="1463992" y="766191"/>
                  <a:pt x="1473073" y="670751"/>
                </a:cubicBezTo>
                <a:cubicBezTo>
                  <a:pt x="1642300" y="653669"/>
                  <a:pt x="1775523" y="509778"/>
                  <a:pt x="1775523" y="336233"/>
                </a:cubicBezTo>
                <a:lnTo>
                  <a:pt x="1775523" y="336233"/>
                </a:lnTo>
                <a:cubicBezTo>
                  <a:pt x="1775523" y="151321"/>
                  <a:pt x="1624202" y="0"/>
                  <a:pt x="1439291" y="0"/>
                </a:cubicBezTo>
                <a:close/>
              </a:path>
            </a:pathLst>
          </a:custGeom>
          <a:solidFill>
            <a:srgbClr val="28C8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Same as applying De-Morgan’s law on the function</a:t>
            </a:r>
            <a:endParaRPr sz="24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42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37" name="Google Shape;537;p42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0" y="1898982"/>
            <a:ext cx="1802949" cy="485001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538" name="Google Shape;538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p4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540" name="Google Shape;540;p42"/>
          <p:cNvSpPr txBox="1"/>
          <p:nvPr/>
        </p:nvSpPr>
        <p:spPr>
          <a:xfrm>
            <a:off x="328350" y="766912"/>
            <a:ext cx="86307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is the complement of 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F2=x(y’z’+yz)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Solution: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Step 1: 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Duality: x+(y’+z’)(y+z)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Step 2: Complement= x’+(y+z)(y’+z’)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Therefore, F2’ = 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x’+(y+z)(y’+z’)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541" name="Google Shape;541;p42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542" name="Google Shape;542;p42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42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42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45" name="Google Shape;545;p42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Try it yourself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6" name="Google Shape;546;p42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7" name="Google Shape;547;p42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43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3" name="Google Shape;553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554;p4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555" name="Google Shape;555;p43"/>
          <p:cNvSpPr txBox="1"/>
          <p:nvPr/>
        </p:nvSpPr>
        <p:spPr>
          <a:xfrm>
            <a:off x="328350" y="766912"/>
            <a:ext cx="86307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3200"/>
              <a:buFont typeface="Times New Roman"/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Simplify the following Boolean expression to a minimum number literals: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5080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xy + xy′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5080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(x + y)(x + y′)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5080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xyz + x′y + xyz′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5080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 (A+B)′(A′+B′)′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5080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e) (AB)′(A′ + B)(B′ + B)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5080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f) (A + C)(AD + AD′) + AC + C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556" name="Google Shape;556;p43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557" name="Google Shape;557;p43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43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43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0" name="Google Shape;560;p43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More Practice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1" name="Google Shape;561;p43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2" name="Google Shape;562;p43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44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8" name="Google Shape;568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570" name="Google Shape;570;p44"/>
          <p:cNvSpPr txBox="1"/>
          <p:nvPr/>
        </p:nvSpPr>
        <p:spPr>
          <a:xfrm>
            <a:off x="328350" y="766912"/>
            <a:ext cx="86307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xy + xy′ = x ( y+y′)= x.1 = x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(x+y)(x+y′) = xx + xy′ + yx+yy′ = x + xy′ + xy + 0 = x (1+ y′ + y) = x.1= x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Also (x+y)(x+y′) =x+ yy′ = x + 0 = x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xyz + x′y + xyz′ = xy(z+z′) + x′y = xy +x′y = y(x+x′)=y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 (A+B)′(A′+B′)′= (A′B′).(AB) = 0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e) A′ [Find the process yourself]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f) A + C [Find the process yourself]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571" name="Google Shape;571;p44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572" name="Google Shape;572;p44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44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44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5" name="Google Shape;575;p44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More Practice [Solution]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6" name="Google Shape;576;p44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7" name="Google Shape;577;p44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45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83" name="Google Shape;583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4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585" name="Google Shape;585;p45"/>
          <p:cNvSpPr txBox="1"/>
          <p:nvPr/>
        </p:nvSpPr>
        <p:spPr>
          <a:xfrm>
            <a:off x="328350" y="766912"/>
            <a:ext cx="86307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Find the complement of the following expressions: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403866" lvl="0" marL="342906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xy′+x′y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403866" lvl="0" marL="342906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(AB′+C)D′+E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403866" lvl="0" marL="342906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(x+y′+z)(x′+z′)(x+y)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586" name="Google Shape;586;p45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587" name="Google Shape;587;p45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45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45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0" name="Google Shape;590;p45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Practice! Practice! Practice! 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1" name="Google Shape;591;p45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5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46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98" name="Google Shape;598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99" name="Google Shape;599;p46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0" y="803607"/>
            <a:ext cx="1802949" cy="485001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600" name="Google Shape;600;p4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601" name="Google Shape;601;p46"/>
          <p:cNvSpPr txBox="1"/>
          <p:nvPr/>
        </p:nvSpPr>
        <p:spPr>
          <a:xfrm>
            <a:off x="328350" y="766912"/>
            <a:ext cx="8630700" cy="39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Solution: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[xy′+x′y]′ = (xy′)′ . (x′y)′ = (x′+y).(x+y′) = xx′ + yy′ + xy+x’y’=xy+x’y’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[(AB′+C)D′+E]′ = [(AB′+C)D′]′.E′ = [(AB′+C)′+D] . E′= [(A′+B).C′ +D].E′ =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(A′+B+D).(C′+D).E′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[(x+y′+z)(x′+z′)(x+y)]′ = (x+y′+z)′+(x′+z′)′+(x+y)′= x′yz′ + xz + x′y′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602" name="Google Shape;602;p46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603" name="Google Shape;603;p46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46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46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6" name="Google Shape;606;p46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Practice! Practice! Practice! 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7" name="Google Shape;607;p46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8" name="Google Shape;608;p46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9" name="Google Shape;609;p46"/>
          <p:cNvSpPr/>
          <p:nvPr/>
        </p:nvSpPr>
        <p:spPr>
          <a:xfrm>
            <a:off x="202875" y="4170600"/>
            <a:ext cx="8772000" cy="591900"/>
          </a:xfrm>
          <a:prstGeom prst="roundRect">
            <a:avLst>
              <a:gd fmla="val 50000" name="adj"/>
            </a:avLst>
          </a:prstGeom>
          <a:solidFill>
            <a:srgbClr val="DCDF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Note: If the question doesn’t ask you to simplify,</a:t>
            </a:r>
            <a:endParaRPr sz="18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 then you don’t need to simplify after complement.</a:t>
            </a:r>
            <a:endParaRPr sz="18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" name="Google Shape;614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4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616" name="Google Shape;616;p47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7" name="Google Shape;617;p47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618" name="Google Shape;618;p47"/>
          <p:cNvGrpSpPr/>
          <p:nvPr/>
        </p:nvGrpSpPr>
        <p:grpSpPr>
          <a:xfrm>
            <a:off x="56322" y="1249115"/>
            <a:ext cx="8415686" cy="1849736"/>
            <a:chOff x="5351018" y="4955476"/>
            <a:chExt cx="4003085" cy="885422"/>
          </a:xfrm>
        </p:grpSpPr>
        <p:sp>
          <p:nvSpPr>
            <p:cNvPr id="619" name="Google Shape;619;p47"/>
            <p:cNvSpPr/>
            <p:nvPr/>
          </p:nvSpPr>
          <p:spPr>
            <a:xfrm>
              <a:off x="5411982" y="5018979"/>
              <a:ext cx="3885217" cy="761341"/>
            </a:xfrm>
            <a:custGeom>
              <a:rect b="b" l="l" r="r" t="t"/>
              <a:pathLst>
                <a:path extrusionOk="0" h="1253236" w="2932239">
                  <a:moveTo>
                    <a:pt x="0" y="0"/>
                  </a:moveTo>
                  <a:lnTo>
                    <a:pt x="2932240" y="0"/>
                  </a:lnTo>
                  <a:lnTo>
                    <a:pt x="2932240" y="1253236"/>
                  </a:lnTo>
                  <a:lnTo>
                    <a:pt x="0" y="1253236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  <p:sp>
          <p:nvSpPr>
            <p:cNvPr id="620" name="Google Shape;620;p47"/>
            <p:cNvSpPr/>
            <p:nvPr/>
          </p:nvSpPr>
          <p:spPr>
            <a:xfrm>
              <a:off x="5351018" y="4955476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  <p:sp>
          <p:nvSpPr>
            <p:cNvPr id="621" name="Google Shape;621;p47"/>
            <p:cNvSpPr/>
            <p:nvPr/>
          </p:nvSpPr>
          <p:spPr>
            <a:xfrm>
              <a:off x="5351018" y="5713898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  <p:sp>
          <p:nvSpPr>
            <p:cNvPr id="622" name="Google Shape;622;p47"/>
            <p:cNvSpPr/>
            <p:nvPr/>
          </p:nvSpPr>
          <p:spPr>
            <a:xfrm>
              <a:off x="9232183" y="4955476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19" y="0"/>
                  </a:lnTo>
                  <a:lnTo>
                    <a:pt x="121919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  <p:sp>
          <p:nvSpPr>
            <p:cNvPr id="623" name="Google Shape;623;p47"/>
            <p:cNvSpPr/>
            <p:nvPr/>
          </p:nvSpPr>
          <p:spPr>
            <a:xfrm>
              <a:off x="9232183" y="5713898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19" y="0"/>
                  </a:lnTo>
                  <a:lnTo>
                    <a:pt x="121919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</p:grpSp>
      <p:sp>
        <p:nvSpPr>
          <p:cNvPr id="624" name="Google Shape;624;p47"/>
          <p:cNvSpPr/>
          <p:nvPr/>
        </p:nvSpPr>
        <p:spPr>
          <a:xfrm>
            <a:off x="6680591" y="2845036"/>
            <a:ext cx="263412" cy="324213"/>
          </a:xfrm>
          <a:custGeom>
            <a:rect b="b" l="l" r="r" t="t"/>
            <a:pathLst>
              <a:path extrusionOk="0" h="19170" w="15575">
                <a:moveTo>
                  <a:pt x="0" y="0"/>
                </a:moveTo>
                <a:lnTo>
                  <a:pt x="3354" y="19170"/>
                </a:lnTo>
                <a:lnTo>
                  <a:pt x="7668" y="11502"/>
                </a:lnTo>
                <a:lnTo>
                  <a:pt x="15575" y="8866"/>
                </a:lnTo>
                <a:close/>
              </a:path>
            </a:pathLst>
          </a:custGeom>
          <a:solidFill>
            <a:srgbClr val="F4F2F2"/>
          </a:solidFill>
          <a:ln cap="flat" cmpd="sng" w="9525">
            <a:solidFill>
              <a:srgbClr val="28C84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25" name="Google Shape;625;p47"/>
          <p:cNvSpPr txBox="1"/>
          <p:nvPr/>
        </p:nvSpPr>
        <p:spPr>
          <a:xfrm>
            <a:off x="208725" y="344175"/>
            <a:ext cx="8501100" cy="20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200">
                <a:latin typeface="Lexend"/>
                <a:ea typeface="Lexend"/>
                <a:cs typeface="Lexend"/>
                <a:sym typeface="Lexend"/>
              </a:rPr>
              <a:t>Using NAND and NOR to Build Other Gates and Functions</a:t>
            </a:r>
            <a:endParaRPr sz="4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48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631" name="Google Shape;631;p48"/>
          <p:cNvGraphicFramePr/>
          <p:nvPr/>
        </p:nvGraphicFramePr>
        <p:xfrm>
          <a:off x="340710" y="161697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{45816025-0701-47EE-B307-CD39AD27B1C3}</a:tableStyleId>
              </a:tblPr>
              <a:tblGrid>
                <a:gridCol w="681700"/>
                <a:gridCol w="2699525"/>
                <a:gridCol w="5299225"/>
              </a:tblGrid>
              <a:tr h="878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68600" marL="68600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68600" marL="68600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68600" marL="68600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93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68600" marL="68600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68600" marL="68600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68600" marL="68600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4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68600" marL="68600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68600" marL="68600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68600" marL="68600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632" name="Google Shape;632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634" name="Google Shape;634;p48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635" name="Google Shape;635;p48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48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48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8" name="Google Shape;638;p48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Basic gates using NAND gate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9" name="Google Shape;639;p48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0" name="Google Shape;640;p48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641" name="Google Shape;641;p48"/>
          <p:cNvGrpSpPr/>
          <p:nvPr/>
        </p:nvGrpSpPr>
        <p:grpSpPr>
          <a:xfrm>
            <a:off x="6780432" y="878775"/>
            <a:ext cx="1615600" cy="579219"/>
            <a:chOff x="7202263" y="5190208"/>
            <a:chExt cx="1360849" cy="614100"/>
          </a:xfrm>
        </p:grpSpPr>
        <p:sp>
          <p:nvSpPr>
            <p:cNvPr id="642" name="Google Shape;642;p48"/>
            <p:cNvSpPr/>
            <p:nvPr/>
          </p:nvSpPr>
          <p:spPr>
            <a:xfrm>
              <a:off x="7632667" y="5190208"/>
              <a:ext cx="434100" cy="614100"/>
            </a:xfrm>
            <a:prstGeom prst="flowChartDelay">
              <a:avLst/>
            </a:prstGeom>
            <a:solidFill>
              <a:srgbClr val="FFFFFF"/>
            </a:solidFill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43" name="Google Shape;643;p48"/>
            <p:cNvCxnSpPr/>
            <p:nvPr/>
          </p:nvCxnSpPr>
          <p:spPr>
            <a:xfrm>
              <a:off x="7205391" y="5369506"/>
              <a:ext cx="427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44" name="Google Shape;644;p48"/>
            <p:cNvCxnSpPr/>
            <p:nvPr/>
          </p:nvCxnSpPr>
          <p:spPr>
            <a:xfrm>
              <a:off x="7202263" y="5608397"/>
              <a:ext cx="427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45" name="Google Shape;645;p48"/>
            <p:cNvCxnSpPr/>
            <p:nvPr/>
          </p:nvCxnSpPr>
          <p:spPr>
            <a:xfrm>
              <a:off x="8135912" y="5497800"/>
              <a:ext cx="427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646" name="Google Shape;646;p48"/>
            <p:cNvSpPr/>
            <p:nvPr/>
          </p:nvSpPr>
          <p:spPr>
            <a:xfrm>
              <a:off x="8071318" y="5441774"/>
              <a:ext cx="67500" cy="111000"/>
            </a:xfrm>
            <a:prstGeom prst="flowChartConnector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47" name="Google Shape;647;p48"/>
          <p:cNvSpPr txBox="1"/>
          <p:nvPr/>
        </p:nvSpPr>
        <p:spPr>
          <a:xfrm>
            <a:off x="6488809" y="863349"/>
            <a:ext cx="291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8" name="Google Shape;648;p48"/>
          <p:cNvSpPr txBox="1"/>
          <p:nvPr/>
        </p:nvSpPr>
        <p:spPr>
          <a:xfrm>
            <a:off x="6483227" y="1088829"/>
            <a:ext cx="291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9" name="Google Shape;649;p48"/>
          <p:cNvSpPr txBox="1"/>
          <p:nvPr/>
        </p:nvSpPr>
        <p:spPr>
          <a:xfrm>
            <a:off x="8395875" y="847175"/>
            <a:ext cx="711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(AB)’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650" name="Google Shape;650;p48"/>
          <p:cNvCxnSpPr/>
          <p:nvPr/>
        </p:nvCxnSpPr>
        <p:spPr>
          <a:xfrm>
            <a:off x="4961790" y="2026329"/>
            <a:ext cx="5436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51" name="Google Shape;651;p48"/>
          <p:cNvCxnSpPr/>
          <p:nvPr/>
        </p:nvCxnSpPr>
        <p:spPr>
          <a:xfrm rot="10800000">
            <a:off x="5509625" y="1892525"/>
            <a:ext cx="0" cy="2637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652" name="Google Shape;652;p48"/>
          <p:cNvGrpSpPr/>
          <p:nvPr/>
        </p:nvGrpSpPr>
        <p:grpSpPr>
          <a:xfrm>
            <a:off x="1434448" y="1787066"/>
            <a:ext cx="1454368" cy="536418"/>
            <a:chOff x="1434448" y="1787066"/>
            <a:chExt cx="1454368" cy="536418"/>
          </a:xfrm>
        </p:grpSpPr>
        <p:sp>
          <p:nvSpPr>
            <p:cNvPr id="653" name="Google Shape;653;p48"/>
            <p:cNvSpPr/>
            <p:nvPr/>
          </p:nvSpPr>
          <p:spPr>
            <a:xfrm rot="5400000">
              <a:off x="1849264" y="1826306"/>
              <a:ext cx="536418" cy="457937"/>
            </a:xfrm>
            <a:prstGeom prst="flowChartExtract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54" name="Google Shape;654;p48"/>
            <p:cNvCxnSpPr/>
            <p:nvPr/>
          </p:nvCxnSpPr>
          <p:spPr>
            <a:xfrm>
              <a:off x="1434448" y="2051304"/>
              <a:ext cx="450649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55" name="Google Shape;655;p48"/>
            <p:cNvCxnSpPr/>
            <p:nvPr/>
          </p:nvCxnSpPr>
          <p:spPr>
            <a:xfrm>
              <a:off x="2438216" y="2051304"/>
              <a:ext cx="4506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656" name="Google Shape;656;p48"/>
            <p:cNvSpPr/>
            <p:nvPr/>
          </p:nvSpPr>
          <p:spPr>
            <a:xfrm>
              <a:off x="2370463" y="2014157"/>
              <a:ext cx="71100" cy="74400"/>
            </a:xfrm>
            <a:prstGeom prst="flowChartConnector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57" name="Google Shape;657;p48"/>
          <p:cNvSpPr txBox="1"/>
          <p:nvPr/>
        </p:nvSpPr>
        <p:spPr>
          <a:xfrm>
            <a:off x="340701" y="1903750"/>
            <a:ext cx="681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exend"/>
                <a:ea typeface="Lexend"/>
                <a:cs typeface="Lexend"/>
                <a:sym typeface="Lexend"/>
              </a:rPr>
              <a:t>NOT</a:t>
            </a:r>
            <a:endParaRPr sz="1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8" name="Google Shape;658;p48"/>
          <p:cNvSpPr txBox="1"/>
          <p:nvPr/>
        </p:nvSpPr>
        <p:spPr>
          <a:xfrm>
            <a:off x="1107636" y="1860231"/>
            <a:ext cx="29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9" name="Google Shape;659;p48"/>
          <p:cNvSpPr txBox="1"/>
          <p:nvPr/>
        </p:nvSpPr>
        <p:spPr>
          <a:xfrm>
            <a:off x="2963003" y="1870613"/>
            <a:ext cx="434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A’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0" name="Google Shape;660;p48"/>
          <p:cNvSpPr txBox="1"/>
          <p:nvPr/>
        </p:nvSpPr>
        <p:spPr>
          <a:xfrm>
            <a:off x="350749" y="2709975"/>
            <a:ext cx="671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exend"/>
                <a:ea typeface="Lexend"/>
                <a:cs typeface="Lexend"/>
                <a:sym typeface="Lexend"/>
              </a:rPr>
              <a:t>AND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1" name="Google Shape;661;p48"/>
          <p:cNvSpPr txBox="1"/>
          <p:nvPr/>
        </p:nvSpPr>
        <p:spPr>
          <a:xfrm>
            <a:off x="351325" y="3838800"/>
            <a:ext cx="671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exend"/>
                <a:ea typeface="Lexend"/>
                <a:cs typeface="Lexend"/>
                <a:sym typeface="Lexend"/>
              </a:rPr>
              <a:t>OR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662" name="Google Shape;662;p48"/>
          <p:cNvGrpSpPr/>
          <p:nvPr/>
        </p:nvGrpSpPr>
        <p:grpSpPr>
          <a:xfrm>
            <a:off x="1434446" y="2709976"/>
            <a:ext cx="1562836" cy="462576"/>
            <a:chOff x="1752600" y="519953"/>
            <a:chExt cx="1573853" cy="528900"/>
          </a:xfrm>
        </p:grpSpPr>
        <p:sp>
          <p:nvSpPr>
            <p:cNvPr id="663" name="Google Shape;663;p48"/>
            <p:cNvSpPr/>
            <p:nvPr/>
          </p:nvSpPr>
          <p:spPr>
            <a:xfrm>
              <a:off x="2277035" y="519953"/>
              <a:ext cx="528900" cy="528900"/>
            </a:xfrm>
            <a:prstGeom prst="flowChartDelay">
              <a:avLst/>
            </a:prstGeom>
            <a:solidFill>
              <a:srgbClr val="FFFFFF"/>
            </a:solidFill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64" name="Google Shape;664;p48"/>
            <p:cNvCxnSpPr/>
            <p:nvPr/>
          </p:nvCxnSpPr>
          <p:spPr>
            <a:xfrm>
              <a:off x="1756410" y="674370"/>
              <a:ext cx="5205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65" name="Google Shape;665;p48"/>
            <p:cNvCxnSpPr/>
            <p:nvPr/>
          </p:nvCxnSpPr>
          <p:spPr>
            <a:xfrm>
              <a:off x="1752600" y="880110"/>
              <a:ext cx="5205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66" name="Google Shape;666;p48"/>
            <p:cNvCxnSpPr/>
            <p:nvPr/>
          </p:nvCxnSpPr>
          <p:spPr>
            <a:xfrm>
              <a:off x="2805953" y="784860"/>
              <a:ext cx="5205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667" name="Google Shape;667;p48"/>
          <p:cNvSpPr txBox="1"/>
          <p:nvPr/>
        </p:nvSpPr>
        <p:spPr>
          <a:xfrm>
            <a:off x="1099527" y="2644765"/>
            <a:ext cx="29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8" name="Google Shape;668;p48"/>
          <p:cNvSpPr txBox="1"/>
          <p:nvPr/>
        </p:nvSpPr>
        <p:spPr>
          <a:xfrm>
            <a:off x="1109359" y="2864812"/>
            <a:ext cx="29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9" name="Google Shape;669;p48"/>
          <p:cNvSpPr txBox="1"/>
          <p:nvPr/>
        </p:nvSpPr>
        <p:spPr>
          <a:xfrm>
            <a:off x="3007906" y="2781188"/>
            <a:ext cx="57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0" name="Google Shape;670;p48"/>
          <p:cNvSpPr txBox="1"/>
          <p:nvPr/>
        </p:nvSpPr>
        <p:spPr>
          <a:xfrm>
            <a:off x="1107636" y="3755142"/>
            <a:ext cx="29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1" name="Google Shape;671;p48"/>
          <p:cNvSpPr txBox="1"/>
          <p:nvPr/>
        </p:nvSpPr>
        <p:spPr>
          <a:xfrm>
            <a:off x="1121636" y="4019670"/>
            <a:ext cx="29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2" name="Google Shape;672;p48"/>
          <p:cNvSpPr txBox="1"/>
          <p:nvPr/>
        </p:nvSpPr>
        <p:spPr>
          <a:xfrm>
            <a:off x="2985260" y="3869688"/>
            <a:ext cx="68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A+B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673" name="Google Shape;673;p48"/>
          <p:cNvGrpSpPr/>
          <p:nvPr/>
        </p:nvGrpSpPr>
        <p:grpSpPr>
          <a:xfrm>
            <a:off x="5505020" y="1741837"/>
            <a:ext cx="1562799" cy="579219"/>
            <a:chOff x="7202263" y="5190208"/>
            <a:chExt cx="1360849" cy="614100"/>
          </a:xfrm>
        </p:grpSpPr>
        <p:sp>
          <p:nvSpPr>
            <p:cNvPr id="674" name="Google Shape;674;p48"/>
            <p:cNvSpPr/>
            <p:nvPr/>
          </p:nvSpPr>
          <p:spPr>
            <a:xfrm>
              <a:off x="7632667" y="5190208"/>
              <a:ext cx="434100" cy="614100"/>
            </a:xfrm>
            <a:prstGeom prst="flowChartDelay">
              <a:avLst/>
            </a:prstGeom>
            <a:solidFill>
              <a:srgbClr val="FFFFFF"/>
            </a:solidFill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75" name="Google Shape;675;p48"/>
            <p:cNvCxnSpPr/>
            <p:nvPr/>
          </p:nvCxnSpPr>
          <p:spPr>
            <a:xfrm>
              <a:off x="7205391" y="5369506"/>
              <a:ext cx="427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76" name="Google Shape;676;p48"/>
            <p:cNvCxnSpPr/>
            <p:nvPr/>
          </p:nvCxnSpPr>
          <p:spPr>
            <a:xfrm>
              <a:off x="7202263" y="5608397"/>
              <a:ext cx="427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77" name="Google Shape;677;p48"/>
            <p:cNvCxnSpPr/>
            <p:nvPr/>
          </p:nvCxnSpPr>
          <p:spPr>
            <a:xfrm>
              <a:off x="8135912" y="5497800"/>
              <a:ext cx="427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678" name="Google Shape;678;p48"/>
            <p:cNvSpPr/>
            <p:nvPr/>
          </p:nvSpPr>
          <p:spPr>
            <a:xfrm>
              <a:off x="8071318" y="5441774"/>
              <a:ext cx="67500" cy="111000"/>
            </a:xfrm>
            <a:prstGeom prst="flowChartConnector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79" name="Google Shape;679;p48"/>
          <p:cNvSpPr txBox="1"/>
          <p:nvPr/>
        </p:nvSpPr>
        <p:spPr>
          <a:xfrm>
            <a:off x="4644560" y="1822846"/>
            <a:ext cx="291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0" name="Google Shape;680;p48"/>
          <p:cNvSpPr txBox="1"/>
          <p:nvPr/>
        </p:nvSpPr>
        <p:spPr>
          <a:xfrm>
            <a:off x="7093743" y="1846801"/>
            <a:ext cx="916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(AA)’  =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48"/>
          <p:cNvSpPr txBox="1"/>
          <p:nvPr/>
        </p:nvSpPr>
        <p:spPr>
          <a:xfrm>
            <a:off x="7867959" y="1843813"/>
            <a:ext cx="494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A’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48"/>
          <p:cNvSpPr txBox="1"/>
          <p:nvPr/>
        </p:nvSpPr>
        <p:spPr>
          <a:xfrm>
            <a:off x="3842673" y="2684843"/>
            <a:ext cx="291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3" name="Google Shape;683;p48"/>
          <p:cNvSpPr txBox="1"/>
          <p:nvPr/>
        </p:nvSpPr>
        <p:spPr>
          <a:xfrm>
            <a:off x="3837092" y="2910323"/>
            <a:ext cx="291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4" name="Google Shape;684;p48"/>
          <p:cNvSpPr txBox="1"/>
          <p:nvPr/>
        </p:nvSpPr>
        <p:spPr>
          <a:xfrm>
            <a:off x="5140123" y="2624750"/>
            <a:ext cx="681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(AB)’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685" name="Google Shape;685;p48"/>
          <p:cNvGrpSpPr/>
          <p:nvPr/>
        </p:nvGrpSpPr>
        <p:grpSpPr>
          <a:xfrm>
            <a:off x="5219791" y="2702913"/>
            <a:ext cx="1814444" cy="579219"/>
            <a:chOff x="7892240" y="3414547"/>
            <a:chExt cx="1655062" cy="579219"/>
          </a:xfrm>
        </p:grpSpPr>
        <p:cxnSp>
          <p:nvCxnSpPr>
            <p:cNvPr id="686" name="Google Shape;686;p48"/>
            <p:cNvCxnSpPr/>
            <p:nvPr/>
          </p:nvCxnSpPr>
          <p:spPr>
            <a:xfrm>
              <a:off x="7892240" y="3699210"/>
              <a:ext cx="427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87" name="Google Shape;687;p48"/>
            <p:cNvCxnSpPr/>
            <p:nvPr/>
          </p:nvCxnSpPr>
          <p:spPr>
            <a:xfrm rot="10800000">
              <a:off x="8322719" y="3564984"/>
              <a:ext cx="0" cy="2631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688" name="Google Shape;688;p48"/>
            <p:cNvGrpSpPr/>
            <p:nvPr/>
          </p:nvGrpSpPr>
          <p:grpSpPr>
            <a:xfrm>
              <a:off x="8319272" y="3414547"/>
              <a:ext cx="1228030" cy="579219"/>
              <a:chOff x="7202263" y="5190208"/>
              <a:chExt cx="1360849" cy="614100"/>
            </a:xfrm>
          </p:grpSpPr>
          <p:sp>
            <p:nvSpPr>
              <p:cNvPr id="689" name="Google Shape;689;p48"/>
              <p:cNvSpPr/>
              <p:nvPr/>
            </p:nvSpPr>
            <p:spPr>
              <a:xfrm>
                <a:off x="7632667" y="5190208"/>
                <a:ext cx="434100" cy="614100"/>
              </a:xfrm>
              <a:prstGeom prst="flowChartDelay">
                <a:avLst/>
              </a:prstGeom>
              <a:solidFill>
                <a:srgbClr val="FFFFFF"/>
              </a:solidFill>
              <a:ln cap="flat" cmpd="sng" w="381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690" name="Google Shape;690;p48"/>
              <p:cNvCxnSpPr/>
              <p:nvPr/>
            </p:nvCxnSpPr>
            <p:spPr>
              <a:xfrm>
                <a:off x="7205391" y="5369506"/>
                <a:ext cx="4272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91" name="Google Shape;691;p48"/>
              <p:cNvCxnSpPr/>
              <p:nvPr/>
            </p:nvCxnSpPr>
            <p:spPr>
              <a:xfrm>
                <a:off x="7202263" y="5608397"/>
                <a:ext cx="4272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92" name="Google Shape;692;p48"/>
              <p:cNvCxnSpPr/>
              <p:nvPr/>
            </p:nvCxnSpPr>
            <p:spPr>
              <a:xfrm>
                <a:off x="8135912" y="5497800"/>
                <a:ext cx="4272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693" name="Google Shape;693;p48"/>
              <p:cNvSpPr/>
              <p:nvPr/>
            </p:nvSpPr>
            <p:spPr>
              <a:xfrm>
                <a:off x="8071318" y="5441774"/>
                <a:ext cx="67500" cy="111000"/>
              </a:xfrm>
              <a:prstGeom prst="flowChartConnector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94" name="Google Shape;694;p48"/>
          <p:cNvSpPr txBox="1"/>
          <p:nvPr/>
        </p:nvSpPr>
        <p:spPr>
          <a:xfrm>
            <a:off x="7110463" y="2781438"/>
            <a:ext cx="1119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((AB)’)’ = 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5" name="Google Shape;695;p48"/>
          <p:cNvSpPr txBox="1"/>
          <p:nvPr/>
        </p:nvSpPr>
        <p:spPr>
          <a:xfrm>
            <a:off x="7964913" y="2781438"/>
            <a:ext cx="547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696" name="Google Shape;696;p48"/>
          <p:cNvGrpSpPr/>
          <p:nvPr/>
        </p:nvGrpSpPr>
        <p:grpSpPr>
          <a:xfrm>
            <a:off x="4100087" y="3619700"/>
            <a:ext cx="1512139" cy="386100"/>
            <a:chOff x="3888555" y="4862484"/>
            <a:chExt cx="1251667" cy="386100"/>
          </a:xfrm>
        </p:grpSpPr>
        <p:cxnSp>
          <p:nvCxnSpPr>
            <p:cNvPr id="697" name="Google Shape;697;p48"/>
            <p:cNvCxnSpPr/>
            <p:nvPr/>
          </p:nvCxnSpPr>
          <p:spPr>
            <a:xfrm>
              <a:off x="3888555" y="5048475"/>
              <a:ext cx="2991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698" name="Google Shape;698;p48"/>
            <p:cNvSpPr/>
            <p:nvPr/>
          </p:nvSpPr>
          <p:spPr>
            <a:xfrm>
              <a:off x="4488881" y="4862484"/>
              <a:ext cx="303900" cy="386100"/>
            </a:xfrm>
            <a:prstGeom prst="flowChartDelay">
              <a:avLst/>
            </a:prstGeom>
            <a:solidFill>
              <a:srgbClr val="FFFFFF"/>
            </a:solidFill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99" name="Google Shape;699;p48"/>
            <p:cNvCxnSpPr/>
            <p:nvPr/>
          </p:nvCxnSpPr>
          <p:spPr>
            <a:xfrm>
              <a:off x="4189813" y="4975224"/>
              <a:ext cx="2991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00" name="Google Shape;700;p48"/>
            <p:cNvCxnSpPr/>
            <p:nvPr/>
          </p:nvCxnSpPr>
          <p:spPr>
            <a:xfrm>
              <a:off x="4187624" y="5125435"/>
              <a:ext cx="2991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01" name="Google Shape;701;p48"/>
            <p:cNvCxnSpPr/>
            <p:nvPr/>
          </p:nvCxnSpPr>
          <p:spPr>
            <a:xfrm>
              <a:off x="4841122" y="5055893"/>
              <a:ext cx="2991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02" name="Google Shape;702;p48"/>
            <p:cNvSpPr/>
            <p:nvPr/>
          </p:nvSpPr>
          <p:spPr>
            <a:xfrm>
              <a:off x="4795910" y="5020665"/>
              <a:ext cx="47100" cy="69900"/>
            </a:xfrm>
            <a:prstGeom prst="flowChartConnector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03" name="Google Shape;703;p48"/>
            <p:cNvCxnSpPr/>
            <p:nvPr/>
          </p:nvCxnSpPr>
          <p:spPr>
            <a:xfrm rot="10800000">
              <a:off x="4187631" y="4957734"/>
              <a:ext cx="0" cy="187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704" name="Google Shape;704;p48"/>
          <p:cNvSpPr txBox="1"/>
          <p:nvPr/>
        </p:nvSpPr>
        <p:spPr>
          <a:xfrm>
            <a:off x="3835830" y="3599949"/>
            <a:ext cx="291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05" name="Google Shape;705;p48"/>
          <p:cNvGrpSpPr/>
          <p:nvPr/>
        </p:nvGrpSpPr>
        <p:grpSpPr>
          <a:xfrm>
            <a:off x="4083483" y="4194575"/>
            <a:ext cx="1528786" cy="386100"/>
            <a:chOff x="3888555" y="4862484"/>
            <a:chExt cx="1251667" cy="386100"/>
          </a:xfrm>
        </p:grpSpPr>
        <p:cxnSp>
          <p:nvCxnSpPr>
            <p:cNvPr id="706" name="Google Shape;706;p48"/>
            <p:cNvCxnSpPr/>
            <p:nvPr/>
          </p:nvCxnSpPr>
          <p:spPr>
            <a:xfrm>
              <a:off x="3888555" y="5048475"/>
              <a:ext cx="2991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07" name="Google Shape;707;p48"/>
            <p:cNvSpPr/>
            <p:nvPr/>
          </p:nvSpPr>
          <p:spPr>
            <a:xfrm>
              <a:off x="4488881" y="4862484"/>
              <a:ext cx="303900" cy="386100"/>
            </a:xfrm>
            <a:prstGeom prst="flowChartDelay">
              <a:avLst/>
            </a:prstGeom>
            <a:solidFill>
              <a:srgbClr val="FFFFFF"/>
            </a:solidFill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08" name="Google Shape;708;p48"/>
            <p:cNvCxnSpPr/>
            <p:nvPr/>
          </p:nvCxnSpPr>
          <p:spPr>
            <a:xfrm>
              <a:off x="4189813" y="4975224"/>
              <a:ext cx="2991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09" name="Google Shape;709;p48"/>
            <p:cNvCxnSpPr/>
            <p:nvPr/>
          </p:nvCxnSpPr>
          <p:spPr>
            <a:xfrm>
              <a:off x="4187624" y="5125435"/>
              <a:ext cx="2991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10" name="Google Shape;710;p48"/>
            <p:cNvCxnSpPr/>
            <p:nvPr/>
          </p:nvCxnSpPr>
          <p:spPr>
            <a:xfrm>
              <a:off x="4841122" y="5055893"/>
              <a:ext cx="2991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11" name="Google Shape;711;p48"/>
            <p:cNvSpPr/>
            <p:nvPr/>
          </p:nvSpPr>
          <p:spPr>
            <a:xfrm>
              <a:off x="4795910" y="5020665"/>
              <a:ext cx="47100" cy="69900"/>
            </a:xfrm>
            <a:prstGeom prst="flowChartConnector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12" name="Google Shape;712;p48"/>
            <p:cNvCxnSpPr/>
            <p:nvPr/>
          </p:nvCxnSpPr>
          <p:spPr>
            <a:xfrm rot="10800000">
              <a:off x="4187631" y="4957434"/>
              <a:ext cx="0" cy="1866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713" name="Google Shape;713;p48"/>
          <p:cNvSpPr txBox="1"/>
          <p:nvPr/>
        </p:nvSpPr>
        <p:spPr>
          <a:xfrm>
            <a:off x="5392307" y="3514988"/>
            <a:ext cx="434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A’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4" name="Google Shape;714;p48"/>
          <p:cNvSpPr txBox="1"/>
          <p:nvPr/>
        </p:nvSpPr>
        <p:spPr>
          <a:xfrm>
            <a:off x="3855756" y="4177355"/>
            <a:ext cx="291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5" name="Google Shape;715;p48"/>
          <p:cNvSpPr txBox="1"/>
          <p:nvPr/>
        </p:nvSpPr>
        <p:spPr>
          <a:xfrm>
            <a:off x="5394814" y="4343363"/>
            <a:ext cx="434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B’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6" name="Google Shape;716;p48"/>
          <p:cNvCxnSpPr/>
          <p:nvPr/>
        </p:nvCxnSpPr>
        <p:spPr>
          <a:xfrm>
            <a:off x="5612175" y="3793325"/>
            <a:ext cx="0" cy="1869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17" name="Google Shape;717;p48"/>
          <p:cNvCxnSpPr/>
          <p:nvPr/>
        </p:nvCxnSpPr>
        <p:spPr>
          <a:xfrm>
            <a:off x="5607175" y="4166600"/>
            <a:ext cx="0" cy="2397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18" name="Google Shape;718;p48"/>
          <p:cNvSpPr txBox="1"/>
          <p:nvPr/>
        </p:nvSpPr>
        <p:spPr>
          <a:xfrm>
            <a:off x="7020315" y="3719038"/>
            <a:ext cx="1026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(A’B’)’ = 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9" name="Google Shape;719;p48"/>
          <p:cNvSpPr txBox="1"/>
          <p:nvPr/>
        </p:nvSpPr>
        <p:spPr>
          <a:xfrm>
            <a:off x="7849409" y="3716025"/>
            <a:ext cx="1119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(A’)’+(B’)’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0" name="Google Shape;720;p48"/>
          <p:cNvSpPr txBox="1"/>
          <p:nvPr/>
        </p:nvSpPr>
        <p:spPr>
          <a:xfrm>
            <a:off x="7627417" y="4040548"/>
            <a:ext cx="222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21" name="Google Shape;721;p48"/>
          <p:cNvGrpSpPr/>
          <p:nvPr/>
        </p:nvGrpSpPr>
        <p:grpSpPr>
          <a:xfrm>
            <a:off x="5601651" y="3790700"/>
            <a:ext cx="1462913" cy="579219"/>
            <a:chOff x="7202263" y="5190208"/>
            <a:chExt cx="1360849" cy="614100"/>
          </a:xfrm>
        </p:grpSpPr>
        <p:sp>
          <p:nvSpPr>
            <p:cNvPr id="722" name="Google Shape;722;p48"/>
            <p:cNvSpPr/>
            <p:nvPr/>
          </p:nvSpPr>
          <p:spPr>
            <a:xfrm>
              <a:off x="7632667" y="5190208"/>
              <a:ext cx="434100" cy="614100"/>
            </a:xfrm>
            <a:prstGeom prst="flowChartDelay">
              <a:avLst/>
            </a:prstGeom>
            <a:solidFill>
              <a:srgbClr val="FFFFFF"/>
            </a:solidFill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23" name="Google Shape;723;p48"/>
            <p:cNvCxnSpPr/>
            <p:nvPr/>
          </p:nvCxnSpPr>
          <p:spPr>
            <a:xfrm>
              <a:off x="7205391" y="5369506"/>
              <a:ext cx="427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24" name="Google Shape;724;p48"/>
            <p:cNvCxnSpPr/>
            <p:nvPr/>
          </p:nvCxnSpPr>
          <p:spPr>
            <a:xfrm>
              <a:off x="7202263" y="5608397"/>
              <a:ext cx="427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25" name="Google Shape;725;p48"/>
            <p:cNvCxnSpPr/>
            <p:nvPr/>
          </p:nvCxnSpPr>
          <p:spPr>
            <a:xfrm>
              <a:off x="8135912" y="5497800"/>
              <a:ext cx="427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26" name="Google Shape;726;p48"/>
            <p:cNvSpPr/>
            <p:nvPr/>
          </p:nvSpPr>
          <p:spPr>
            <a:xfrm>
              <a:off x="8071318" y="5441774"/>
              <a:ext cx="67500" cy="111000"/>
            </a:xfrm>
            <a:prstGeom prst="flowChartConnector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27" name="Google Shape;727;p48"/>
          <p:cNvSpPr txBox="1"/>
          <p:nvPr/>
        </p:nvSpPr>
        <p:spPr>
          <a:xfrm>
            <a:off x="7900013" y="4088339"/>
            <a:ext cx="574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A+B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28" name="Google Shape;728;p48"/>
          <p:cNvGrpSpPr/>
          <p:nvPr/>
        </p:nvGrpSpPr>
        <p:grpSpPr>
          <a:xfrm>
            <a:off x="4134171" y="2697550"/>
            <a:ext cx="1562799" cy="579219"/>
            <a:chOff x="7202263" y="5190208"/>
            <a:chExt cx="1360849" cy="614100"/>
          </a:xfrm>
        </p:grpSpPr>
        <p:sp>
          <p:nvSpPr>
            <p:cNvPr id="729" name="Google Shape;729;p48"/>
            <p:cNvSpPr/>
            <p:nvPr/>
          </p:nvSpPr>
          <p:spPr>
            <a:xfrm>
              <a:off x="7632667" y="5190208"/>
              <a:ext cx="434100" cy="614100"/>
            </a:xfrm>
            <a:prstGeom prst="flowChartDelay">
              <a:avLst/>
            </a:prstGeom>
            <a:solidFill>
              <a:srgbClr val="FFFFFF"/>
            </a:solidFill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30" name="Google Shape;730;p48"/>
            <p:cNvCxnSpPr/>
            <p:nvPr/>
          </p:nvCxnSpPr>
          <p:spPr>
            <a:xfrm>
              <a:off x="7205391" y="5369506"/>
              <a:ext cx="427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31" name="Google Shape;731;p48"/>
            <p:cNvCxnSpPr/>
            <p:nvPr/>
          </p:nvCxnSpPr>
          <p:spPr>
            <a:xfrm>
              <a:off x="7202263" y="5608397"/>
              <a:ext cx="427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32" name="Google Shape;732;p48"/>
            <p:cNvCxnSpPr/>
            <p:nvPr/>
          </p:nvCxnSpPr>
          <p:spPr>
            <a:xfrm>
              <a:off x="8135912" y="5497800"/>
              <a:ext cx="427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33" name="Google Shape;733;p48"/>
            <p:cNvSpPr/>
            <p:nvPr/>
          </p:nvSpPr>
          <p:spPr>
            <a:xfrm>
              <a:off x="8071318" y="5441774"/>
              <a:ext cx="67500" cy="111000"/>
            </a:xfrm>
            <a:prstGeom prst="flowChartConnector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34" name="Google Shape;734;p48"/>
          <p:cNvGrpSpPr/>
          <p:nvPr/>
        </p:nvGrpSpPr>
        <p:grpSpPr>
          <a:xfrm>
            <a:off x="1422270" y="3822975"/>
            <a:ext cx="1562783" cy="502197"/>
            <a:chOff x="1422270" y="3822975"/>
            <a:chExt cx="1562783" cy="502197"/>
          </a:xfrm>
        </p:grpSpPr>
        <p:cxnSp>
          <p:nvCxnSpPr>
            <p:cNvPr id="735" name="Google Shape;735;p48"/>
            <p:cNvCxnSpPr/>
            <p:nvPr/>
          </p:nvCxnSpPr>
          <p:spPr>
            <a:xfrm>
              <a:off x="2435145" y="4053479"/>
              <a:ext cx="549908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36" name="Google Shape;736;p48"/>
            <p:cNvCxnSpPr/>
            <p:nvPr/>
          </p:nvCxnSpPr>
          <p:spPr>
            <a:xfrm>
              <a:off x="1427905" y="3934881"/>
              <a:ext cx="549908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37" name="Google Shape;737;p48"/>
            <p:cNvCxnSpPr/>
            <p:nvPr/>
          </p:nvCxnSpPr>
          <p:spPr>
            <a:xfrm>
              <a:off x="1422270" y="4197311"/>
              <a:ext cx="549908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38" name="Google Shape;738;p48"/>
            <p:cNvSpPr/>
            <p:nvPr/>
          </p:nvSpPr>
          <p:spPr>
            <a:xfrm>
              <a:off x="1907675" y="3823475"/>
              <a:ext cx="123703" cy="501697"/>
            </a:xfrm>
            <a:custGeom>
              <a:rect b="b" l="l" r="r" t="t"/>
              <a:pathLst>
                <a:path extrusionOk="0" h="20094" w="5723">
                  <a:moveTo>
                    <a:pt x="0" y="0"/>
                  </a:moveTo>
                  <a:cubicBezTo>
                    <a:pt x="954" y="1600"/>
                    <a:pt x="5723" y="6251"/>
                    <a:pt x="5723" y="9600"/>
                  </a:cubicBezTo>
                  <a:cubicBezTo>
                    <a:pt x="5723" y="12949"/>
                    <a:pt x="954" y="18345"/>
                    <a:pt x="0" y="20094"/>
                  </a:cubicBezTo>
                </a:path>
              </a:pathLst>
            </a:cu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739" name="Google Shape;739;p48"/>
            <p:cNvSpPr/>
            <p:nvPr/>
          </p:nvSpPr>
          <p:spPr>
            <a:xfrm>
              <a:off x="1888450" y="3822975"/>
              <a:ext cx="551325" cy="501700"/>
            </a:xfrm>
            <a:custGeom>
              <a:rect b="b" l="l" r="r" t="t"/>
              <a:pathLst>
                <a:path extrusionOk="0" h="20068" w="22053">
                  <a:moveTo>
                    <a:pt x="44" y="0"/>
                  </a:moveTo>
                  <a:cubicBezTo>
                    <a:pt x="1581" y="80"/>
                    <a:pt x="6698" y="160"/>
                    <a:pt x="9264" y="479"/>
                  </a:cubicBezTo>
                  <a:cubicBezTo>
                    <a:pt x="11830" y="798"/>
                    <a:pt x="13715" y="1276"/>
                    <a:pt x="15440" y="1914"/>
                  </a:cubicBezTo>
                  <a:cubicBezTo>
                    <a:pt x="17165" y="2552"/>
                    <a:pt x="18587" y="3364"/>
                    <a:pt x="19616" y="4306"/>
                  </a:cubicBezTo>
                  <a:cubicBezTo>
                    <a:pt x="20645" y="5248"/>
                    <a:pt x="21225" y="6734"/>
                    <a:pt x="21616" y="7568"/>
                  </a:cubicBezTo>
                  <a:cubicBezTo>
                    <a:pt x="22007" y="8402"/>
                    <a:pt x="21899" y="8815"/>
                    <a:pt x="21964" y="9308"/>
                  </a:cubicBezTo>
                  <a:cubicBezTo>
                    <a:pt x="22029" y="9801"/>
                    <a:pt x="22088" y="9881"/>
                    <a:pt x="22008" y="10526"/>
                  </a:cubicBezTo>
                  <a:cubicBezTo>
                    <a:pt x="21928" y="11171"/>
                    <a:pt x="21892" y="12331"/>
                    <a:pt x="21486" y="13179"/>
                  </a:cubicBezTo>
                  <a:cubicBezTo>
                    <a:pt x="21080" y="14027"/>
                    <a:pt x="20587" y="14802"/>
                    <a:pt x="19572" y="15614"/>
                  </a:cubicBezTo>
                  <a:cubicBezTo>
                    <a:pt x="18557" y="16426"/>
                    <a:pt x="17035" y="17398"/>
                    <a:pt x="15397" y="18050"/>
                  </a:cubicBezTo>
                  <a:cubicBezTo>
                    <a:pt x="13759" y="18703"/>
                    <a:pt x="11751" y="19196"/>
                    <a:pt x="9743" y="19529"/>
                  </a:cubicBezTo>
                  <a:cubicBezTo>
                    <a:pt x="7735" y="19863"/>
                    <a:pt x="4973" y="19986"/>
                    <a:pt x="3349" y="20051"/>
                  </a:cubicBezTo>
                  <a:cubicBezTo>
                    <a:pt x="1725" y="20116"/>
                    <a:pt x="558" y="19942"/>
                    <a:pt x="0" y="19920"/>
                  </a:cubicBezTo>
                </a:path>
              </a:pathLst>
            </a:cu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49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745" name="Google Shape;745;p49"/>
          <p:cNvGraphicFramePr/>
          <p:nvPr/>
        </p:nvGraphicFramePr>
        <p:xfrm>
          <a:off x="340710" y="161697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{45816025-0701-47EE-B307-CD39AD27B1C3}</a:tableStyleId>
              </a:tblPr>
              <a:tblGrid>
                <a:gridCol w="681700"/>
                <a:gridCol w="2699525"/>
                <a:gridCol w="5299225"/>
              </a:tblGrid>
              <a:tr h="878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68600" marL="68600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68600" marL="68600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68600" marL="68600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93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68600" marL="68600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68600" marL="68600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68600" marL="68600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4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68600" marL="68600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68600" marL="68600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68600" marL="68600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746" name="Google Shape;746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747" name="Google Shape;747;p4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748" name="Google Shape;748;p49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749" name="Google Shape;749;p49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49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49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52" name="Google Shape;752;p49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Basic gates using NOR gate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3" name="Google Shape;753;p49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4" name="Google Shape;754;p49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5" name="Google Shape;755;p49"/>
          <p:cNvSpPr txBox="1"/>
          <p:nvPr/>
        </p:nvSpPr>
        <p:spPr>
          <a:xfrm>
            <a:off x="6488809" y="863349"/>
            <a:ext cx="291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6" name="Google Shape;756;p49"/>
          <p:cNvSpPr txBox="1"/>
          <p:nvPr/>
        </p:nvSpPr>
        <p:spPr>
          <a:xfrm>
            <a:off x="6483227" y="1088829"/>
            <a:ext cx="291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7" name="Google Shape;757;p49"/>
          <p:cNvSpPr txBox="1"/>
          <p:nvPr/>
        </p:nvSpPr>
        <p:spPr>
          <a:xfrm>
            <a:off x="8314850" y="955500"/>
            <a:ext cx="753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(A+B)’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58" name="Google Shape;758;p49"/>
          <p:cNvCxnSpPr/>
          <p:nvPr/>
        </p:nvCxnSpPr>
        <p:spPr>
          <a:xfrm>
            <a:off x="4961790" y="2026329"/>
            <a:ext cx="5436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59" name="Google Shape;759;p49"/>
          <p:cNvCxnSpPr/>
          <p:nvPr/>
        </p:nvCxnSpPr>
        <p:spPr>
          <a:xfrm rot="10800000">
            <a:off x="5509625" y="1864025"/>
            <a:ext cx="0" cy="2922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760" name="Google Shape;760;p49"/>
          <p:cNvGrpSpPr/>
          <p:nvPr/>
        </p:nvGrpSpPr>
        <p:grpSpPr>
          <a:xfrm>
            <a:off x="1434448" y="1787066"/>
            <a:ext cx="1454368" cy="536418"/>
            <a:chOff x="1434448" y="1787066"/>
            <a:chExt cx="1454368" cy="536418"/>
          </a:xfrm>
        </p:grpSpPr>
        <p:sp>
          <p:nvSpPr>
            <p:cNvPr id="761" name="Google Shape;761;p49"/>
            <p:cNvSpPr/>
            <p:nvPr/>
          </p:nvSpPr>
          <p:spPr>
            <a:xfrm rot="5400000">
              <a:off x="1849264" y="1826306"/>
              <a:ext cx="536418" cy="457937"/>
            </a:xfrm>
            <a:prstGeom prst="flowChartExtract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62" name="Google Shape;762;p49"/>
            <p:cNvCxnSpPr/>
            <p:nvPr/>
          </p:nvCxnSpPr>
          <p:spPr>
            <a:xfrm>
              <a:off x="1434448" y="2051304"/>
              <a:ext cx="4506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63" name="Google Shape;763;p49"/>
            <p:cNvCxnSpPr/>
            <p:nvPr/>
          </p:nvCxnSpPr>
          <p:spPr>
            <a:xfrm>
              <a:off x="2438216" y="2051304"/>
              <a:ext cx="4506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64" name="Google Shape;764;p49"/>
            <p:cNvSpPr/>
            <p:nvPr/>
          </p:nvSpPr>
          <p:spPr>
            <a:xfrm>
              <a:off x="2370463" y="2014157"/>
              <a:ext cx="71100" cy="74400"/>
            </a:xfrm>
            <a:prstGeom prst="flowChartConnector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65" name="Google Shape;765;p49"/>
          <p:cNvSpPr txBox="1"/>
          <p:nvPr/>
        </p:nvSpPr>
        <p:spPr>
          <a:xfrm>
            <a:off x="340701" y="1903750"/>
            <a:ext cx="681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exend"/>
                <a:ea typeface="Lexend"/>
                <a:cs typeface="Lexend"/>
                <a:sym typeface="Lexend"/>
              </a:rPr>
              <a:t>NOT</a:t>
            </a:r>
            <a:endParaRPr sz="1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6" name="Google Shape;766;p49"/>
          <p:cNvSpPr txBox="1"/>
          <p:nvPr/>
        </p:nvSpPr>
        <p:spPr>
          <a:xfrm>
            <a:off x="1107636" y="1860231"/>
            <a:ext cx="29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7" name="Google Shape;767;p49"/>
          <p:cNvSpPr txBox="1"/>
          <p:nvPr/>
        </p:nvSpPr>
        <p:spPr>
          <a:xfrm>
            <a:off x="2963003" y="1870613"/>
            <a:ext cx="434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A’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8" name="Google Shape;768;p49"/>
          <p:cNvSpPr txBox="1"/>
          <p:nvPr/>
        </p:nvSpPr>
        <p:spPr>
          <a:xfrm>
            <a:off x="350749" y="2709975"/>
            <a:ext cx="671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exend"/>
                <a:ea typeface="Lexend"/>
                <a:cs typeface="Lexend"/>
                <a:sym typeface="Lexend"/>
              </a:rPr>
              <a:t>OR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9" name="Google Shape;769;p49"/>
          <p:cNvSpPr txBox="1"/>
          <p:nvPr/>
        </p:nvSpPr>
        <p:spPr>
          <a:xfrm>
            <a:off x="351325" y="3838800"/>
            <a:ext cx="671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exend"/>
                <a:ea typeface="Lexend"/>
                <a:cs typeface="Lexend"/>
                <a:sym typeface="Lexend"/>
              </a:rPr>
              <a:t>AND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0" name="Google Shape;770;p49"/>
          <p:cNvSpPr txBox="1"/>
          <p:nvPr/>
        </p:nvSpPr>
        <p:spPr>
          <a:xfrm>
            <a:off x="1107636" y="2612142"/>
            <a:ext cx="29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1" name="Google Shape;771;p49"/>
          <p:cNvSpPr txBox="1"/>
          <p:nvPr/>
        </p:nvSpPr>
        <p:spPr>
          <a:xfrm>
            <a:off x="1121636" y="2876670"/>
            <a:ext cx="29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2" name="Google Shape;772;p49"/>
          <p:cNvSpPr txBox="1"/>
          <p:nvPr/>
        </p:nvSpPr>
        <p:spPr>
          <a:xfrm>
            <a:off x="2985260" y="2726688"/>
            <a:ext cx="68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A+B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3" name="Google Shape;773;p49"/>
          <p:cNvSpPr txBox="1"/>
          <p:nvPr/>
        </p:nvSpPr>
        <p:spPr>
          <a:xfrm>
            <a:off x="4644560" y="1822846"/>
            <a:ext cx="291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4" name="Google Shape;774;p49"/>
          <p:cNvSpPr txBox="1"/>
          <p:nvPr/>
        </p:nvSpPr>
        <p:spPr>
          <a:xfrm>
            <a:off x="3842673" y="2684843"/>
            <a:ext cx="291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5" name="Google Shape;775;p49"/>
          <p:cNvSpPr txBox="1"/>
          <p:nvPr/>
        </p:nvSpPr>
        <p:spPr>
          <a:xfrm>
            <a:off x="3837092" y="2910323"/>
            <a:ext cx="291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6" name="Google Shape;776;p49"/>
          <p:cNvSpPr txBox="1"/>
          <p:nvPr/>
        </p:nvSpPr>
        <p:spPr>
          <a:xfrm>
            <a:off x="5005473" y="2615175"/>
            <a:ext cx="782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(A+B)’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7" name="Google Shape;777;p49"/>
          <p:cNvSpPr txBox="1"/>
          <p:nvPr/>
        </p:nvSpPr>
        <p:spPr>
          <a:xfrm>
            <a:off x="3835830" y="3599949"/>
            <a:ext cx="291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8" name="Google Shape;778;p49"/>
          <p:cNvSpPr txBox="1"/>
          <p:nvPr/>
        </p:nvSpPr>
        <p:spPr>
          <a:xfrm>
            <a:off x="5392307" y="3438788"/>
            <a:ext cx="434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A’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9" name="Google Shape;779;p49"/>
          <p:cNvSpPr txBox="1"/>
          <p:nvPr/>
        </p:nvSpPr>
        <p:spPr>
          <a:xfrm>
            <a:off x="3855756" y="4177355"/>
            <a:ext cx="291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0" name="Google Shape;780;p49"/>
          <p:cNvSpPr txBox="1"/>
          <p:nvPr/>
        </p:nvSpPr>
        <p:spPr>
          <a:xfrm>
            <a:off x="5394814" y="4343363"/>
            <a:ext cx="434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B’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81" name="Google Shape;781;p49"/>
          <p:cNvCxnSpPr/>
          <p:nvPr/>
        </p:nvCxnSpPr>
        <p:spPr>
          <a:xfrm>
            <a:off x="5612050" y="3737275"/>
            <a:ext cx="0" cy="2061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82" name="Google Shape;782;p49"/>
          <p:cNvCxnSpPr/>
          <p:nvPr/>
        </p:nvCxnSpPr>
        <p:spPr>
          <a:xfrm>
            <a:off x="5607175" y="4166825"/>
            <a:ext cx="0" cy="1821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83" name="Google Shape;783;p49"/>
          <p:cNvSpPr txBox="1"/>
          <p:nvPr/>
        </p:nvSpPr>
        <p:spPr>
          <a:xfrm>
            <a:off x="7020315" y="3719038"/>
            <a:ext cx="1026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(A’+B’)’ = 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4" name="Google Shape;784;p49"/>
          <p:cNvSpPr txBox="1"/>
          <p:nvPr/>
        </p:nvSpPr>
        <p:spPr>
          <a:xfrm>
            <a:off x="7849409" y="3716025"/>
            <a:ext cx="1119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(A’)’</a:t>
            </a:r>
            <a:r>
              <a:rPr lang="en" sz="15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(B’)’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5" name="Google Shape;785;p49"/>
          <p:cNvSpPr txBox="1"/>
          <p:nvPr/>
        </p:nvSpPr>
        <p:spPr>
          <a:xfrm>
            <a:off x="7627417" y="4040548"/>
            <a:ext cx="222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6" name="Google Shape;786;p49"/>
          <p:cNvSpPr txBox="1"/>
          <p:nvPr/>
        </p:nvSpPr>
        <p:spPr>
          <a:xfrm>
            <a:off x="7900013" y="4088339"/>
            <a:ext cx="574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AB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87" name="Google Shape;787;p49"/>
          <p:cNvGrpSpPr/>
          <p:nvPr/>
        </p:nvGrpSpPr>
        <p:grpSpPr>
          <a:xfrm>
            <a:off x="1422270" y="2679975"/>
            <a:ext cx="1562775" cy="502197"/>
            <a:chOff x="1422270" y="3822975"/>
            <a:chExt cx="1562775" cy="502197"/>
          </a:xfrm>
        </p:grpSpPr>
        <p:cxnSp>
          <p:nvCxnSpPr>
            <p:cNvPr id="788" name="Google Shape;788;p49"/>
            <p:cNvCxnSpPr/>
            <p:nvPr/>
          </p:nvCxnSpPr>
          <p:spPr>
            <a:xfrm>
              <a:off x="2435145" y="4053479"/>
              <a:ext cx="5499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89" name="Google Shape;789;p49"/>
            <p:cNvCxnSpPr/>
            <p:nvPr/>
          </p:nvCxnSpPr>
          <p:spPr>
            <a:xfrm>
              <a:off x="1427905" y="3934881"/>
              <a:ext cx="5499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90" name="Google Shape;790;p49"/>
            <p:cNvCxnSpPr/>
            <p:nvPr/>
          </p:nvCxnSpPr>
          <p:spPr>
            <a:xfrm>
              <a:off x="1422270" y="4197311"/>
              <a:ext cx="5499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91" name="Google Shape;791;p49"/>
            <p:cNvSpPr/>
            <p:nvPr/>
          </p:nvSpPr>
          <p:spPr>
            <a:xfrm>
              <a:off x="1907675" y="3823475"/>
              <a:ext cx="123703" cy="501697"/>
            </a:xfrm>
            <a:custGeom>
              <a:rect b="b" l="l" r="r" t="t"/>
              <a:pathLst>
                <a:path extrusionOk="0" h="20094" w="5723">
                  <a:moveTo>
                    <a:pt x="0" y="0"/>
                  </a:moveTo>
                  <a:cubicBezTo>
                    <a:pt x="954" y="1600"/>
                    <a:pt x="5723" y="6251"/>
                    <a:pt x="5723" y="9600"/>
                  </a:cubicBezTo>
                  <a:cubicBezTo>
                    <a:pt x="5723" y="12949"/>
                    <a:pt x="954" y="18345"/>
                    <a:pt x="0" y="20094"/>
                  </a:cubicBezTo>
                </a:path>
              </a:pathLst>
            </a:cu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792" name="Google Shape;792;p49"/>
            <p:cNvSpPr/>
            <p:nvPr/>
          </p:nvSpPr>
          <p:spPr>
            <a:xfrm>
              <a:off x="1888450" y="3822975"/>
              <a:ext cx="551325" cy="501700"/>
            </a:xfrm>
            <a:custGeom>
              <a:rect b="b" l="l" r="r" t="t"/>
              <a:pathLst>
                <a:path extrusionOk="0" h="20068" w="22053">
                  <a:moveTo>
                    <a:pt x="44" y="0"/>
                  </a:moveTo>
                  <a:cubicBezTo>
                    <a:pt x="1581" y="80"/>
                    <a:pt x="6698" y="160"/>
                    <a:pt x="9264" y="479"/>
                  </a:cubicBezTo>
                  <a:cubicBezTo>
                    <a:pt x="11830" y="798"/>
                    <a:pt x="13715" y="1276"/>
                    <a:pt x="15440" y="1914"/>
                  </a:cubicBezTo>
                  <a:cubicBezTo>
                    <a:pt x="17165" y="2552"/>
                    <a:pt x="18587" y="3364"/>
                    <a:pt x="19616" y="4306"/>
                  </a:cubicBezTo>
                  <a:cubicBezTo>
                    <a:pt x="20645" y="5248"/>
                    <a:pt x="21225" y="6734"/>
                    <a:pt x="21616" y="7568"/>
                  </a:cubicBezTo>
                  <a:cubicBezTo>
                    <a:pt x="22007" y="8402"/>
                    <a:pt x="21899" y="8815"/>
                    <a:pt x="21964" y="9308"/>
                  </a:cubicBezTo>
                  <a:cubicBezTo>
                    <a:pt x="22029" y="9801"/>
                    <a:pt x="22088" y="9881"/>
                    <a:pt x="22008" y="10526"/>
                  </a:cubicBezTo>
                  <a:cubicBezTo>
                    <a:pt x="21928" y="11171"/>
                    <a:pt x="21892" y="12331"/>
                    <a:pt x="21486" y="13179"/>
                  </a:cubicBezTo>
                  <a:cubicBezTo>
                    <a:pt x="21080" y="14027"/>
                    <a:pt x="20587" y="14802"/>
                    <a:pt x="19572" y="15614"/>
                  </a:cubicBezTo>
                  <a:cubicBezTo>
                    <a:pt x="18557" y="16426"/>
                    <a:pt x="17035" y="17398"/>
                    <a:pt x="15397" y="18050"/>
                  </a:cubicBezTo>
                  <a:cubicBezTo>
                    <a:pt x="13759" y="18703"/>
                    <a:pt x="11751" y="19196"/>
                    <a:pt x="9743" y="19529"/>
                  </a:cubicBezTo>
                  <a:cubicBezTo>
                    <a:pt x="7735" y="19863"/>
                    <a:pt x="4973" y="19986"/>
                    <a:pt x="3349" y="20051"/>
                  </a:cubicBezTo>
                  <a:cubicBezTo>
                    <a:pt x="1725" y="20116"/>
                    <a:pt x="558" y="19942"/>
                    <a:pt x="0" y="19920"/>
                  </a:cubicBezTo>
                </a:path>
              </a:pathLst>
            </a:cu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793" name="Google Shape;793;p49"/>
          <p:cNvGrpSpPr/>
          <p:nvPr/>
        </p:nvGrpSpPr>
        <p:grpSpPr>
          <a:xfrm>
            <a:off x="6752082" y="890450"/>
            <a:ext cx="1562918" cy="502197"/>
            <a:chOff x="6752082" y="890450"/>
            <a:chExt cx="1562918" cy="502197"/>
          </a:xfrm>
        </p:grpSpPr>
        <p:grpSp>
          <p:nvGrpSpPr>
            <p:cNvPr id="794" name="Google Shape;794;p49"/>
            <p:cNvGrpSpPr/>
            <p:nvPr/>
          </p:nvGrpSpPr>
          <p:grpSpPr>
            <a:xfrm>
              <a:off x="6752082" y="890450"/>
              <a:ext cx="1562918" cy="502197"/>
              <a:chOff x="1422270" y="3822975"/>
              <a:chExt cx="1562918" cy="502197"/>
            </a:xfrm>
          </p:grpSpPr>
          <p:cxnSp>
            <p:nvCxnSpPr>
              <p:cNvPr id="795" name="Google Shape;795;p49"/>
              <p:cNvCxnSpPr/>
              <p:nvPr/>
            </p:nvCxnSpPr>
            <p:spPr>
              <a:xfrm>
                <a:off x="2551388" y="4053475"/>
                <a:ext cx="4338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96" name="Google Shape;796;p49"/>
              <p:cNvCxnSpPr/>
              <p:nvPr/>
            </p:nvCxnSpPr>
            <p:spPr>
              <a:xfrm>
                <a:off x="1427905" y="3934881"/>
                <a:ext cx="5499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97" name="Google Shape;797;p49"/>
              <p:cNvCxnSpPr/>
              <p:nvPr/>
            </p:nvCxnSpPr>
            <p:spPr>
              <a:xfrm>
                <a:off x="1422270" y="4197311"/>
                <a:ext cx="5499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798" name="Google Shape;798;p49"/>
              <p:cNvSpPr/>
              <p:nvPr/>
            </p:nvSpPr>
            <p:spPr>
              <a:xfrm>
                <a:off x="1907675" y="3823475"/>
                <a:ext cx="123703" cy="501697"/>
              </a:xfrm>
              <a:custGeom>
                <a:rect b="b" l="l" r="r" t="t"/>
                <a:pathLst>
                  <a:path extrusionOk="0" h="20094" w="5723">
                    <a:moveTo>
                      <a:pt x="0" y="0"/>
                    </a:moveTo>
                    <a:cubicBezTo>
                      <a:pt x="954" y="1600"/>
                      <a:pt x="5723" y="6251"/>
                      <a:pt x="5723" y="9600"/>
                    </a:cubicBezTo>
                    <a:cubicBezTo>
                      <a:pt x="5723" y="12949"/>
                      <a:pt x="954" y="18345"/>
                      <a:pt x="0" y="20094"/>
                    </a:cubicBezTo>
                  </a:path>
                </a:pathLst>
              </a:cu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799" name="Google Shape;799;p49"/>
              <p:cNvSpPr/>
              <p:nvPr/>
            </p:nvSpPr>
            <p:spPr>
              <a:xfrm>
                <a:off x="1888450" y="3822975"/>
                <a:ext cx="551325" cy="501700"/>
              </a:xfrm>
              <a:custGeom>
                <a:rect b="b" l="l" r="r" t="t"/>
                <a:pathLst>
                  <a:path extrusionOk="0" h="20068" w="22053">
                    <a:moveTo>
                      <a:pt x="44" y="0"/>
                    </a:moveTo>
                    <a:cubicBezTo>
                      <a:pt x="1581" y="80"/>
                      <a:pt x="6698" y="160"/>
                      <a:pt x="9264" y="479"/>
                    </a:cubicBezTo>
                    <a:cubicBezTo>
                      <a:pt x="11830" y="798"/>
                      <a:pt x="13715" y="1276"/>
                      <a:pt x="15440" y="1914"/>
                    </a:cubicBezTo>
                    <a:cubicBezTo>
                      <a:pt x="17165" y="2552"/>
                      <a:pt x="18587" y="3364"/>
                      <a:pt x="19616" y="4306"/>
                    </a:cubicBezTo>
                    <a:cubicBezTo>
                      <a:pt x="20645" y="5248"/>
                      <a:pt x="21225" y="6734"/>
                      <a:pt x="21616" y="7568"/>
                    </a:cubicBezTo>
                    <a:cubicBezTo>
                      <a:pt x="22007" y="8402"/>
                      <a:pt x="21899" y="8815"/>
                      <a:pt x="21964" y="9308"/>
                    </a:cubicBezTo>
                    <a:cubicBezTo>
                      <a:pt x="22029" y="9801"/>
                      <a:pt x="22088" y="9881"/>
                      <a:pt x="22008" y="10526"/>
                    </a:cubicBezTo>
                    <a:cubicBezTo>
                      <a:pt x="21928" y="11171"/>
                      <a:pt x="21892" y="12331"/>
                      <a:pt x="21486" y="13179"/>
                    </a:cubicBezTo>
                    <a:cubicBezTo>
                      <a:pt x="21080" y="14027"/>
                      <a:pt x="20587" y="14802"/>
                      <a:pt x="19572" y="15614"/>
                    </a:cubicBezTo>
                    <a:cubicBezTo>
                      <a:pt x="18557" y="16426"/>
                      <a:pt x="17035" y="17398"/>
                      <a:pt x="15397" y="18050"/>
                    </a:cubicBezTo>
                    <a:cubicBezTo>
                      <a:pt x="13759" y="18703"/>
                      <a:pt x="11751" y="19196"/>
                      <a:pt x="9743" y="19529"/>
                    </a:cubicBezTo>
                    <a:cubicBezTo>
                      <a:pt x="7735" y="19863"/>
                      <a:pt x="4973" y="19986"/>
                      <a:pt x="3349" y="20051"/>
                    </a:cubicBezTo>
                    <a:cubicBezTo>
                      <a:pt x="1725" y="20116"/>
                      <a:pt x="558" y="19942"/>
                      <a:pt x="0" y="19920"/>
                    </a:cubicBezTo>
                  </a:path>
                </a:pathLst>
              </a:cu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</p:grpSp>
        <p:sp>
          <p:nvSpPr>
            <p:cNvPr id="800" name="Google Shape;800;p49"/>
            <p:cNvSpPr/>
            <p:nvPr/>
          </p:nvSpPr>
          <p:spPr>
            <a:xfrm>
              <a:off x="7796838" y="1079857"/>
              <a:ext cx="71100" cy="74400"/>
            </a:xfrm>
            <a:prstGeom prst="flowChartConnector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01" name="Google Shape;801;p49"/>
          <p:cNvGrpSpPr/>
          <p:nvPr/>
        </p:nvGrpSpPr>
        <p:grpSpPr>
          <a:xfrm>
            <a:off x="5505407" y="1767238"/>
            <a:ext cx="1562918" cy="502197"/>
            <a:chOff x="6752082" y="890450"/>
            <a:chExt cx="1562918" cy="502197"/>
          </a:xfrm>
        </p:grpSpPr>
        <p:grpSp>
          <p:nvGrpSpPr>
            <p:cNvPr id="802" name="Google Shape;802;p49"/>
            <p:cNvGrpSpPr/>
            <p:nvPr/>
          </p:nvGrpSpPr>
          <p:grpSpPr>
            <a:xfrm>
              <a:off x="6752082" y="890450"/>
              <a:ext cx="1562918" cy="502197"/>
              <a:chOff x="1422270" y="3822975"/>
              <a:chExt cx="1562918" cy="502197"/>
            </a:xfrm>
          </p:grpSpPr>
          <p:cxnSp>
            <p:nvCxnSpPr>
              <p:cNvPr id="803" name="Google Shape;803;p49"/>
              <p:cNvCxnSpPr/>
              <p:nvPr/>
            </p:nvCxnSpPr>
            <p:spPr>
              <a:xfrm>
                <a:off x="2551388" y="4053475"/>
                <a:ext cx="4338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04" name="Google Shape;804;p49"/>
              <p:cNvCxnSpPr/>
              <p:nvPr/>
            </p:nvCxnSpPr>
            <p:spPr>
              <a:xfrm>
                <a:off x="1427905" y="3934881"/>
                <a:ext cx="5499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05" name="Google Shape;805;p49"/>
              <p:cNvCxnSpPr/>
              <p:nvPr/>
            </p:nvCxnSpPr>
            <p:spPr>
              <a:xfrm>
                <a:off x="1422270" y="4197311"/>
                <a:ext cx="5499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806" name="Google Shape;806;p49"/>
              <p:cNvSpPr/>
              <p:nvPr/>
            </p:nvSpPr>
            <p:spPr>
              <a:xfrm>
                <a:off x="1907675" y="3823475"/>
                <a:ext cx="123703" cy="501697"/>
              </a:xfrm>
              <a:custGeom>
                <a:rect b="b" l="l" r="r" t="t"/>
                <a:pathLst>
                  <a:path extrusionOk="0" h="20094" w="5723">
                    <a:moveTo>
                      <a:pt x="0" y="0"/>
                    </a:moveTo>
                    <a:cubicBezTo>
                      <a:pt x="954" y="1600"/>
                      <a:pt x="5723" y="6251"/>
                      <a:pt x="5723" y="9600"/>
                    </a:cubicBezTo>
                    <a:cubicBezTo>
                      <a:pt x="5723" y="12949"/>
                      <a:pt x="954" y="18345"/>
                      <a:pt x="0" y="20094"/>
                    </a:cubicBezTo>
                  </a:path>
                </a:pathLst>
              </a:cu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807" name="Google Shape;807;p49"/>
              <p:cNvSpPr/>
              <p:nvPr/>
            </p:nvSpPr>
            <p:spPr>
              <a:xfrm>
                <a:off x="1888450" y="3822975"/>
                <a:ext cx="551325" cy="501700"/>
              </a:xfrm>
              <a:custGeom>
                <a:rect b="b" l="l" r="r" t="t"/>
                <a:pathLst>
                  <a:path extrusionOk="0" h="20068" w="22053">
                    <a:moveTo>
                      <a:pt x="44" y="0"/>
                    </a:moveTo>
                    <a:cubicBezTo>
                      <a:pt x="1581" y="80"/>
                      <a:pt x="6698" y="160"/>
                      <a:pt x="9264" y="479"/>
                    </a:cubicBezTo>
                    <a:cubicBezTo>
                      <a:pt x="11830" y="798"/>
                      <a:pt x="13715" y="1276"/>
                      <a:pt x="15440" y="1914"/>
                    </a:cubicBezTo>
                    <a:cubicBezTo>
                      <a:pt x="17165" y="2552"/>
                      <a:pt x="18587" y="3364"/>
                      <a:pt x="19616" y="4306"/>
                    </a:cubicBezTo>
                    <a:cubicBezTo>
                      <a:pt x="20645" y="5248"/>
                      <a:pt x="21225" y="6734"/>
                      <a:pt x="21616" y="7568"/>
                    </a:cubicBezTo>
                    <a:cubicBezTo>
                      <a:pt x="22007" y="8402"/>
                      <a:pt x="21899" y="8815"/>
                      <a:pt x="21964" y="9308"/>
                    </a:cubicBezTo>
                    <a:cubicBezTo>
                      <a:pt x="22029" y="9801"/>
                      <a:pt x="22088" y="9881"/>
                      <a:pt x="22008" y="10526"/>
                    </a:cubicBezTo>
                    <a:cubicBezTo>
                      <a:pt x="21928" y="11171"/>
                      <a:pt x="21892" y="12331"/>
                      <a:pt x="21486" y="13179"/>
                    </a:cubicBezTo>
                    <a:cubicBezTo>
                      <a:pt x="21080" y="14027"/>
                      <a:pt x="20587" y="14802"/>
                      <a:pt x="19572" y="15614"/>
                    </a:cubicBezTo>
                    <a:cubicBezTo>
                      <a:pt x="18557" y="16426"/>
                      <a:pt x="17035" y="17398"/>
                      <a:pt x="15397" y="18050"/>
                    </a:cubicBezTo>
                    <a:cubicBezTo>
                      <a:pt x="13759" y="18703"/>
                      <a:pt x="11751" y="19196"/>
                      <a:pt x="9743" y="19529"/>
                    </a:cubicBezTo>
                    <a:cubicBezTo>
                      <a:pt x="7735" y="19863"/>
                      <a:pt x="4973" y="19986"/>
                      <a:pt x="3349" y="20051"/>
                    </a:cubicBezTo>
                    <a:cubicBezTo>
                      <a:pt x="1725" y="20116"/>
                      <a:pt x="558" y="19942"/>
                      <a:pt x="0" y="19920"/>
                    </a:cubicBezTo>
                  </a:path>
                </a:pathLst>
              </a:cu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</p:grpSp>
        <p:sp>
          <p:nvSpPr>
            <p:cNvPr id="808" name="Google Shape;808;p49"/>
            <p:cNvSpPr/>
            <p:nvPr/>
          </p:nvSpPr>
          <p:spPr>
            <a:xfrm>
              <a:off x="7796838" y="1079857"/>
              <a:ext cx="71100" cy="74400"/>
            </a:xfrm>
            <a:prstGeom prst="flowChartConnector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09" name="Google Shape;809;p49"/>
          <p:cNvGrpSpPr/>
          <p:nvPr/>
        </p:nvGrpSpPr>
        <p:grpSpPr>
          <a:xfrm>
            <a:off x="4066420" y="2754175"/>
            <a:ext cx="1562918" cy="502197"/>
            <a:chOff x="6752082" y="890450"/>
            <a:chExt cx="1562918" cy="502197"/>
          </a:xfrm>
        </p:grpSpPr>
        <p:grpSp>
          <p:nvGrpSpPr>
            <p:cNvPr id="810" name="Google Shape;810;p49"/>
            <p:cNvGrpSpPr/>
            <p:nvPr/>
          </p:nvGrpSpPr>
          <p:grpSpPr>
            <a:xfrm>
              <a:off x="6752082" y="890450"/>
              <a:ext cx="1562918" cy="502197"/>
              <a:chOff x="1422270" y="3822975"/>
              <a:chExt cx="1562918" cy="502197"/>
            </a:xfrm>
          </p:grpSpPr>
          <p:cxnSp>
            <p:nvCxnSpPr>
              <p:cNvPr id="811" name="Google Shape;811;p49"/>
              <p:cNvCxnSpPr/>
              <p:nvPr/>
            </p:nvCxnSpPr>
            <p:spPr>
              <a:xfrm>
                <a:off x="2551388" y="4053475"/>
                <a:ext cx="4338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12" name="Google Shape;812;p49"/>
              <p:cNvCxnSpPr/>
              <p:nvPr/>
            </p:nvCxnSpPr>
            <p:spPr>
              <a:xfrm>
                <a:off x="1427905" y="3934881"/>
                <a:ext cx="5499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13" name="Google Shape;813;p49"/>
              <p:cNvCxnSpPr/>
              <p:nvPr/>
            </p:nvCxnSpPr>
            <p:spPr>
              <a:xfrm>
                <a:off x="1422270" y="4197311"/>
                <a:ext cx="5499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814" name="Google Shape;814;p49"/>
              <p:cNvSpPr/>
              <p:nvPr/>
            </p:nvSpPr>
            <p:spPr>
              <a:xfrm>
                <a:off x="1907675" y="3823475"/>
                <a:ext cx="123703" cy="501697"/>
              </a:xfrm>
              <a:custGeom>
                <a:rect b="b" l="l" r="r" t="t"/>
                <a:pathLst>
                  <a:path extrusionOk="0" h="20094" w="5723">
                    <a:moveTo>
                      <a:pt x="0" y="0"/>
                    </a:moveTo>
                    <a:cubicBezTo>
                      <a:pt x="954" y="1600"/>
                      <a:pt x="5723" y="6251"/>
                      <a:pt x="5723" y="9600"/>
                    </a:cubicBezTo>
                    <a:cubicBezTo>
                      <a:pt x="5723" y="12949"/>
                      <a:pt x="954" y="18345"/>
                      <a:pt x="0" y="20094"/>
                    </a:cubicBezTo>
                  </a:path>
                </a:pathLst>
              </a:cu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815" name="Google Shape;815;p49"/>
              <p:cNvSpPr/>
              <p:nvPr/>
            </p:nvSpPr>
            <p:spPr>
              <a:xfrm>
                <a:off x="1888450" y="3822975"/>
                <a:ext cx="551325" cy="501700"/>
              </a:xfrm>
              <a:custGeom>
                <a:rect b="b" l="l" r="r" t="t"/>
                <a:pathLst>
                  <a:path extrusionOk="0" h="20068" w="22053">
                    <a:moveTo>
                      <a:pt x="44" y="0"/>
                    </a:moveTo>
                    <a:cubicBezTo>
                      <a:pt x="1581" y="80"/>
                      <a:pt x="6698" y="160"/>
                      <a:pt x="9264" y="479"/>
                    </a:cubicBezTo>
                    <a:cubicBezTo>
                      <a:pt x="11830" y="798"/>
                      <a:pt x="13715" y="1276"/>
                      <a:pt x="15440" y="1914"/>
                    </a:cubicBezTo>
                    <a:cubicBezTo>
                      <a:pt x="17165" y="2552"/>
                      <a:pt x="18587" y="3364"/>
                      <a:pt x="19616" y="4306"/>
                    </a:cubicBezTo>
                    <a:cubicBezTo>
                      <a:pt x="20645" y="5248"/>
                      <a:pt x="21225" y="6734"/>
                      <a:pt x="21616" y="7568"/>
                    </a:cubicBezTo>
                    <a:cubicBezTo>
                      <a:pt x="22007" y="8402"/>
                      <a:pt x="21899" y="8815"/>
                      <a:pt x="21964" y="9308"/>
                    </a:cubicBezTo>
                    <a:cubicBezTo>
                      <a:pt x="22029" y="9801"/>
                      <a:pt x="22088" y="9881"/>
                      <a:pt x="22008" y="10526"/>
                    </a:cubicBezTo>
                    <a:cubicBezTo>
                      <a:pt x="21928" y="11171"/>
                      <a:pt x="21892" y="12331"/>
                      <a:pt x="21486" y="13179"/>
                    </a:cubicBezTo>
                    <a:cubicBezTo>
                      <a:pt x="21080" y="14027"/>
                      <a:pt x="20587" y="14802"/>
                      <a:pt x="19572" y="15614"/>
                    </a:cubicBezTo>
                    <a:cubicBezTo>
                      <a:pt x="18557" y="16426"/>
                      <a:pt x="17035" y="17398"/>
                      <a:pt x="15397" y="18050"/>
                    </a:cubicBezTo>
                    <a:cubicBezTo>
                      <a:pt x="13759" y="18703"/>
                      <a:pt x="11751" y="19196"/>
                      <a:pt x="9743" y="19529"/>
                    </a:cubicBezTo>
                    <a:cubicBezTo>
                      <a:pt x="7735" y="19863"/>
                      <a:pt x="4973" y="19986"/>
                      <a:pt x="3349" y="20051"/>
                    </a:cubicBezTo>
                    <a:cubicBezTo>
                      <a:pt x="1725" y="20116"/>
                      <a:pt x="558" y="19942"/>
                      <a:pt x="0" y="19920"/>
                    </a:cubicBezTo>
                  </a:path>
                </a:pathLst>
              </a:cu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</p:grpSp>
        <p:sp>
          <p:nvSpPr>
            <p:cNvPr id="816" name="Google Shape;816;p49"/>
            <p:cNvSpPr/>
            <p:nvPr/>
          </p:nvSpPr>
          <p:spPr>
            <a:xfrm>
              <a:off x="7796838" y="1079857"/>
              <a:ext cx="71100" cy="74400"/>
            </a:xfrm>
            <a:prstGeom prst="flowChartConnector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817" name="Google Shape;817;p49"/>
          <p:cNvCxnSpPr/>
          <p:nvPr/>
        </p:nvCxnSpPr>
        <p:spPr>
          <a:xfrm>
            <a:off x="5629850" y="2837350"/>
            <a:ext cx="0" cy="285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18" name="Google Shape;818;p49"/>
          <p:cNvGrpSpPr/>
          <p:nvPr/>
        </p:nvGrpSpPr>
        <p:grpSpPr>
          <a:xfrm>
            <a:off x="5629357" y="2743138"/>
            <a:ext cx="1562918" cy="502197"/>
            <a:chOff x="6752082" y="890450"/>
            <a:chExt cx="1562918" cy="502197"/>
          </a:xfrm>
        </p:grpSpPr>
        <p:grpSp>
          <p:nvGrpSpPr>
            <p:cNvPr id="819" name="Google Shape;819;p49"/>
            <p:cNvGrpSpPr/>
            <p:nvPr/>
          </p:nvGrpSpPr>
          <p:grpSpPr>
            <a:xfrm>
              <a:off x="6752082" y="890450"/>
              <a:ext cx="1562918" cy="502197"/>
              <a:chOff x="1422270" y="3822975"/>
              <a:chExt cx="1562918" cy="502197"/>
            </a:xfrm>
          </p:grpSpPr>
          <p:cxnSp>
            <p:nvCxnSpPr>
              <p:cNvPr id="820" name="Google Shape;820;p49"/>
              <p:cNvCxnSpPr/>
              <p:nvPr/>
            </p:nvCxnSpPr>
            <p:spPr>
              <a:xfrm>
                <a:off x="2551388" y="4053475"/>
                <a:ext cx="4338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21" name="Google Shape;821;p49"/>
              <p:cNvCxnSpPr/>
              <p:nvPr/>
            </p:nvCxnSpPr>
            <p:spPr>
              <a:xfrm>
                <a:off x="1427905" y="3934881"/>
                <a:ext cx="5499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22" name="Google Shape;822;p49"/>
              <p:cNvCxnSpPr/>
              <p:nvPr/>
            </p:nvCxnSpPr>
            <p:spPr>
              <a:xfrm>
                <a:off x="1422270" y="4197311"/>
                <a:ext cx="5499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823" name="Google Shape;823;p49"/>
              <p:cNvSpPr/>
              <p:nvPr/>
            </p:nvSpPr>
            <p:spPr>
              <a:xfrm>
                <a:off x="1907675" y="3823475"/>
                <a:ext cx="123703" cy="501697"/>
              </a:xfrm>
              <a:custGeom>
                <a:rect b="b" l="l" r="r" t="t"/>
                <a:pathLst>
                  <a:path extrusionOk="0" h="20094" w="5723">
                    <a:moveTo>
                      <a:pt x="0" y="0"/>
                    </a:moveTo>
                    <a:cubicBezTo>
                      <a:pt x="954" y="1600"/>
                      <a:pt x="5723" y="6251"/>
                      <a:pt x="5723" y="9600"/>
                    </a:cubicBezTo>
                    <a:cubicBezTo>
                      <a:pt x="5723" y="12949"/>
                      <a:pt x="954" y="18345"/>
                      <a:pt x="0" y="20094"/>
                    </a:cubicBezTo>
                  </a:path>
                </a:pathLst>
              </a:cu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824" name="Google Shape;824;p49"/>
              <p:cNvSpPr/>
              <p:nvPr/>
            </p:nvSpPr>
            <p:spPr>
              <a:xfrm>
                <a:off x="1888450" y="3822975"/>
                <a:ext cx="551325" cy="501700"/>
              </a:xfrm>
              <a:custGeom>
                <a:rect b="b" l="l" r="r" t="t"/>
                <a:pathLst>
                  <a:path extrusionOk="0" h="20068" w="22053">
                    <a:moveTo>
                      <a:pt x="44" y="0"/>
                    </a:moveTo>
                    <a:cubicBezTo>
                      <a:pt x="1581" y="80"/>
                      <a:pt x="6698" y="160"/>
                      <a:pt x="9264" y="479"/>
                    </a:cubicBezTo>
                    <a:cubicBezTo>
                      <a:pt x="11830" y="798"/>
                      <a:pt x="13715" y="1276"/>
                      <a:pt x="15440" y="1914"/>
                    </a:cubicBezTo>
                    <a:cubicBezTo>
                      <a:pt x="17165" y="2552"/>
                      <a:pt x="18587" y="3364"/>
                      <a:pt x="19616" y="4306"/>
                    </a:cubicBezTo>
                    <a:cubicBezTo>
                      <a:pt x="20645" y="5248"/>
                      <a:pt x="21225" y="6734"/>
                      <a:pt x="21616" y="7568"/>
                    </a:cubicBezTo>
                    <a:cubicBezTo>
                      <a:pt x="22007" y="8402"/>
                      <a:pt x="21899" y="8815"/>
                      <a:pt x="21964" y="9308"/>
                    </a:cubicBezTo>
                    <a:cubicBezTo>
                      <a:pt x="22029" y="9801"/>
                      <a:pt x="22088" y="9881"/>
                      <a:pt x="22008" y="10526"/>
                    </a:cubicBezTo>
                    <a:cubicBezTo>
                      <a:pt x="21928" y="11171"/>
                      <a:pt x="21892" y="12331"/>
                      <a:pt x="21486" y="13179"/>
                    </a:cubicBezTo>
                    <a:cubicBezTo>
                      <a:pt x="21080" y="14027"/>
                      <a:pt x="20587" y="14802"/>
                      <a:pt x="19572" y="15614"/>
                    </a:cubicBezTo>
                    <a:cubicBezTo>
                      <a:pt x="18557" y="16426"/>
                      <a:pt x="17035" y="17398"/>
                      <a:pt x="15397" y="18050"/>
                    </a:cubicBezTo>
                    <a:cubicBezTo>
                      <a:pt x="13759" y="18703"/>
                      <a:pt x="11751" y="19196"/>
                      <a:pt x="9743" y="19529"/>
                    </a:cubicBezTo>
                    <a:cubicBezTo>
                      <a:pt x="7735" y="19863"/>
                      <a:pt x="4973" y="19986"/>
                      <a:pt x="3349" y="20051"/>
                    </a:cubicBezTo>
                    <a:cubicBezTo>
                      <a:pt x="1725" y="20116"/>
                      <a:pt x="558" y="19942"/>
                      <a:pt x="0" y="19920"/>
                    </a:cubicBezTo>
                  </a:path>
                </a:pathLst>
              </a:cu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</p:grpSp>
        <p:sp>
          <p:nvSpPr>
            <p:cNvPr id="825" name="Google Shape;825;p49"/>
            <p:cNvSpPr/>
            <p:nvPr/>
          </p:nvSpPr>
          <p:spPr>
            <a:xfrm>
              <a:off x="7796838" y="1079857"/>
              <a:ext cx="71100" cy="74400"/>
            </a:xfrm>
            <a:prstGeom prst="flowChartConnector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26" name="Google Shape;826;p49"/>
          <p:cNvSpPr txBox="1"/>
          <p:nvPr/>
        </p:nvSpPr>
        <p:spPr>
          <a:xfrm>
            <a:off x="7093754" y="1846800"/>
            <a:ext cx="1378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(A+A)’  =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7" name="Google Shape;827;p49"/>
          <p:cNvSpPr txBox="1"/>
          <p:nvPr/>
        </p:nvSpPr>
        <p:spPr>
          <a:xfrm>
            <a:off x="7944159" y="1843813"/>
            <a:ext cx="494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A’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8" name="Google Shape;828;p49"/>
          <p:cNvSpPr txBox="1"/>
          <p:nvPr/>
        </p:nvSpPr>
        <p:spPr>
          <a:xfrm>
            <a:off x="7110483" y="2781450"/>
            <a:ext cx="1858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((A+B)’)’ = 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9" name="Google Shape;829;p49"/>
          <p:cNvSpPr txBox="1"/>
          <p:nvPr/>
        </p:nvSpPr>
        <p:spPr>
          <a:xfrm>
            <a:off x="8083278" y="2779925"/>
            <a:ext cx="671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A+B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30" name="Google Shape;830;p49"/>
          <p:cNvCxnSpPr/>
          <p:nvPr/>
        </p:nvCxnSpPr>
        <p:spPr>
          <a:xfrm>
            <a:off x="4073900" y="3786200"/>
            <a:ext cx="1929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31" name="Google Shape;831;p49"/>
          <p:cNvCxnSpPr/>
          <p:nvPr/>
        </p:nvCxnSpPr>
        <p:spPr>
          <a:xfrm rot="10800000">
            <a:off x="4270831" y="3623896"/>
            <a:ext cx="0" cy="2922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832" name="Google Shape;832;p49"/>
          <p:cNvGrpSpPr/>
          <p:nvPr/>
        </p:nvGrpSpPr>
        <p:grpSpPr>
          <a:xfrm>
            <a:off x="4266990" y="3527164"/>
            <a:ext cx="1341471" cy="502197"/>
            <a:chOff x="1422270" y="3822975"/>
            <a:chExt cx="1443218" cy="502197"/>
          </a:xfrm>
        </p:grpSpPr>
        <p:cxnSp>
          <p:nvCxnSpPr>
            <p:cNvPr id="833" name="Google Shape;833;p49"/>
            <p:cNvCxnSpPr/>
            <p:nvPr/>
          </p:nvCxnSpPr>
          <p:spPr>
            <a:xfrm>
              <a:off x="2551388" y="4053475"/>
              <a:ext cx="3141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34" name="Google Shape;834;p49"/>
            <p:cNvCxnSpPr/>
            <p:nvPr/>
          </p:nvCxnSpPr>
          <p:spPr>
            <a:xfrm>
              <a:off x="1427905" y="3934881"/>
              <a:ext cx="5499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35" name="Google Shape;835;p49"/>
            <p:cNvCxnSpPr/>
            <p:nvPr/>
          </p:nvCxnSpPr>
          <p:spPr>
            <a:xfrm>
              <a:off x="1422270" y="4197311"/>
              <a:ext cx="5499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836" name="Google Shape;836;p49"/>
            <p:cNvSpPr/>
            <p:nvPr/>
          </p:nvSpPr>
          <p:spPr>
            <a:xfrm>
              <a:off x="1907675" y="3823475"/>
              <a:ext cx="123703" cy="501697"/>
            </a:xfrm>
            <a:custGeom>
              <a:rect b="b" l="l" r="r" t="t"/>
              <a:pathLst>
                <a:path extrusionOk="0" h="20094" w="5723">
                  <a:moveTo>
                    <a:pt x="0" y="0"/>
                  </a:moveTo>
                  <a:cubicBezTo>
                    <a:pt x="954" y="1600"/>
                    <a:pt x="5723" y="6251"/>
                    <a:pt x="5723" y="9600"/>
                  </a:cubicBezTo>
                  <a:cubicBezTo>
                    <a:pt x="5723" y="12949"/>
                    <a:pt x="954" y="18345"/>
                    <a:pt x="0" y="20094"/>
                  </a:cubicBezTo>
                </a:path>
              </a:pathLst>
            </a:cu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837" name="Google Shape;837;p49"/>
            <p:cNvSpPr/>
            <p:nvPr/>
          </p:nvSpPr>
          <p:spPr>
            <a:xfrm>
              <a:off x="1888450" y="3822975"/>
              <a:ext cx="551325" cy="501700"/>
            </a:xfrm>
            <a:custGeom>
              <a:rect b="b" l="l" r="r" t="t"/>
              <a:pathLst>
                <a:path extrusionOk="0" h="20068" w="22053">
                  <a:moveTo>
                    <a:pt x="44" y="0"/>
                  </a:moveTo>
                  <a:cubicBezTo>
                    <a:pt x="1581" y="80"/>
                    <a:pt x="6698" y="160"/>
                    <a:pt x="9264" y="479"/>
                  </a:cubicBezTo>
                  <a:cubicBezTo>
                    <a:pt x="11830" y="798"/>
                    <a:pt x="13715" y="1276"/>
                    <a:pt x="15440" y="1914"/>
                  </a:cubicBezTo>
                  <a:cubicBezTo>
                    <a:pt x="17165" y="2552"/>
                    <a:pt x="18587" y="3364"/>
                    <a:pt x="19616" y="4306"/>
                  </a:cubicBezTo>
                  <a:cubicBezTo>
                    <a:pt x="20645" y="5248"/>
                    <a:pt x="21225" y="6734"/>
                    <a:pt x="21616" y="7568"/>
                  </a:cubicBezTo>
                  <a:cubicBezTo>
                    <a:pt x="22007" y="8402"/>
                    <a:pt x="21899" y="8815"/>
                    <a:pt x="21964" y="9308"/>
                  </a:cubicBezTo>
                  <a:cubicBezTo>
                    <a:pt x="22029" y="9801"/>
                    <a:pt x="22088" y="9881"/>
                    <a:pt x="22008" y="10526"/>
                  </a:cubicBezTo>
                  <a:cubicBezTo>
                    <a:pt x="21928" y="11171"/>
                    <a:pt x="21892" y="12331"/>
                    <a:pt x="21486" y="13179"/>
                  </a:cubicBezTo>
                  <a:cubicBezTo>
                    <a:pt x="21080" y="14027"/>
                    <a:pt x="20587" y="14802"/>
                    <a:pt x="19572" y="15614"/>
                  </a:cubicBezTo>
                  <a:cubicBezTo>
                    <a:pt x="18557" y="16426"/>
                    <a:pt x="17035" y="17398"/>
                    <a:pt x="15397" y="18050"/>
                  </a:cubicBezTo>
                  <a:cubicBezTo>
                    <a:pt x="13759" y="18703"/>
                    <a:pt x="11751" y="19196"/>
                    <a:pt x="9743" y="19529"/>
                  </a:cubicBezTo>
                  <a:cubicBezTo>
                    <a:pt x="7735" y="19863"/>
                    <a:pt x="4973" y="19986"/>
                    <a:pt x="3349" y="20051"/>
                  </a:cubicBezTo>
                  <a:cubicBezTo>
                    <a:pt x="1725" y="20116"/>
                    <a:pt x="558" y="19942"/>
                    <a:pt x="0" y="19920"/>
                  </a:cubicBezTo>
                </a:path>
              </a:pathLst>
            </a:cu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sp>
        <p:nvSpPr>
          <p:cNvPr id="838" name="Google Shape;838;p49"/>
          <p:cNvSpPr/>
          <p:nvPr/>
        </p:nvSpPr>
        <p:spPr>
          <a:xfrm>
            <a:off x="5238090" y="3716571"/>
            <a:ext cx="66087" cy="74400"/>
          </a:xfrm>
          <a:prstGeom prst="flowChartConnector">
            <a:avLst/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39" name="Google Shape;839;p49"/>
          <p:cNvCxnSpPr/>
          <p:nvPr/>
        </p:nvCxnSpPr>
        <p:spPr>
          <a:xfrm>
            <a:off x="4082192" y="4358033"/>
            <a:ext cx="1929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840" name="Google Shape;840;p49"/>
          <p:cNvGrpSpPr/>
          <p:nvPr/>
        </p:nvGrpSpPr>
        <p:grpSpPr>
          <a:xfrm>
            <a:off x="4275282" y="4098997"/>
            <a:ext cx="1341471" cy="502197"/>
            <a:chOff x="1422270" y="3822975"/>
            <a:chExt cx="1443218" cy="502197"/>
          </a:xfrm>
        </p:grpSpPr>
        <p:cxnSp>
          <p:nvCxnSpPr>
            <p:cNvPr id="841" name="Google Shape;841;p49"/>
            <p:cNvCxnSpPr/>
            <p:nvPr/>
          </p:nvCxnSpPr>
          <p:spPr>
            <a:xfrm>
              <a:off x="2551388" y="4053475"/>
              <a:ext cx="3141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42" name="Google Shape;842;p49"/>
            <p:cNvCxnSpPr/>
            <p:nvPr/>
          </p:nvCxnSpPr>
          <p:spPr>
            <a:xfrm>
              <a:off x="1427905" y="3934881"/>
              <a:ext cx="5499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43" name="Google Shape;843;p49"/>
            <p:cNvCxnSpPr/>
            <p:nvPr/>
          </p:nvCxnSpPr>
          <p:spPr>
            <a:xfrm>
              <a:off x="1422270" y="4197311"/>
              <a:ext cx="5499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844" name="Google Shape;844;p49"/>
            <p:cNvSpPr/>
            <p:nvPr/>
          </p:nvSpPr>
          <p:spPr>
            <a:xfrm>
              <a:off x="1907675" y="3823475"/>
              <a:ext cx="123703" cy="501697"/>
            </a:xfrm>
            <a:custGeom>
              <a:rect b="b" l="l" r="r" t="t"/>
              <a:pathLst>
                <a:path extrusionOk="0" h="20094" w="5723">
                  <a:moveTo>
                    <a:pt x="0" y="0"/>
                  </a:moveTo>
                  <a:cubicBezTo>
                    <a:pt x="954" y="1600"/>
                    <a:pt x="5723" y="6251"/>
                    <a:pt x="5723" y="9600"/>
                  </a:cubicBezTo>
                  <a:cubicBezTo>
                    <a:pt x="5723" y="12949"/>
                    <a:pt x="954" y="18345"/>
                    <a:pt x="0" y="20094"/>
                  </a:cubicBezTo>
                </a:path>
              </a:pathLst>
            </a:cu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845" name="Google Shape;845;p49"/>
            <p:cNvSpPr/>
            <p:nvPr/>
          </p:nvSpPr>
          <p:spPr>
            <a:xfrm>
              <a:off x="1888450" y="3822975"/>
              <a:ext cx="551325" cy="501700"/>
            </a:xfrm>
            <a:custGeom>
              <a:rect b="b" l="l" r="r" t="t"/>
              <a:pathLst>
                <a:path extrusionOk="0" h="20068" w="22053">
                  <a:moveTo>
                    <a:pt x="44" y="0"/>
                  </a:moveTo>
                  <a:cubicBezTo>
                    <a:pt x="1581" y="80"/>
                    <a:pt x="6698" y="160"/>
                    <a:pt x="9264" y="479"/>
                  </a:cubicBezTo>
                  <a:cubicBezTo>
                    <a:pt x="11830" y="798"/>
                    <a:pt x="13715" y="1276"/>
                    <a:pt x="15440" y="1914"/>
                  </a:cubicBezTo>
                  <a:cubicBezTo>
                    <a:pt x="17165" y="2552"/>
                    <a:pt x="18587" y="3364"/>
                    <a:pt x="19616" y="4306"/>
                  </a:cubicBezTo>
                  <a:cubicBezTo>
                    <a:pt x="20645" y="5248"/>
                    <a:pt x="21225" y="6734"/>
                    <a:pt x="21616" y="7568"/>
                  </a:cubicBezTo>
                  <a:cubicBezTo>
                    <a:pt x="22007" y="8402"/>
                    <a:pt x="21899" y="8815"/>
                    <a:pt x="21964" y="9308"/>
                  </a:cubicBezTo>
                  <a:cubicBezTo>
                    <a:pt x="22029" y="9801"/>
                    <a:pt x="22088" y="9881"/>
                    <a:pt x="22008" y="10526"/>
                  </a:cubicBezTo>
                  <a:cubicBezTo>
                    <a:pt x="21928" y="11171"/>
                    <a:pt x="21892" y="12331"/>
                    <a:pt x="21486" y="13179"/>
                  </a:cubicBezTo>
                  <a:cubicBezTo>
                    <a:pt x="21080" y="14027"/>
                    <a:pt x="20587" y="14802"/>
                    <a:pt x="19572" y="15614"/>
                  </a:cubicBezTo>
                  <a:cubicBezTo>
                    <a:pt x="18557" y="16426"/>
                    <a:pt x="17035" y="17398"/>
                    <a:pt x="15397" y="18050"/>
                  </a:cubicBezTo>
                  <a:cubicBezTo>
                    <a:pt x="13759" y="18703"/>
                    <a:pt x="11751" y="19196"/>
                    <a:pt x="9743" y="19529"/>
                  </a:cubicBezTo>
                  <a:cubicBezTo>
                    <a:pt x="7735" y="19863"/>
                    <a:pt x="4973" y="19986"/>
                    <a:pt x="3349" y="20051"/>
                  </a:cubicBezTo>
                  <a:cubicBezTo>
                    <a:pt x="1725" y="20116"/>
                    <a:pt x="558" y="19942"/>
                    <a:pt x="0" y="19920"/>
                  </a:cubicBezTo>
                </a:path>
              </a:pathLst>
            </a:cu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sp>
        <p:nvSpPr>
          <p:cNvPr id="846" name="Google Shape;846;p49"/>
          <p:cNvSpPr/>
          <p:nvPr/>
        </p:nvSpPr>
        <p:spPr>
          <a:xfrm>
            <a:off x="5246382" y="4288404"/>
            <a:ext cx="66000" cy="74400"/>
          </a:xfrm>
          <a:prstGeom prst="flowChartConnector">
            <a:avLst/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7" name="Google Shape;847;p49"/>
          <p:cNvCxnSpPr/>
          <p:nvPr/>
        </p:nvCxnSpPr>
        <p:spPr>
          <a:xfrm rot="10800000">
            <a:off x="4270831" y="4196357"/>
            <a:ext cx="0" cy="2922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848" name="Google Shape;848;p49"/>
          <p:cNvGrpSpPr/>
          <p:nvPr/>
        </p:nvGrpSpPr>
        <p:grpSpPr>
          <a:xfrm>
            <a:off x="5587965" y="3812844"/>
            <a:ext cx="1562918" cy="502197"/>
            <a:chOff x="6752082" y="890450"/>
            <a:chExt cx="1562918" cy="502197"/>
          </a:xfrm>
        </p:grpSpPr>
        <p:grpSp>
          <p:nvGrpSpPr>
            <p:cNvPr id="849" name="Google Shape;849;p49"/>
            <p:cNvGrpSpPr/>
            <p:nvPr/>
          </p:nvGrpSpPr>
          <p:grpSpPr>
            <a:xfrm>
              <a:off x="6752082" y="890450"/>
              <a:ext cx="1562918" cy="502197"/>
              <a:chOff x="1422270" y="3822975"/>
              <a:chExt cx="1562918" cy="502197"/>
            </a:xfrm>
          </p:grpSpPr>
          <p:cxnSp>
            <p:nvCxnSpPr>
              <p:cNvPr id="850" name="Google Shape;850;p49"/>
              <p:cNvCxnSpPr/>
              <p:nvPr/>
            </p:nvCxnSpPr>
            <p:spPr>
              <a:xfrm>
                <a:off x="2551388" y="4053475"/>
                <a:ext cx="4338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51" name="Google Shape;851;p49"/>
              <p:cNvCxnSpPr/>
              <p:nvPr/>
            </p:nvCxnSpPr>
            <p:spPr>
              <a:xfrm>
                <a:off x="1427905" y="3934881"/>
                <a:ext cx="5499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52" name="Google Shape;852;p49"/>
              <p:cNvCxnSpPr/>
              <p:nvPr/>
            </p:nvCxnSpPr>
            <p:spPr>
              <a:xfrm>
                <a:off x="1422270" y="4197311"/>
                <a:ext cx="5499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853" name="Google Shape;853;p49"/>
              <p:cNvSpPr/>
              <p:nvPr/>
            </p:nvSpPr>
            <p:spPr>
              <a:xfrm>
                <a:off x="1907675" y="3823475"/>
                <a:ext cx="123703" cy="501697"/>
              </a:xfrm>
              <a:custGeom>
                <a:rect b="b" l="l" r="r" t="t"/>
                <a:pathLst>
                  <a:path extrusionOk="0" h="20094" w="5723">
                    <a:moveTo>
                      <a:pt x="0" y="0"/>
                    </a:moveTo>
                    <a:cubicBezTo>
                      <a:pt x="954" y="1600"/>
                      <a:pt x="5723" y="6251"/>
                      <a:pt x="5723" y="9600"/>
                    </a:cubicBezTo>
                    <a:cubicBezTo>
                      <a:pt x="5723" y="12949"/>
                      <a:pt x="954" y="18345"/>
                      <a:pt x="0" y="20094"/>
                    </a:cubicBezTo>
                  </a:path>
                </a:pathLst>
              </a:cu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854" name="Google Shape;854;p49"/>
              <p:cNvSpPr/>
              <p:nvPr/>
            </p:nvSpPr>
            <p:spPr>
              <a:xfrm>
                <a:off x="1888450" y="3822975"/>
                <a:ext cx="551325" cy="501700"/>
              </a:xfrm>
              <a:custGeom>
                <a:rect b="b" l="l" r="r" t="t"/>
                <a:pathLst>
                  <a:path extrusionOk="0" h="20068" w="22053">
                    <a:moveTo>
                      <a:pt x="44" y="0"/>
                    </a:moveTo>
                    <a:cubicBezTo>
                      <a:pt x="1581" y="80"/>
                      <a:pt x="6698" y="160"/>
                      <a:pt x="9264" y="479"/>
                    </a:cubicBezTo>
                    <a:cubicBezTo>
                      <a:pt x="11830" y="798"/>
                      <a:pt x="13715" y="1276"/>
                      <a:pt x="15440" y="1914"/>
                    </a:cubicBezTo>
                    <a:cubicBezTo>
                      <a:pt x="17165" y="2552"/>
                      <a:pt x="18587" y="3364"/>
                      <a:pt x="19616" y="4306"/>
                    </a:cubicBezTo>
                    <a:cubicBezTo>
                      <a:pt x="20645" y="5248"/>
                      <a:pt x="21225" y="6734"/>
                      <a:pt x="21616" y="7568"/>
                    </a:cubicBezTo>
                    <a:cubicBezTo>
                      <a:pt x="22007" y="8402"/>
                      <a:pt x="21899" y="8815"/>
                      <a:pt x="21964" y="9308"/>
                    </a:cubicBezTo>
                    <a:cubicBezTo>
                      <a:pt x="22029" y="9801"/>
                      <a:pt x="22088" y="9881"/>
                      <a:pt x="22008" y="10526"/>
                    </a:cubicBezTo>
                    <a:cubicBezTo>
                      <a:pt x="21928" y="11171"/>
                      <a:pt x="21892" y="12331"/>
                      <a:pt x="21486" y="13179"/>
                    </a:cubicBezTo>
                    <a:cubicBezTo>
                      <a:pt x="21080" y="14027"/>
                      <a:pt x="20587" y="14802"/>
                      <a:pt x="19572" y="15614"/>
                    </a:cubicBezTo>
                    <a:cubicBezTo>
                      <a:pt x="18557" y="16426"/>
                      <a:pt x="17035" y="17398"/>
                      <a:pt x="15397" y="18050"/>
                    </a:cubicBezTo>
                    <a:cubicBezTo>
                      <a:pt x="13759" y="18703"/>
                      <a:pt x="11751" y="19196"/>
                      <a:pt x="9743" y="19529"/>
                    </a:cubicBezTo>
                    <a:cubicBezTo>
                      <a:pt x="7735" y="19863"/>
                      <a:pt x="4973" y="19986"/>
                      <a:pt x="3349" y="20051"/>
                    </a:cubicBezTo>
                    <a:cubicBezTo>
                      <a:pt x="1725" y="20116"/>
                      <a:pt x="558" y="19942"/>
                      <a:pt x="0" y="19920"/>
                    </a:cubicBezTo>
                  </a:path>
                </a:pathLst>
              </a:cu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</p:grpSp>
        <p:sp>
          <p:nvSpPr>
            <p:cNvPr id="855" name="Google Shape;855;p49"/>
            <p:cNvSpPr/>
            <p:nvPr/>
          </p:nvSpPr>
          <p:spPr>
            <a:xfrm>
              <a:off x="7796838" y="1079857"/>
              <a:ext cx="71100" cy="74400"/>
            </a:xfrm>
            <a:prstGeom prst="flowChartConnector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56" name="Google Shape;856;p49"/>
          <p:cNvGrpSpPr/>
          <p:nvPr/>
        </p:nvGrpSpPr>
        <p:grpSpPr>
          <a:xfrm>
            <a:off x="1434446" y="3776776"/>
            <a:ext cx="1562836" cy="462576"/>
            <a:chOff x="1752600" y="519953"/>
            <a:chExt cx="1573853" cy="528900"/>
          </a:xfrm>
        </p:grpSpPr>
        <p:sp>
          <p:nvSpPr>
            <p:cNvPr id="857" name="Google Shape;857;p49"/>
            <p:cNvSpPr/>
            <p:nvPr/>
          </p:nvSpPr>
          <p:spPr>
            <a:xfrm>
              <a:off x="2277035" y="519953"/>
              <a:ext cx="528900" cy="528900"/>
            </a:xfrm>
            <a:prstGeom prst="flowChartDelay">
              <a:avLst/>
            </a:prstGeom>
            <a:solidFill>
              <a:srgbClr val="FFFFFF"/>
            </a:solidFill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58" name="Google Shape;858;p49"/>
            <p:cNvCxnSpPr/>
            <p:nvPr/>
          </p:nvCxnSpPr>
          <p:spPr>
            <a:xfrm>
              <a:off x="1756410" y="674370"/>
              <a:ext cx="5205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59" name="Google Shape;859;p49"/>
            <p:cNvCxnSpPr/>
            <p:nvPr/>
          </p:nvCxnSpPr>
          <p:spPr>
            <a:xfrm>
              <a:off x="1752600" y="880110"/>
              <a:ext cx="5205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60" name="Google Shape;860;p49"/>
            <p:cNvCxnSpPr/>
            <p:nvPr/>
          </p:nvCxnSpPr>
          <p:spPr>
            <a:xfrm>
              <a:off x="2805953" y="784860"/>
              <a:ext cx="5205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861" name="Google Shape;861;p49"/>
          <p:cNvSpPr txBox="1"/>
          <p:nvPr/>
        </p:nvSpPr>
        <p:spPr>
          <a:xfrm>
            <a:off x="1099527" y="3711564"/>
            <a:ext cx="29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2" name="Google Shape;862;p49"/>
          <p:cNvSpPr txBox="1"/>
          <p:nvPr/>
        </p:nvSpPr>
        <p:spPr>
          <a:xfrm>
            <a:off x="1109359" y="3931612"/>
            <a:ext cx="29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3" name="Google Shape;863;p49"/>
          <p:cNvSpPr txBox="1"/>
          <p:nvPr/>
        </p:nvSpPr>
        <p:spPr>
          <a:xfrm>
            <a:off x="3007906" y="3847988"/>
            <a:ext cx="57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50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69" name="Google Shape;869;p50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870" name="Google Shape;870;p50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50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50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873" name="Google Shape;873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874" name="Google Shape;874;p5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875" name="Google Shape;875;p50"/>
          <p:cNvSpPr txBox="1"/>
          <p:nvPr/>
        </p:nvSpPr>
        <p:spPr>
          <a:xfrm>
            <a:off x="328350" y="766912"/>
            <a:ext cx="8630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Use AND, OR, NOT to represent F=A(B+CD)+BC’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6" name="Google Shape;876;p50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Exercise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7" name="Google Shape;877;p50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8" name="Google Shape;878;p50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79" name="Google Shape;879;p50"/>
          <p:cNvGrpSpPr/>
          <p:nvPr/>
        </p:nvGrpSpPr>
        <p:grpSpPr>
          <a:xfrm>
            <a:off x="3433657" y="3908432"/>
            <a:ext cx="1357763" cy="517952"/>
            <a:chOff x="1752600" y="519953"/>
            <a:chExt cx="1573853" cy="528900"/>
          </a:xfrm>
        </p:grpSpPr>
        <p:sp>
          <p:nvSpPr>
            <p:cNvPr id="880" name="Google Shape;880;p50"/>
            <p:cNvSpPr/>
            <p:nvPr/>
          </p:nvSpPr>
          <p:spPr>
            <a:xfrm>
              <a:off x="2277035" y="519953"/>
              <a:ext cx="528900" cy="528900"/>
            </a:xfrm>
            <a:prstGeom prst="flowChartDelay">
              <a:avLst/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81" name="Google Shape;881;p50"/>
            <p:cNvCxnSpPr/>
            <p:nvPr/>
          </p:nvCxnSpPr>
          <p:spPr>
            <a:xfrm>
              <a:off x="1756410" y="674370"/>
              <a:ext cx="5205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82" name="Google Shape;882;p50"/>
            <p:cNvCxnSpPr/>
            <p:nvPr/>
          </p:nvCxnSpPr>
          <p:spPr>
            <a:xfrm>
              <a:off x="1752600" y="880110"/>
              <a:ext cx="5205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83" name="Google Shape;883;p50"/>
            <p:cNvCxnSpPr/>
            <p:nvPr/>
          </p:nvCxnSpPr>
          <p:spPr>
            <a:xfrm>
              <a:off x="2805953" y="784860"/>
              <a:ext cx="5205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884" name="Google Shape;884;p50"/>
          <p:cNvCxnSpPr/>
          <p:nvPr/>
        </p:nvCxnSpPr>
        <p:spPr>
          <a:xfrm>
            <a:off x="1359003" y="4261102"/>
            <a:ext cx="2074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85" name="Google Shape;885;p50"/>
          <p:cNvCxnSpPr/>
          <p:nvPr/>
        </p:nvCxnSpPr>
        <p:spPr>
          <a:xfrm flipH="1" rot="10800000">
            <a:off x="4770898" y="4160005"/>
            <a:ext cx="1869600" cy="8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86" name="Google Shape;886;p50"/>
          <p:cNvCxnSpPr/>
          <p:nvPr/>
        </p:nvCxnSpPr>
        <p:spPr>
          <a:xfrm>
            <a:off x="884957" y="1936572"/>
            <a:ext cx="7800" cy="2730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87" name="Google Shape;887;p50"/>
          <p:cNvCxnSpPr/>
          <p:nvPr/>
        </p:nvCxnSpPr>
        <p:spPr>
          <a:xfrm>
            <a:off x="1342020" y="1936572"/>
            <a:ext cx="24000" cy="2724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88" name="Google Shape;888;p50"/>
          <p:cNvCxnSpPr/>
          <p:nvPr/>
        </p:nvCxnSpPr>
        <p:spPr>
          <a:xfrm>
            <a:off x="1799081" y="1936572"/>
            <a:ext cx="12300" cy="2730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89" name="Google Shape;889;p50"/>
          <p:cNvCxnSpPr/>
          <p:nvPr/>
        </p:nvCxnSpPr>
        <p:spPr>
          <a:xfrm>
            <a:off x="2256143" y="1936572"/>
            <a:ext cx="0" cy="2730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90" name="Google Shape;890;p50"/>
          <p:cNvSpPr txBox="1"/>
          <p:nvPr/>
        </p:nvSpPr>
        <p:spPr>
          <a:xfrm>
            <a:off x="707211" y="1574900"/>
            <a:ext cx="20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1" name="Google Shape;891;p50"/>
          <p:cNvSpPr txBox="1"/>
          <p:nvPr/>
        </p:nvSpPr>
        <p:spPr>
          <a:xfrm>
            <a:off x="1175455" y="1574900"/>
            <a:ext cx="20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2" name="Google Shape;892;p50"/>
          <p:cNvSpPr txBox="1"/>
          <p:nvPr/>
        </p:nvSpPr>
        <p:spPr>
          <a:xfrm>
            <a:off x="1635357" y="1574900"/>
            <a:ext cx="20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3" name="Google Shape;893;p50"/>
          <p:cNvSpPr txBox="1"/>
          <p:nvPr/>
        </p:nvSpPr>
        <p:spPr>
          <a:xfrm>
            <a:off x="2095949" y="1574900"/>
            <a:ext cx="301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94" name="Google Shape;894;p50"/>
          <p:cNvGrpSpPr/>
          <p:nvPr/>
        </p:nvGrpSpPr>
        <p:grpSpPr>
          <a:xfrm>
            <a:off x="2662063" y="1993653"/>
            <a:ext cx="1357763" cy="517952"/>
            <a:chOff x="1752600" y="519953"/>
            <a:chExt cx="1573853" cy="528900"/>
          </a:xfrm>
        </p:grpSpPr>
        <p:sp>
          <p:nvSpPr>
            <p:cNvPr id="895" name="Google Shape;895;p50"/>
            <p:cNvSpPr/>
            <p:nvPr/>
          </p:nvSpPr>
          <p:spPr>
            <a:xfrm>
              <a:off x="2277035" y="519953"/>
              <a:ext cx="528900" cy="528900"/>
            </a:xfrm>
            <a:prstGeom prst="flowChartDelay">
              <a:avLst/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96" name="Google Shape;896;p50"/>
            <p:cNvCxnSpPr/>
            <p:nvPr/>
          </p:nvCxnSpPr>
          <p:spPr>
            <a:xfrm>
              <a:off x="1756410" y="674370"/>
              <a:ext cx="5205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97" name="Google Shape;897;p50"/>
            <p:cNvCxnSpPr/>
            <p:nvPr/>
          </p:nvCxnSpPr>
          <p:spPr>
            <a:xfrm>
              <a:off x="1752600" y="880110"/>
              <a:ext cx="5205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98" name="Google Shape;898;p50"/>
            <p:cNvCxnSpPr/>
            <p:nvPr/>
          </p:nvCxnSpPr>
          <p:spPr>
            <a:xfrm>
              <a:off x="2805953" y="784860"/>
              <a:ext cx="5205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899" name="Google Shape;899;p50"/>
          <p:cNvCxnSpPr/>
          <p:nvPr/>
        </p:nvCxnSpPr>
        <p:spPr>
          <a:xfrm>
            <a:off x="1802588" y="2143679"/>
            <a:ext cx="874800" cy="1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00" name="Google Shape;900;p50"/>
          <p:cNvCxnSpPr/>
          <p:nvPr/>
        </p:nvCxnSpPr>
        <p:spPr>
          <a:xfrm>
            <a:off x="2254739" y="2346322"/>
            <a:ext cx="5661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01" name="Google Shape;901;p50"/>
          <p:cNvSpPr txBox="1"/>
          <p:nvPr/>
        </p:nvSpPr>
        <p:spPr>
          <a:xfrm>
            <a:off x="3310281" y="1707975"/>
            <a:ext cx="74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CD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02" name="Google Shape;902;p50"/>
          <p:cNvGrpSpPr/>
          <p:nvPr/>
        </p:nvGrpSpPr>
        <p:grpSpPr>
          <a:xfrm>
            <a:off x="4005781" y="2076717"/>
            <a:ext cx="1276113" cy="755554"/>
            <a:chOff x="1841149" y="2819119"/>
            <a:chExt cx="1479208" cy="771525"/>
          </a:xfrm>
        </p:grpSpPr>
        <p:pic>
          <p:nvPicPr>
            <p:cNvPr id="903" name="Google Shape;903;p5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277035" y="2819119"/>
              <a:ext cx="528918" cy="77152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904" name="Google Shape;904;p50"/>
            <p:cNvCxnSpPr/>
            <p:nvPr/>
          </p:nvCxnSpPr>
          <p:spPr>
            <a:xfrm>
              <a:off x="2799857" y="3177540"/>
              <a:ext cx="5205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05" name="Google Shape;905;p50"/>
            <p:cNvCxnSpPr/>
            <p:nvPr/>
          </p:nvCxnSpPr>
          <p:spPr>
            <a:xfrm>
              <a:off x="1846483" y="2998470"/>
              <a:ext cx="5205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06" name="Google Shape;906;p50"/>
            <p:cNvCxnSpPr/>
            <p:nvPr/>
          </p:nvCxnSpPr>
          <p:spPr>
            <a:xfrm>
              <a:off x="1841149" y="3394710"/>
              <a:ext cx="5205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907" name="Google Shape;907;p50"/>
          <p:cNvCxnSpPr/>
          <p:nvPr/>
        </p:nvCxnSpPr>
        <p:spPr>
          <a:xfrm flipH="1" rot="10800000">
            <a:off x="1345306" y="2640146"/>
            <a:ext cx="2674800" cy="5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08" name="Google Shape;908;p50"/>
          <p:cNvSpPr txBox="1"/>
          <p:nvPr/>
        </p:nvSpPr>
        <p:spPr>
          <a:xfrm>
            <a:off x="4275730" y="1711700"/>
            <a:ext cx="1243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B+CD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09" name="Google Shape;909;p50"/>
          <p:cNvGrpSpPr/>
          <p:nvPr/>
        </p:nvGrpSpPr>
        <p:grpSpPr>
          <a:xfrm>
            <a:off x="5282092" y="2679576"/>
            <a:ext cx="1357763" cy="517952"/>
            <a:chOff x="1752600" y="519953"/>
            <a:chExt cx="1573853" cy="528900"/>
          </a:xfrm>
        </p:grpSpPr>
        <p:sp>
          <p:nvSpPr>
            <p:cNvPr id="910" name="Google Shape;910;p50"/>
            <p:cNvSpPr/>
            <p:nvPr/>
          </p:nvSpPr>
          <p:spPr>
            <a:xfrm>
              <a:off x="2277035" y="519953"/>
              <a:ext cx="528900" cy="528900"/>
            </a:xfrm>
            <a:prstGeom prst="flowChartDelay">
              <a:avLst/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11" name="Google Shape;911;p50"/>
            <p:cNvCxnSpPr/>
            <p:nvPr/>
          </p:nvCxnSpPr>
          <p:spPr>
            <a:xfrm>
              <a:off x="1756410" y="674370"/>
              <a:ext cx="5205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12" name="Google Shape;912;p50"/>
            <p:cNvCxnSpPr/>
            <p:nvPr/>
          </p:nvCxnSpPr>
          <p:spPr>
            <a:xfrm>
              <a:off x="1752600" y="880110"/>
              <a:ext cx="5205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13" name="Google Shape;913;p50"/>
            <p:cNvCxnSpPr/>
            <p:nvPr/>
          </p:nvCxnSpPr>
          <p:spPr>
            <a:xfrm>
              <a:off x="2805953" y="784860"/>
              <a:ext cx="5205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914" name="Google Shape;914;p50"/>
          <p:cNvCxnSpPr/>
          <p:nvPr/>
        </p:nvCxnSpPr>
        <p:spPr>
          <a:xfrm>
            <a:off x="892846" y="3033489"/>
            <a:ext cx="43953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15" name="Google Shape;915;p50"/>
          <p:cNvCxnSpPr/>
          <p:nvPr/>
        </p:nvCxnSpPr>
        <p:spPr>
          <a:xfrm>
            <a:off x="5285481" y="2427022"/>
            <a:ext cx="0" cy="40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16" name="Google Shape;916;p50"/>
          <p:cNvSpPr txBox="1"/>
          <p:nvPr/>
        </p:nvSpPr>
        <p:spPr>
          <a:xfrm>
            <a:off x="5286049" y="2362175"/>
            <a:ext cx="1423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A(B+CD)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17" name="Google Shape;917;p50"/>
          <p:cNvCxnSpPr/>
          <p:nvPr/>
        </p:nvCxnSpPr>
        <p:spPr>
          <a:xfrm>
            <a:off x="1815363" y="3654307"/>
            <a:ext cx="861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18" name="Google Shape;918;p50"/>
          <p:cNvSpPr txBox="1"/>
          <p:nvPr/>
        </p:nvSpPr>
        <p:spPr>
          <a:xfrm>
            <a:off x="3024542" y="3137122"/>
            <a:ext cx="64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C’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19" name="Google Shape;919;p50"/>
          <p:cNvCxnSpPr/>
          <p:nvPr/>
        </p:nvCxnSpPr>
        <p:spPr>
          <a:xfrm>
            <a:off x="3440331" y="3650776"/>
            <a:ext cx="0" cy="40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20" name="Google Shape;920;p50"/>
          <p:cNvSpPr txBox="1"/>
          <p:nvPr/>
        </p:nvSpPr>
        <p:spPr>
          <a:xfrm>
            <a:off x="3894394" y="3621164"/>
            <a:ext cx="64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BC’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21" name="Google Shape;921;p50"/>
          <p:cNvGrpSpPr/>
          <p:nvPr/>
        </p:nvGrpSpPr>
        <p:grpSpPr>
          <a:xfrm>
            <a:off x="6636949" y="3596313"/>
            <a:ext cx="1633637" cy="755554"/>
            <a:chOff x="1841149" y="2819119"/>
            <a:chExt cx="1479208" cy="771525"/>
          </a:xfrm>
        </p:grpSpPr>
        <p:pic>
          <p:nvPicPr>
            <p:cNvPr id="922" name="Google Shape;922;p5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277035" y="2819119"/>
              <a:ext cx="528918" cy="77152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923" name="Google Shape;923;p50"/>
            <p:cNvCxnSpPr/>
            <p:nvPr/>
          </p:nvCxnSpPr>
          <p:spPr>
            <a:xfrm>
              <a:off x="2799857" y="3177540"/>
              <a:ext cx="5205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24" name="Google Shape;924;p50"/>
            <p:cNvCxnSpPr/>
            <p:nvPr/>
          </p:nvCxnSpPr>
          <p:spPr>
            <a:xfrm>
              <a:off x="1846483" y="2998470"/>
              <a:ext cx="5205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25" name="Google Shape;925;p50"/>
            <p:cNvCxnSpPr/>
            <p:nvPr/>
          </p:nvCxnSpPr>
          <p:spPr>
            <a:xfrm>
              <a:off x="1841149" y="3394710"/>
              <a:ext cx="5205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926" name="Google Shape;926;p50"/>
          <p:cNvCxnSpPr/>
          <p:nvPr/>
        </p:nvCxnSpPr>
        <p:spPr>
          <a:xfrm>
            <a:off x="6639498" y="2940750"/>
            <a:ext cx="0" cy="825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27" name="Google Shape;927;p50"/>
          <p:cNvSpPr txBox="1"/>
          <p:nvPr/>
        </p:nvSpPr>
        <p:spPr>
          <a:xfrm>
            <a:off x="6858007" y="3158125"/>
            <a:ext cx="2036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A(B+CD)+BC’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28" name="Google Shape;928;p50"/>
          <p:cNvGrpSpPr/>
          <p:nvPr/>
        </p:nvGrpSpPr>
        <p:grpSpPr>
          <a:xfrm>
            <a:off x="2661890" y="3421827"/>
            <a:ext cx="778230" cy="471660"/>
            <a:chOff x="4776493" y="2622641"/>
            <a:chExt cx="902086" cy="481630"/>
          </a:xfrm>
        </p:grpSpPr>
        <p:sp>
          <p:nvSpPr>
            <p:cNvPr id="929" name="Google Shape;929;p50"/>
            <p:cNvSpPr/>
            <p:nvPr/>
          </p:nvSpPr>
          <p:spPr>
            <a:xfrm rot="5400000">
              <a:off x="4995241" y="2709398"/>
              <a:ext cx="481630" cy="308116"/>
            </a:xfrm>
            <a:prstGeom prst="flowChartExtra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30" name="Google Shape;930;p50"/>
            <p:cNvCxnSpPr/>
            <p:nvPr/>
          </p:nvCxnSpPr>
          <p:spPr>
            <a:xfrm>
              <a:off x="4776493" y="2859891"/>
              <a:ext cx="3033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31" name="Google Shape;931;p50"/>
            <p:cNvCxnSpPr/>
            <p:nvPr/>
          </p:nvCxnSpPr>
          <p:spPr>
            <a:xfrm>
              <a:off x="5452979" y="2859891"/>
              <a:ext cx="2256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932" name="Google Shape;932;p50"/>
            <p:cNvSpPr/>
            <p:nvPr/>
          </p:nvSpPr>
          <p:spPr>
            <a:xfrm>
              <a:off x="5397020" y="2834716"/>
              <a:ext cx="52800" cy="57600"/>
            </a:xfrm>
            <a:prstGeom prst="flowChartConnector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51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38" name="Google Shape;938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939" name="Google Shape;939;p5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pic>
        <p:nvPicPr>
          <p:cNvPr id="940" name="Google Shape;940;p51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0" y="812207"/>
            <a:ext cx="1387924" cy="485001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941" name="Google Shape;941;p51"/>
          <p:cNvSpPr txBox="1"/>
          <p:nvPr/>
        </p:nvSpPr>
        <p:spPr>
          <a:xfrm>
            <a:off x="328350" y="766838"/>
            <a:ext cx="8630700" cy="37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514350" lvl="0" marL="51435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Steps: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AutoNum type="arabicPeriod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If an expression is given, represent it using AND,OR and NOT gates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AutoNum type="arabicPeriod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Draw each gate with equivalent NAND representation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AutoNum type="arabicPeriod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Remove any 2 cascading inverters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AutoNum type="arabicPeriod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Remove inverters from single input connection and replace input with its complement.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514350" lvl="0" marL="5143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514350" lvl="0" marL="51435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42" name="Google Shape;942;p51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943" name="Google Shape;943;p51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51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51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46" name="Google Shape;946;p51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Use NAND to Implement A Function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7" name="Google Shape;947;p51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8" name="Google Shape;948;p51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9" name="Google Shape;949;p51"/>
          <p:cNvSpPr/>
          <p:nvPr/>
        </p:nvSpPr>
        <p:spPr>
          <a:xfrm>
            <a:off x="6694721" y="4082146"/>
            <a:ext cx="1731135" cy="795337"/>
          </a:xfrm>
          <a:custGeom>
            <a:rect b="b" l="l" r="r" t="t"/>
            <a:pathLst>
              <a:path extrusionOk="0" h="949656" w="1775523">
                <a:moveTo>
                  <a:pt x="1439418" y="0"/>
                </a:moveTo>
                <a:lnTo>
                  <a:pt x="336232" y="0"/>
                </a:lnTo>
                <a:cubicBezTo>
                  <a:pt x="151320" y="0"/>
                  <a:pt x="0" y="151321"/>
                  <a:pt x="0" y="336233"/>
                </a:cubicBezTo>
                <a:lnTo>
                  <a:pt x="0" y="336233"/>
                </a:lnTo>
                <a:cubicBezTo>
                  <a:pt x="0" y="521145"/>
                  <a:pt x="151320" y="672465"/>
                  <a:pt x="336232" y="672465"/>
                </a:cubicBezTo>
                <a:lnTo>
                  <a:pt x="1208912" y="672465"/>
                </a:lnTo>
                <a:cubicBezTo>
                  <a:pt x="1243330" y="724091"/>
                  <a:pt x="1406017" y="956183"/>
                  <a:pt x="1544827" y="949516"/>
                </a:cubicBezTo>
                <a:lnTo>
                  <a:pt x="1545018" y="949516"/>
                </a:lnTo>
                <a:cubicBezTo>
                  <a:pt x="1551939" y="949516"/>
                  <a:pt x="1555750" y="941515"/>
                  <a:pt x="1551305" y="936181"/>
                </a:cubicBezTo>
                <a:cubicBezTo>
                  <a:pt x="1540700" y="923481"/>
                  <a:pt x="1529143" y="904431"/>
                  <a:pt x="1523364" y="893763"/>
                </a:cubicBezTo>
                <a:cubicBezTo>
                  <a:pt x="1516825" y="881761"/>
                  <a:pt x="1463992" y="766191"/>
                  <a:pt x="1473073" y="670751"/>
                </a:cubicBezTo>
                <a:cubicBezTo>
                  <a:pt x="1642300" y="653669"/>
                  <a:pt x="1775523" y="509778"/>
                  <a:pt x="1775523" y="336233"/>
                </a:cubicBezTo>
                <a:lnTo>
                  <a:pt x="1775523" y="336233"/>
                </a:lnTo>
                <a:cubicBezTo>
                  <a:pt x="1775523" y="151321"/>
                  <a:pt x="1624202" y="0"/>
                  <a:pt x="1439291" y="0"/>
                </a:cubicBezTo>
                <a:close/>
              </a:path>
            </a:pathLst>
          </a:custGeom>
          <a:solidFill>
            <a:srgbClr val="28C8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400" u="sng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Tutorial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52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55" name="Google Shape;955;p52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956" name="Google Shape;956;p52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52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8" name="Google Shape;958;p52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959" name="Google Shape;959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960" name="Google Shape;960;p5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961" name="Google Shape;961;p52"/>
          <p:cNvSpPr txBox="1"/>
          <p:nvPr/>
        </p:nvSpPr>
        <p:spPr>
          <a:xfrm>
            <a:off x="328350" y="766912"/>
            <a:ext cx="8630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Use NAND to represent F=A(B+CD)+BC’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2" name="Google Shape;962;p52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Exercise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3" name="Google Shape;963;p52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4" name="Google Shape;964;p52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65" name="Google Shape;965;p52"/>
          <p:cNvCxnSpPr/>
          <p:nvPr/>
        </p:nvCxnSpPr>
        <p:spPr>
          <a:xfrm>
            <a:off x="386627" y="1953122"/>
            <a:ext cx="6900" cy="2787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66" name="Google Shape;966;p52"/>
          <p:cNvCxnSpPr/>
          <p:nvPr/>
        </p:nvCxnSpPr>
        <p:spPr>
          <a:xfrm>
            <a:off x="783955" y="1953122"/>
            <a:ext cx="21000" cy="2782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67" name="Google Shape;967;p52"/>
          <p:cNvCxnSpPr/>
          <p:nvPr/>
        </p:nvCxnSpPr>
        <p:spPr>
          <a:xfrm>
            <a:off x="1181281" y="1953122"/>
            <a:ext cx="10800" cy="2787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68" name="Google Shape;968;p52"/>
          <p:cNvCxnSpPr/>
          <p:nvPr/>
        </p:nvCxnSpPr>
        <p:spPr>
          <a:xfrm>
            <a:off x="1578608" y="1953122"/>
            <a:ext cx="0" cy="2787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69" name="Google Shape;969;p52"/>
          <p:cNvSpPr txBox="1"/>
          <p:nvPr/>
        </p:nvSpPr>
        <p:spPr>
          <a:xfrm>
            <a:off x="255182" y="1583790"/>
            <a:ext cx="23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970" name="Google Shape;970;p52"/>
          <p:cNvSpPr txBox="1"/>
          <p:nvPr/>
        </p:nvSpPr>
        <p:spPr>
          <a:xfrm>
            <a:off x="650134" y="1583790"/>
            <a:ext cx="23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971" name="Google Shape;971;p52"/>
          <p:cNvSpPr txBox="1"/>
          <p:nvPr/>
        </p:nvSpPr>
        <p:spPr>
          <a:xfrm>
            <a:off x="1045085" y="1583790"/>
            <a:ext cx="23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sp>
        <p:nvSpPr>
          <p:cNvPr id="972" name="Google Shape;972;p52"/>
          <p:cNvSpPr txBox="1"/>
          <p:nvPr/>
        </p:nvSpPr>
        <p:spPr>
          <a:xfrm>
            <a:off x="1440037" y="1583790"/>
            <a:ext cx="23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grpSp>
        <p:nvGrpSpPr>
          <p:cNvPr id="973" name="Google Shape;973;p52"/>
          <p:cNvGrpSpPr/>
          <p:nvPr/>
        </p:nvGrpSpPr>
        <p:grpSpPr>
          <a:xfrm>
            <a:off x="7264464" y="1451675"/>
            <a:ext cx="1428874" cy="393518"/>
            <a:chOff x="1330057" y="4599501"/>
            <a:chExt cx="1905165" cy="393518"/>
          </a:xfrm>
        </p:grpSpPr>
        <p:sp>
          <p:nvSpPr>
            <p:cNvPr id="974" name="Google Shape;974;p52"/>
            <p:cNvSpPr/>
            <p:nvPr/>
          </p:nvSpPr>
          <p:spPr>
            <a:xfrm>
              <a:off x="1631314" y="4599501"/>
              <a:ext cx="303900" cy="386100"/>
            </a:xfrm>
            <a:prstGeom prst="flowChartDelay">
              <a:avLst/>
            </a:prstGeom>
            <a:solidFill>
              <a:srgbClr val="FFFFFF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75" name="Google Shape;975;p52"/>
            <p:cNvCxnSpPr/>
            <p:nvPr/>
          </p:nvCxnSpPr>
          <p:spPr>
            <a:xfrm>
              <a:off x="1332246" y="4712241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76" name="Google Shape;976;p52"/>
            <p:cNvCxnSpPr/>
            <p:nvPr/>
          </p:nvCxnSpPr>
          <p:spPr>
            <a:xfrm>
              <a:off x="1330057" y="4862452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77" name="Google Shape;977;p52"/>
            <p:cNvCxnSpPr/>
            <p:nvPr/>
          </p:nvCxnSpPr>
          <p:spPr>
            <a:xfrm>
              <a:off x="1983555" y="4792910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978" name="Google Shape;978;p52"/>
            <p:cNvSpPr/>
            <p:nvPr/>
          </p:nvSpPr>
          <p:spPr>
            <a:xfrm>
              <a:off x="1938343" y="4757682"/>
              <a:ext cx="47100" cy="69900"/>
            </a:xfrm>
            <a:prstGeom prst="flowChartConnector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9" name="Google Shape;979;p52"/>
            <p:cNvSpPr/>
            <p:nvPr/>
          </p:nvSpPr>
          <p:spPr>
            <a:xfrm>
              <a:off x="2583881" y="4606919"/>
              <a:ext cx="303900" cy="386100"/>
            </a:xfrm>
            <a:prstGeom prst="flowChartDelay">
              <a:avLst/>
            </a:prstGeom>
            <a:solidFill>
              <a:srgbClr val="FFFFFF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80" name="Google Shape;980;p52"/>
            <p:cNvCxnSpPr/>
            <p:nvPr/>
          </p:nvCxnSpPr>
          <p:spPr>
            <a:xfrm>
              <a:off x="2284813" y="4719659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81" name="Google Shape;981;p52"/>
            <p:cNvCxnSpPr/>
            <p:nvPr/>
          </p:nvCxnSpPr>
          <p:spPr>
            <a:xfrm>
              <a:off x="2282624" y="4869870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82" name="Google Shape;982;p52"/>
            <p:cNvCxnSpPr/>
            <p:nvPr/>
          </p:nvCxnSpPr>
          <p:spPr>
            <a:xfrm>
              <a:off x="2936122" y="4800328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983" name="Google Shape;983;p52"/>
            <p:cNvSpPr/>
            <p:nvPr/>
          </p:nvSpPr>
          <p:spPr>
            <a:xfrm>
              <a:off x="2890910" y="4765100"/>
              <a:ext cx="47100" cy="69900"/>
            </a:xfrm>
            <a:prstGeom prst="flowChartConnector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84" name="Google Shape;984;p52"/>
            <p:cNvCxnSpPr/>
            <p:nvPr/>
          </p:nvCxnSpPr>
          <p:spPr>
            <a:xfrm rot="10800000">
              <a:off x="2282624" y="4719570"/>
              <a:ext cx="0" cy="150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985" name="Google Shape;985;p52"/>
          <p:cNvGrpSpPr/>
          <p:nvPr/>
        </p:nvGrpSpPr>
        <p:grpSpPr>
          <a:xfrm>
            <a:off x="4790177" y="3623318"/>
            <a:ext cx="1651246" cy="922351"/>
            <a:chOff x="756991" y="4780337"/>
            <a:chExt cx="2201661" cy="922351"/>
          </a:xfrm>
        </p:grpSpPr>
        <p:grpSp>
          <p:nvGrpSpPr>
            <p:cNvPr id="986" name="Google Shape;986;p52"/>
            <p:cNvGrpSpPr/>
            <p:nvPr/>
          </p:nvGrpSpPr>
          <p:grpSpPr>
            <a:xfrm>
              <a:off x="756991" y="4780337"/>
              <a:ext cx="1251667" cy="386100"/>
              <a:chOff x="3888555" y="4862484"/>
              <a:chExt cx="1251667" cy="386100"/>
            </a:xfrm>
          </p:grpSpPr>
          <p:cxnSp>
            <p:nvCxnSpPr>
              <p:cNvPr id="987" name="Google Shape;987;p52"/>
              <p:cNvCxnSpPr/>
              <p:nvPr/>
            </p:nvCxnSpPr>
            <p:spPr>
              <a:xfrm>
                <a:off x="3888555" y="5048475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988" name="Google Shape;988;p52"/>
              <p:cNvSpPr/>
              <p:nvPr/>
            </p:nvSpPr>
            <p:spPr>
              <a:xfrm>
                <a:off x="4488881" y="4862484"/>
                <a:ext cx="303900" cy="386100"/>
              </a:xfrm>
              <a:prstGeom prst="flowChartDelay">
                <a:avLst/>
              </a:prstGeom>
              <a:solidFill>
                <a:srgbClr val="FFFFFF"/>
              </a:solidFill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989" name="Google Shape;989;p52"/>
              <p:cNvCxnSpPr/>
              <p:nvPr/>
            </p:nvCxnSpPr>
            <p:spPr>
              <a:xfrm>
                <a:off x="4189813" y="4975224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90" name="Google Shape;990;p52"/>
              <p:cNvCxnSpPr/>
              <p:nvPr/>
            </p:nvCxnSpPr>
            <p:spPr>
              <a:xfrm>
                <a:off x="4187624" y="5125435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91" name="Google Shape;991;p52"/>
              <p:cNvCxnSpPr/>
              <p:nvPr/>
            </p:nvCxnSpPr>
            <p:spPr>
              <a:xfrm>
                <a:off x="4841122" y="5055893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992" name="Google Shape;992;p52"/>
              <p:cNvSpPr/>
              <p:nvPr/>
            </p:nvSpPr>
            <p:spPr>
              <a:xfrm>
                <a:off x="4795910" y="5020665"/>
                <a:ext cx="47100" cy="69900"/>
              </a:xfrm>
              <a:prstGeom prst="flowChartConnector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993" name="Google Shape;993;p52"/>
              <p:cNvCxnSpPr/>
              <p:nvPr/>
            </p:nvCxnSpPr>
            <p:spPr>
              <a:xfrm rot="10800000">
                <a:off x="4187624" y="4975135"/>
                <a:ext cx="0" cy="1503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994" name="Google Shape;994;p52"/>
            <p:cNvGrpSpPr/>
            <p:nvPr/>
          </p:nvGrpSpPr>
          <p:grpSpPr>
            <a:xfrm>
              <a:off x="756991" y="5316588"/>
              <a:ext cx="1251667" cy="386100"/>
              <a:chOff x="3888555" y="4862484"/>
              <a:chExt cx="1251667" cy="386100"/>
            </a:xfrm>
          </p:grpSpPr>
          <p:cxnSp>
            <p:nvCxnSpPr>
              <p:cNvPr id="995" name="Google Shape;995;p52"/>
              <p:cNvCxnSpPr/>
              <p:nvPr/>
            </p:nvCxnSpPr>
            <p:spPr>
              <a:xfrm>
                <a:off x="3888555" y="5048475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996" name="Google Shape;996;p52"/>
              <p:cNvSpPr/>
              <p:nvPr/>
            </p:nvSpPr>
            <p:spPr>
              <a:xfrm>
                <a:off x="4488881" y="4862484"/>
                <a:ext cx="303900" cy="386100"/>
              </a:xfrm>
              <a:prstGeom prst="flowChartDelay">
                <a:avLst/>
              </a:prstGeom>
              <a:solidFill>
                <a:srgbClr val="FFFFFF"/>
              </a:solidFill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997" name="Google Shape;997;p52"/>
              <p:cNvCxnSpPr/>
              <p:nvPr/>
            </p:nvCxnSpPr>
            <p:spPr>
              <a:xfrm>
                <a:off x="4189813" y="4975224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98" name="Google Shape;998;p52"/>
              <p:cNvCxnSpPr/>
              <p:nvPr/>
            </p:nvCxnSpPr>
            <p:spPr>
              <a:xfrm>
                <a:off x="4187624" y="5125435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99" name="Google Shape;999;p52"/>
              <p:cNvCxnSpPr/>
              <p:nvPr/>
            </p:nvCxnSpPr>
            <p:spPr>
              <a:xfrm>
                <a:off x="4841122" y="5055893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000" name="Google Shape;1000;p52"/>
              <p:cNvSpPr/>
              <p:nvPr/>
            </p:nvSpPr>
            <p:spPr>
              <a:xfrm>
                <a:off x="4795910" y="5020665"/>
                <a:ext cx="47100" cy="69900"/>
              </a:xfrm>
              <a:prstGeom prst="flowChartConnector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001" name="Google Shape;1001;p52"/>
              <p:cNvCxnSpPr/>
              <p:nvPr/>
            </p:nvCxnSpPr>
            <p:spPr>
              <a:xfrm rot="10800000">
                <a:off x="4187624" y="4975135"/>
                <a:ext cx="0" cy="1503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002" name="Google Shape;1002;p52"/>
            <p:cNvGrpSpPr/>
            <p:nvPr/>
          </p:nvGrpSpPr>
          <p:grpSpPr>
            <a:xfrm>
              <a:off x="2006054" y="5051126"/>
              <a:ext cx="952598" cy="386100"/>
              <a:chOff x="2061934" y="5070992"/>
              <a:chExt cx="952598" cy="386100"/>
            </a:xfrm>
          </p:grpSpPr>
          <p:sp>
            <p:nvSpPr>
              <p:cNvPr id="1003" name="Google Shape;1003;p52"/>
              <p:cNvSpPr/>
              <p:nvPr/>
            </p:nvSpPr>
            <p:spPr>
              <a:xfrm>
                <a:off x="2363191" y="5070992"/>
                <a:ext cx="303900" cy="386100"/>
              </a:xfrm>
              <a:prstGeom prst="flowChartDelay">
                <a:avLst/>
              </a:prstGeom>
              <a:solidFill>
                <a:srgbClr val="FFFFFF"/>
              </a:solidFill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004" name="Google Shape;1004;p52"/>
              <p:cNvCxnSpPr/>
              <p:nvPr/>
            </p:nvCxnSpPr>
            <p:spPr>
              <a:xfrm>
                <a:off x="2064123" y="5183732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05" name="Google Shape;1005;p52"/>
              <p:cNvCxnSpPr/>
              <p:nvPr/>
            </p:nvCxnSpPr>
            <p:spPr>
              <a:xfrm>
                <a:off x="2061934" y="5333943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06" name="Google Shape;1006;p52"/>
              <p:cNvCxnSpPr/>
              <p:nvPr/>
            </p:nvCxnSpPr>
            <p:spPr>
              <a:xfrm>
                <a:off x="2715432" y="5264401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007" name="Google Shape;1007;p52"/>
              <p:cNvSpPr/>
              <p:nvPr/>
            </p:nvSpPr>
            <p:spPr>
              <a:xfrm>
                <a:off x="2670220" y="5229173"/>
                <a:ext cx="47100" cy="69900"/>
              </a:xfrm>
              <a:prstGeom prst="flowChartConnector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1008" name="Google Shape;1008;p52"/>
            <p:cNvCxnSpPr/>
            <p:nvPr/>
          </p:nvCxnSpPr>
          <p:spPr>
            <a:xfrm rot="10800000">
              <a:off x="2008594" y="4971266"/>
              <a:ext cx="0" cy="192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09" name="Google Shape;1009;p52"/>
            <p:cNvCxnSpPr/>
            <p:nvPr/>
          </p:nvCxnSpPr>
          <p:spPr>
            <a:xfrm rot="10800000">
              <a:off x="2006054" y="5313952"/>
              <a:ext cx="0" cy="198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010" name="Google Shape;1010;p52"/>
          <p:cNvGrpSpPr/>
          <p:nvPr/>
        </p:nvGrpSpPr>
        <p:grpSpPr>
          <a:xfrm>
            <a:off x="7269019" y="664235"/>
            <a:ext cx="938750" cy="386100"/>
            <a:chOff x="3888555" y="4862484"/>
            <a:chExt cx="1251667" cy="386100"/>
          </a:xfrm>
        </p:grpSpPr>
        <p:cxnSp>
          <p:nvCxnSpPr>
            <p:cNvPr id="1011" name="Google Shape;1011;p52"/>
            <p:cNvCxnSpPr/>
            <p:nvPr/>
          </p:nvCxnSpPr>
          <p:spPr>
            <a:xfrm>
              <a:off x="3888555" y="5048475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012" name="Google Shape;1012;p52"/>
            <p:cNvSpPr/>
            <p:nvPr/>
          </p:nvSpPr>
          <p:spPr>
            <a:xfrm>
              <a:off x="4488881" y="4862484"/>
              <a:ext cx="303900" cy="386100"/>
            </a:xfrm>
            <a:prstGeom prst="flowChartDelay">
              <a:avLst/>
            </a:prstGeom>
            <a:solidFill>
              <a:srgbClr val="FFFFFF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13" name="Google Shape;1013;p52"/>
            <p:cNvCxnSpPr/>
            <p:nvPr/>
          </p:nvCxnSpPr>
          <p:spPr>
            <a:xfrm>
              <a:off x="4189813" y="4975224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14" name="Google Shape;1014;p52"/>
            <p:cNvCxnSpPr/>
            <p:nvPr/>
          </p:nvCxnSpPr>
          <p:spPr>
            <a:xfrm>
              <a:off x="4187624" y="5125435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15" name="Google Shape;1015;p52"/>
            <p:cNvCxnSpPr/>
            <p:nvPr/>
          </p:nvCxnSpPr>
          <p:spPr>
            <a:xfrm>
              <a:off x="4841122" y="5055893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016" name="Google Shape;1016;p52"/>
            <p:cNvSpPr/>
            <p:nvPr/>
          </p:nvSpPr>
          <p:spPr>
            <a:xfrm>
              <a:off x="4795910" y="5020665"/>
              <a:ext cx="47100" cy="69900"/>
            </a:xfrm>
            <a:prstGeom prst="flowChartConnector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17" name="Google Shape;1017;p52"/>
            <p:cNvCxnSpPr/>
            <p:nvPr/>
          </p:nvCxnSpPr>
          <p:spPr>
            <a:xfrm rot="10800000">
              <a:off x="4187624" y="4975135"/>
              <a:ext cx="0" cy="150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018" name="Google Shape;1018;p52"/>
          <p:cNvGrpSpPr/>
          <p:nvPr/>
        </p:nvGrpSpPr>
        <p:grpSpPr>
          <a:xfrm>
            <a:off x="1717179" y="2074632"/>
            <a:ext cx="1428874" cy="393518"/>
            <a:chOff x="1330057" y="4599501"/>
            <a:chExt cx="1905165" cy="393518"/>
          </a:xfrm>
        </p:grpSpPr>
        <p:sp>
          <p:nvSpPr>
            <p:cNvPr id="1019" name="Google Shape;1019;p52"/>
            <p:cNvSpPr/>
            <p:nvPr/>
          </p:nvSpPr>
          <p:spPr>
            <a:xfrm>
              <a:off x="1631314" y="4599501"/>
              <a:ext cx="303900" cy="386100"/>
            </a:xfrm>
            <a:prstGeom prst="flowChartDelay">
              <a:avLst/>
            </a:prstGeom>
            <a:solidFill>
              <a:srgbClr val="FFFFFF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20" name="Google Shape;1020;p52"/>
            <p:cNvCxnSpPr/>
            <p:nvPr/>
          </p:nvCxnSpPr>
          <p:spPr>
            <a:xfrm>
              <a:off x="1332246" y="4712241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21" name="Google Shape;1021;p52"/>
            <p:cNvCxnSpPr/>
            <p:nvPr/>
          </p:nvCxnSpPr>
          <p:spPr>
            <a:xfrm>
              <a:off x="1330057" y="4862452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22" name="Google Shape;1022;p52"/>
            <p:cNvCxnSpPr/>
            <p:nvPr/>
          </p:nvCxnSpPr>
          <p:spPr>
            <a:xfrm>
              <a:off x="1983555" y="4792910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023" name="Google Shape;1023;p52"/>
            <p:cNvSpPr/>
            <p:nvPr/>
          </p:nvSpPr>
          <p:spPr>
            <a:xfrm>
              <a:off x="1938343" y="4757682"/>
              <a:ext cx="47100" cy="69900"/>
            </a:xfrm>
            <a:prstGeom prst="flowChartConnector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4" name="Google Shape;1024;p52"/>
            <p:cNvSpPr/>
            <p:nvPr/>
          </p:nvSpPr>
          <p:spPr>
            <a:xfrm>
              <a:off x="2583881" y="4606919"/>
              <a:ext cx="303900" cy="386100"/>
            </a:xfrm>
            <a:prstGeom prst="flowChartDelay">
              <a:avLst/>
            </a:prstGeom>
            <a:solidFill>
              <a:srgbClr val="FFFFFF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25" name="Google Shape;1025;p52"/>
            <p:cNvCxnSpPr/>
            <p:nvPr/>
          </p:nvCxnSpPr>
          <p:spPr>
            <a:xfrm>
              <a:off x="2284813" y="4719659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26" name="Google Shape;1026;p52"/>
            <p:cNvCxnSpPr/>
            <p:nvPr/>
          </p:nvCxnSpPr>
          <p:spPr>
            <a:xfrm>
              <a:off x="2282624" y="4869870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27" name="Google Shape;1027;p52"/>
            <p:cNvCxnSpPr/>
            <p:nvPr/>
          </p:nvCxnSpPr>
          <p:spPr>
            <a:xfrm>
              <a:off x="2936122" y="4800328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028" name="Google Shape;1028;p52"/>
            <p:cNvSpPr/>
            <p:nvPr/>
          </p:nvSpPr>
          <p:spPr>
            <a:xfrm>
              <a:off x="2890910" y="4765100"/>
              <a:ext cx="47100" cy="69900"/>
            </a:xfrm>
            <a:prstGeom prst="flowChartConnector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29" name="Google Shape;1029;p52"/>
            <p:cNvCxnSpPr/>
            <p:nvPr/>
          </p:nvCxnSpPr>
          <p:spPr>
            <a:xfrm rot="10800000">
              <a:off x="2282624" y="4719570"/>
              <a:ext cx="0" cy="150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1030" name="Google Shape;1030;p52"/>
          <p:cNvCxnSpPr/>
          <p:nvPr/>
        </p:nvCxnSpPr>
        <p:spPr>
          <a:xfrm>
            <a:off x="1184508" y="2187372"/>
            <a:ext cx="540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31" name="Google Shape;1031;p52"/>
          <p:cNvCxnSpPr/>
          <p:nvPr/>
        </p:nvCxnSpPr>
        <p:spPr>
          <a:xfrm flipH="1" rot="10800000">
            <a:off x="1578608" y="2337657"/>
            <a:ext cx="165300" cy="1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32" name="Google Shape;1032;p52"/>
          <p:cNvSpPr txBox="1"/>
          <p:nvPr/>
        </p:nvSpPr>
        <p:spPr>
          <a:xfrm>
            <a:off x="2876220" y="1905800"/>
            <a:ext cx="540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CD</a:t>
            </a:r>
            <a:endParaRPr/>
          </a:p>
        </p:txBody>
      </p:sp>
      <p:grpSp>
        <p:nvGrpSpPr>
          <p:cNvPr id="1033" name="Google Shape;1033;p52"/>
          <p:cNvGrpSpPr/>
          <p:nvPr/>
        </p:nvGrpSpPr>
        <p:grpSpPr>
          <a:xfrm>
            <a:off x="3136843" y="2087925"/>
            <a:ext cx="1651246" cy="922351"/>
            <a:chOff x="756991" y="4780337"/>
            <a:chExt cx="2201661" cy="922351"/>
          </a:xfrm>
        </p:grpSpPr>
        <p:grpSp>
          <p:nvGrpSpPr>
            <p:cNvPr id="1034" name="Google Shape;1034;p52"/>
            <p:cNvGrpSpPr/>
            <p:nvPr/>
          </p:nvGrpSpPr>
          <p:grpSpPr>
            <a:xfrm>
              <a:off x="756991" y="4780337"/>
              <a:ext cx="1251667" cy="386100"/>
              <a:chOff x="3888555" y="4862484"/>
              <a:chExt cx="1251667" cy="386100"/>
            </a:xfrm>
          </p:grpSpPr>
          <p:cxnSp>
            <p:nvCxnSpPr>
              <p:cNvPr id="1035" name="Google Shape;1035;p52"/>
              <p:cNvCxnSpPr/>
              <p:nvPr/>
            </p:nvCxnSpPr>
            <p:spPr>
              <a:xfrm>
                <a:off x="3888555" y="5048475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036" name="Google Shape;1036;p52"/>
              <p:cNvSpPr/>
              <p:nvPr/>
            </p:nvSpPr>
            <p:spPr>
              <a:xfrm>
                <a:off x="4488881" y="4862484"/>
                <a:ext cx="303900" cy="386100"/>
              </a:xfrm>
              <a:prstGeom prst="flowChartDelay">
                <a:avLst/>
              </a:prstGeom>
              <a:solidFill>
                <a:srgbClr val="FFFFFF"/>
              </a:solidFill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037" name="Google Shape;1037;p52"/>
              <p:cNvCxnSpPr/>
              <p:nvPr/>
            </p:nvCxnSpPr>
            <p:spPr>
              <a:xfrm>
                <a:off x="4189813" y="4975224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38" name="Google Shape;1038;p52"/>
              <p:cNvCxnSpPr/>
              <p:nvPr/>
            </p:nvCxnSpPr>
            <p:spPr>
              <a:xfrm>
                <a:off x="4187624" y="5125435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39" name="Google Shape;1039;p52"/>
              <p:cNvCxnSpPr/>
              <p:nvPr/>
            </p:nvCxnSpPr>
            <p:spPr>
              <a:xfrm>
                <a:off x="4841122" y="5055893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040" name="Google Shape;1040;p52"/>
              <p:cNvSpPr/>
              <p:nvPr/>
            </p:nvSpPr>
            <p:spPr>
              <a:xfrm>
                <a:off x="4795910" y="5020665"/>
                <a:ext cx="47100" cy="69900"/>
              </a:xfrm>
              <a:prstGeom prst="flowChartConnector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041" name="Google Shape;1041;p52"/>
              <p:cNvCxnSpPr/>
              <p:nvPr/>
            </p:nvCxnSpPr>
            <p:spPr>
              <a:xfrm rot="10800000">
                <a:off x="4187624" y="4975135"/>
                <a:ext cx="0" cy="1503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042" name="Google Shape;1042;p52"/>
            <p:cNvGrpSpPr/>
            <p:nvPr/>
          </p:nvGrpSpPr>
          <p:grpSpPr>
            <a:xfrm>
              <a:off x="756991" y="5316588"/>
              <a:ext cx="1251667" cy="386100"/>
              <a:chOff x="3888555" y="4862484"/>
              <a:chExt cx="1251667" cy="386100"/>
            </a:xfrm>
          </p:grpSpPr>
          <p:cxnSp>
            <p:nvCxnSpPr>
              <p:cNvPr id="1043" name="Google Shape;1043;p52"/>
              <p:cNvCxnSpPr/>
              <p:nvPr/>
            </p:nvCxnSpPr>
            <p:spPr>
              <a:xfrm>
                <a:off x="3888555" y="5048475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044" name="Google Shape;1044;p52"/>
              <p:cNvSpPr/>
              <p:nvPr/>
            </p:nvSpPr>
            <p:spPr>
              <a:xfrm>
                <a:off x="4488881" y="4862484"/>
                <a:ext cx="303900" cy="386100"/>
              </a:xfrm>
              <a:prstGeom prst="flowChartDelay">
                <a:avLst/>
              </a:prstGeom>
              <a:solidFill>
                <a:srgbClr val="FFFFFF"/>
              </a:solidFill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045" name="Google Shape;1045;p52"/>
              <p:cNvCxnSpPr/>
              <p:nvPr/>
            </p:nvCxnSpPr>
            <p:spPr>
              <a:xfrm>
                <a:off x="4189813" y="4975224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46" name="Google Shape;1046;p52"/>
              <p:cNvCxnSpPr/>
              <p:nvPr/>
            </p:nvCxnSpPr>
            <p:spPr>
              <a:xfrm>
                <a:off x="4187624" y="5125435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47" name="Google Shape;1047;p52"/>
              <p:cNvCxnSpPr/>
              <p:nvPr/>
            </p:nvCxnSpPr>
            <p:spPr>
              <a:xfrm>
                <a:off x="4841122" y="5055893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048" name="Google Shape;1048;p52"/>
              <p:cNvSpPr/>
              <p:nvPr/>
            </p:nvSpPr>
            <p:spPr>
              <a:xfrm>
                <a:off x="4795910" y="5020665"/>
                <a:ext cx="47100" cy="69900"/>
              </a:xfrm>
              <a:prstGeom prst="flowChartConnector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049" name="Google Shape;1049;p52"/>
              <p:cNvCxnSpPr/>
              <p:nvPr/>
            </p:nvCxnSpPr>
            <p:spPr>
              <a:xfrm rot="10800000">
                <a:off x="4187624" y="4975135"/>
                <a:ext cx="0" cy="1503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050" name="Google Shape;1050;p52"/>
            <p:cNvGrpSpPr/>
            <p:nvPr/>
          </p:nvGrpSpPr>
          <p:grpSpPr>
            <a:xfrm>
              <a:off x="2006054" y="5051126"/>
              <a:ext cx="952598" cy="386100"/>
              <a:chOff x="2061934" y="5070992"/>
              <a:chExt cx="952598" cy="386100"/>
            </a:xfrm>
          </p:grpSpPr>
          <p:sp>
            <p:nvSpPr>
              <p:cNvPr id="1051" name="Google Shape;1051;p52"/>
              <p:cNvSpPr/>
              <p:nvPr/>
            </p:nvSpPr>
            <p:spPr>
              <a:xfrm>
                <a:off x="2363191" y="5070992"/>
                <a:ext cx="303900" cy="386100"/>
              </a:xfrm>
              <a:prstGeom prst="flowChartDelay">
                <a:avLst/>
              </a:prstGeom>
              <a:solidFill>
                <a:srgbClr val="FFFFFF"/>
              </a:solidFill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052" name="Google Shape;1052;p52"/>
              <p:cNvCxnSpPr/>
              <p:nvPr/>
            </p:nvCxnSpPr>
            <p:spPr>
              <a:xfrm>
                <a:off x="2064123" y="5183732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53" name="Google Shape;1053;p52"/>
              <p:cNvCxnSpPr/>
              <p:nvPr/>
            </p:nvCxnSpPr>
            <p:spPr>
              <a:xfrm>
                <a:off x="2061934" y="5333943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54" name="Google Shape;1054;p52"/>
              <p:cNvCxnSpPr/>
              <p:nvPr/>
            </p:nvCxnSpPr>
            <p:spPr>
              <a:xfrm>
                <a:off x="2715432" y="5264401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055" name="Google Shape;1055;p52"/>
              <p:cNvSpPr/>
              <p:nvPr/>
            </p:nvSpPr>
            <p:spPr>
              <a:xfrm>
                <a:off x="2670220" y="5229173"/>
                <a:ext cx="47100" cy="69900"/>
              </a:xfrm>
              <a:prstGeom prst="flowChartConnector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1056" name="Google Shape;1056;p52"/>
            <p:cNvCxnSpPr/>
            <p:nvPr/>
          </p:nvCxnSpPr>
          <p:spPr>
            <a:xfrm rot="10800000">
              <a:off x="2008594" y="4971266"/>
              <a:ext cx="0" cy="192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57" name="Google Shape;1057;p52"/>
            <p:cNvCxnSpPr/>
            <p:nvPr/>
          </p:nvCxnSpPr>
          <p:spPr>
            <a:xfrm rot="10800000">
              <a:off x="2006054" y="5313952"/>
              <a:ext cx="0" cy="198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1058" name="Google Shape;1058;p52"/>
          <p:cNvCxnSpPr/>
          <p:nvPr/>
        </p:nvCxnSpPr>
        <p:spPr>
          <a:xfrm flipH="1" rot="10800000">
            <a:off x="794460" y="2809758"/>
            <a:ext cx="2362500" cy="7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59" name="Google Shape;1059;p52"/>
          <p:cNvSpPr txBox="1"/>
          <p:nvPr/>
        </p:nvSpPr>
        <p:spPr>
          <a:xfrm>
            <a:off x="4492551" y="2242050"/>
            <a:ext cx="79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B+CD</a:t>
            </a:r>
            <a:endParaRPr/>
          </a:p>
        </p:txBody>
      </p:sp>
      <p:grpSp>
        <p:nvGrpSpPr>
          <p:cNvPr id="1060" name="Google Shape;1060;p52"/>
          <p:cNvGrpSpPr/>
          <p:nvPr/>
        </p:nvGrpSpPr>
        <p:grpSpPr>
          <a:xfrm>
            <a:off x="3361145" y="3315227"/>
            <a:ext cx="1428874" cy="393518"/>
            <a:chOff x="1330057" y="4599501"/>
            <a:chExt cx="1905165" cy="393518"/>
          </a:xfrm>
        </p:grpSpPr>
        <p:sp>
          <p:nvSpPr>
            <p:cNvPr id="1061" name="Google Shape;1061;p52"/>
            <p:cNvSpPr/>
            <p:nvPr/>
          </p:nvSpPr>
          <p:spPr>
            <a:xfrm>
              <a:off x="1631314" y="4599501"/>
              <a:ext cx="303900" cy="386100"/>
            </a:xfrm>
            <a:prstGeom prst="flowChartDelay">
              <a:avLst/>
            </a:prstGeom>
            <a:solidFill>
              <a:srgbClr val="FFFFFF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62" name="Google Shape;1062;p52"/>
            <p:cNvCxnSpPr/>
            <p:nvPr/>
          </p:nvCxnSpPr>
          <p:spPr>
            <a:xfrm>
              <a:off x="1332246" y="4712241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63" name="Google Shape;1063;p52"/>
            <p:cNvCxnSpPr/>
            <p:nvPr/>
          </p:nvCxnSpPr>
          <p:spPr>
            <a:xfrm>
              <a:off x="1330057" y="4862452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64" name="Google Shape;1064;p52"/>
            <p:cNvCxnSpPr/>
            <p:nvPr/>
          </p:nvCxnSpPr>
          <p:spPr>
            <a:xfrm>
              <a:off x="1983555" y="4792910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065" name="Google Shape;1065;p52"/>
            <p:cNvSpPr/>
            <p:nvPr/>
          </p:nvSpPr>
          <p:spPr>
            <a:xfrm>
              <a:off x="1938343" y="4757682"/>
              <a:ext cx="47100" cy="69900"/>
            </a:xfrm>
            <a:prstGeom prst="flowChartConnector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6" name="Google Shape;1066;p52"/>
            <p:cNvSpPr/>
            <p:nvPr/>
          </p:nvSpPr>
          <p:spPr>
            <a:xfrm>
              <a:off x="2583881" y="4606919"/>
              <a:ext cx="303900" cy="386100"/>
            </a:xfrm>
            <a:prstGeom prst="flowChartDelay">
              <a:avLst/>
            </a:prstGeom>
            <a:solidFill>
              <a:srgbClr val="FFFFFF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67" name="Google Shape;1067;p52"/>
            <p:cNvCxnSpPr/>
            <p:nvPr/>
          </p:nvCxnSpPr>
          <p:spPr>
            <a:xfrm>
              <a:off x="2284813" y="4719659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68" name="Google Shape;1068;p52"/>
            <p:cNvCxnSpPr/>
            <p:nvPr/>
          </p:nvCxnSpPr>
          <p:spPr>
            <a:xfrm>
              <a:off x="2282624" y="4869870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69" name="Google Shape;1069;p52"/>
            <p:cNvCxnSpPr/>
            <p:nvPr/>
          </p:nvCxnSpPr>
          <p:spPr>
            <a:xfrm>
              <a:off x="2936122" y="4800328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070" name="Google Shape;1070;p52"/>
            <p:cNvSpPr/>
            <p:nvPr/>
          </p:nvSpPr>
          <p:spPr>
            <a:xfrm>
              <a:off x="2890910" y="4765100"/>
              <a:ext cx="47100" cy="69900"/>
            </a:xfrm>
            <a:prstGeom prst="flowChartConnector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71" name="Google Shape;1071;p52"/>
            <p:cNvCxnSpPr/>
            <p:nvPr/>
          </p:nvCxnSpPr>
          <p:spPr>
            <a:xfrm rot="10800000">
              <a:off x="2282624" y="4719570"/>
              <a:ext cx="0" cy="150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1072" name="Google Shape;1072;p52"/>
          <p:cNvCxnSpPr/>
          <p:nvPr/>
        </p:nvCxnSpPr>
        <p:spPr>
          <a:xfrm flipH="1" rot="10800000">
            <a:off x="393485" y="3578096"/>
            <a:ext cx="3030900" cy="7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73" name="Google Shape;1073;p52"/>
          <p:cNvCxnSpPr/>
          <p:nvPr/>
        </p:nvCxnSpPr>
        <p:spPr>
          <a:xfrm>
            <a:off x="4788065" y="2553139"/>
            <a:ext cx="0" cy="564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74" name="Google Shape;1074;p52"/>
          <p:cNvCxnSpPr/>
          <p:nvPr/>
        </p:nvCxnSpPr>
        <p:spPr>
          <a:xfrm>
            <a:off x="3361145" y="3117830"/>
            <a:ext cx="1426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75" name="Google Shape;1075;p52"/>
          <p:cNvCxnSpPr/>
          <p:nvPr/>
        </p:nvCxnSpPr>
        <p:spPr>
          <a:xfrm>
            <a:off x="3361145" y="3117830"/>
            <a:ext cx="0" cy="310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76" name="Google Shape;1076;p52"/>
          <p:cNvSpPr txBox="1"/>
          <p:nvPr/>
        </p:nvSpPr>
        <p:spPr>
          <a:xfrm>
            <a:off x="4512848" y="3173875"/>
            <a:ext cx="1075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A(B+CD)</a:t>
            </a:r>
            <a:endParaRPr/>
          </a:p>
        </p:txBody>
      </p:sp>
      <p:grpSp>
        <p:nvGrpSpPr>
          <p:cNvPr id="1077" name="Google Shape;1077;p52"/>
          <p:cNvGrpSpPr/>
          <p:nvPr/>
        </p:nvGrpSpPr>
        <p:grpSpPr>
          <a:xfrm>
            <a:off x="1670542" y="3776975"/>
            <a:ext cx="938750" cy="386100"/>
            <a:chOff x="3888555" y="4862484"/>
            <a:chExt cx="1251667" cy="386100"/>
          </a:xfrm>
        </p:grpSpPr>
        <p:cxnSp>
          <p:nvCxnSpPr>
            <p:cNvPr id="1078" name="Google Shape;1078;p52"/>
            <p:cNvCxnSpPr/>
            <p:nvPr/>
          </p:nvCxnSpPr>
          <p:spPr>
            <a:xfrm>
              <a:off x="3888555" y="5048475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079" name="Google Shape;1079;p52"/>
            <p:cNvSpPr/>
            <p:nvPr/>
          </p:nvSpPr>
          <p:spPr>
            <a:xfrm>
              <a:off x="4488881" y="4862484"/>
              <a:ext cx="303900" cy="386100"/>
            </a:xfrm>
            <a:prstGeom prst="flowChartDelay">
              <a:avLst/>
            </a:prstGeom>
            <a:solidFill>
              <a:srgbClr val="FFFFFF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80" name="Google Shape;1080;p52"/>
            <p:cNvCxnSpPr/>
            <p:nvPr/>
          </p:nvCxnSpPr>
          <p:spPr>
            <a:xfrm>
              <a:off x="4189813" y="4975224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81" name="Google Shape;1081;p52"/>
            <p:cNvCxnSpPr/>
            <p:nvPr/>
          </p:nvCxnSpPr>
          <p:spPr>
            <a:xfrm>
              <a:off x="4187624" y="5125435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82" name="Google Shape;1082;p52"/>
            <p:cNvCxnSpPr/>
            <p:nvPr/>
          </p:nvCxnSpPr>
          <p:spPr>
            <a:xfrm>
              <a:off x="4841122" y="5055893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083" name="Google Shape;1083;p52"/>
            <p:cNvSpPr/>
            <p:nvPr/>
          </p:nvSpPr>
          <p:spPr>
            <a:xfrm>
              <a:off x="4795910" y="5020665"/>
              <a:ext cx="47100" cy="69900"/>
            </a:xfrm>
            <a:prstGeom prst="flowChartConnector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84" name="Google Shape;1084;p52"/>
            <p:cNvCxnSpPr/>
            <p:nvPr/>
          </p:nvCxnSpPr>
          <p:spPr>
            <a:xfrm rot="10800000">
              <a:off x="4187624" y="4975135"/>
              <a:ext cx="0" cy="150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1085" name="Google Shape;1085;p52"/>
          <p:cNvCxnSpPr/>
          <p:nvPr/>
        </p:nvCxnSpPr>
        <p:spPr>
          <a:xfrm flipH="1" rot="10800000">
            <a:off x="1186704" y="3962856"/>
            <a:ext cx="521700" cy="7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086" name="Google Shape;1086;p52"/>
          <p:cNvGrpSpPr/>
          <p:nvPr/>
        </p:nvGrpSpPr>
        <p:grpSpPr>
          <a:xfrm>
            <a:off x="2609268" y="4148341"/>
            <a:ext cx="1428874" cy="393518"/>
            <a:chOff x="1330057" y="4599501"/>
            <a:chExt cx="1905165" cy="393518"/>
          </a:xfrm>
        </p:grpSpPr>
        <p:sp>
          <p:nvSpPr>
            <p:cNvPr id="1087" name="Google Shape;1087;p52"/>
            <p:cNvSpPr/>
            <p:nvPr/>
          </p:nvSpPr>
          <p:spPr>
            <a:xfrm>
              <a:off x="1631314" y="4599501"/>
              <a:ext cx="303900" cy="386100"/>
            </a:xfrm>
            <a:prstGeom prst="flowChartDelay">
              <a:avLst/>
            </a:prstGeom>
            <a:solidFill>
              <a:srgbClr val="FFFFFF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88" name="Google Shape;1088;p52"/>
            <p:cNvCxnSpPr/>
            <p:nvPr/>
          </p:nvCxnSpPr>
          <p:spPr>
            <a:xfrm>
              <a:off x="1332246" y="4712241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89" name="Google Shape;1089;p52"/>
            <p:cNvCxnSpPr/>
            <p:nvPr/>
          </p:nvCxnSpPr>
          <p:spPr>
            <a:xfrm>
              <a:off x="1330057" y="4862452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90" name="Google Shape;1090;p52"/>
            <p:cNvCxnSpPr/>
            <p:nvPr/>
          </p:nvCxnSpPr>
          <p:spPr>
            <a:xfrm>
              <a:off x="1983555" y="4792910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091" name="Google Shape;1091;p52"/>
            <p:cNvSpPr/>
            <p:nvPr/>
          </p:nvSpPr>
          <p:spPr>
            <a:xfrm>
              <a:off x="1938343" y="4757682"/>
              <a:ext cx="47100" cy="69900"/>
            </a:xfrm>
            <a:prstGeom prst="flowChartConnector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2" name="Google Shape;1092;p52"/>
            <p:cNvSpPr/>
            <p:nvPr/>
          </p:nvSpPr>
          <p:spPr>
            <a:xfrm>
              <a:off x="2583881" y="4606919"/>
              <a:ext cx="303900" cy="386100"/>
            </a:xfrm>
            <a:prstGeom prst="flowChartDelay">
              <a:avLst/>
            </a:prstGeom>
            <a:solidFill>
              <a:srgbClr val="FFFFFF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93" name="Google Shape;1093;p52"/>
            <p:cNvCxnSpPr/>
            <p:nvPr/>
          </p:nvCxnSpPr>
          <p:spPr>
            <a:xfrm>
              <a:off x="2284813" y="4719659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94" name="Google Shape;1094;p52"/>
            <p:cNvCxnSpPr/>
            <p:nvPr/>
          </p:nvCxnSpPr>
          <p:spPr>
            <a:xfrm>
              <a:off x="2282624" y="4869870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95" name="Google Shape;1095;p52"/>
            <p:cNvCxnSpPr/>
            <p:nvPr/>
          </p:nvCxnSpPr>
          <p:spPr>
            <a:xfrm>
              <a:off x="2936122" y="4800328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096" name="Google Shape;1096;p52"/>
            <p:cNvSpPr/>
            <p:nvPr/>
          </p:nvSpPr>
          <p:spPr>
            <a:xfrm>
              <a:off x="2890910" y="4765100"/>
              <a:ext cx="47100" cy="69900"/>
            </a:xfrm>
            <a:prstGeom prst="flowChartConnector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97" name="Google Shape;1097;p52"/>
            <p:cNvCxnSpPr/>
            <p:nvPr/>
          </p:nvCxnSpPr>
          <p:spPr>
            <a:xfrm rot="10800000">
              <a:off x="2282624" y="4719570"/>
              <a:ext cx="0" cy="150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1098" name="Google Shape;1098;p52"/>
          <p:cNvCxnSpPr/>
          <p:nvPr/>
        </p:nvCxnSpPr>
        <p:spPr>
          <a:xfrm>
            <a:off x="804965" y="4411292"/>
            <a:ext cx="1821900" cy="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99" name="Google Shape;1099;p52"/>
          <p:cNvCxnSpPr/>
          <p:nvPr/>
        </p:nvCxnSpPr>
        <p:spPr>
          <a:xfrm>
            <a:off x="2609268" y="3970702"/>
            <a:ext cx="0" cy="290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00" name="Google Shape;1100;p52"/>
          <p:cNvSpPr txBox="1"/>
          <p:nvPr/>
        </p:nvSpPr>
        <p:spPr>
          <a:xfrm>
            <a:off x="3779152" y="3997577"/>
            <a:ext cx="76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BC’</a:t>
            </a:r>
            <a:endParaRPr/>
          </a:p>
        </p:txBody>
      </p:sp>
      <p:grpSp>
        <p:nvGrpSpPr>
          <p:cNvPr id="1101" name="Google Shape;1101;p52"/>
          <p:cNvGrpSpPr/>
          <p:nvPr/>
        </p:nvGrpSpPr>
        <p:grpSpPr>
          <a:xfrm>
            <a:off x="7379729" y="2309482"/>
            <a:ext cx="1651246" cy="922351"/>
            <a:chOff x="756991" y="4780337"/>
            <a:chExt cx="2201661" cy="922351"/>
          </a:xfrm>
        </p:grpSpPr>
        <p:grpSp>
          <p:nvGrpSpPr>
            <p:cNvPr id="1102" name="Google Shape;1102;p52"/>
            <p:cNvGrpSpPr/>
            <p:nvPr/>
          </p:nvGrpSpPr>
          <p:grpSpPr>
            <a:xfrm>
              <a:off x="756991" y="4780337"/>
              <a:ext cx="1251667" cy="386100"/>
              <a:chOff x="3888555" y="4862484"/>
              <a:chExt cx="1251667" cy="386100"/>
            </a:xfrm>
          </p:grpSpPr>
          <p:cxnSp>
            <p:nvCxnSpPr>
              <p:cNvPr id="1103" name="Google Shape;1103;p52"/>
              <p:cNvCxnSpPr/>
              <p:nvPr/>
            </p:nvCxnSpPr>
            <p:spPr>
              <a:xfrm>
                <a:off x="3888555" y="5048475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104" name="Google Shape;1104;p52"/>
              <p:cNvSpPr/>
              <p:nvPr/>
            </p:nvSpPr>
            <p:spPr>
              <a:xfrm>
                <a:off x="4488881" y="4862484"/>
                <a:ext cx="303900" cy="386100"/>
              </a:xfrm>
              <a:prstGeom prst="flowChartDelay">
                <a:avLst/>
              </a:prstGeom>
              <a:solidFill>
                <a:srgbClr val="FFFFFF"/>
              </a:solidFill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105" name="Google Shape;1105;p52"/>
              <p:cNvCxnSpPr/>
              <p:nvPr/>
            </p:nvCxnSpPr>
            <p:spPr>
              <a:xfrm>
                <a:off x="4189813" y="4975224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06" name="Google Shape;1106;p52"/>
              <p:cNvCxnSpPr/>
              <p:nvPr/>
            </p:nvCxnSpPr>
            <p:spPr>
              <a:xfrm>
                <a:off x="4187624" y="5125435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07" name="Google Shape;1107;p52"/>
              <p:cNvCxnSpPr/>
              <p:nvPr/>
            </p:nvCxnSpPr>
            <p:spPr>
              <a:xfrm>
                <a:off x="4841122" y="5055893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108" name="Google Shape;1108;p52"/>
              <p:cNvSpPr/>
              <p:nvPr/>
            </p:nvSpPr>
            <p:spPr>
              <a:xfrm>
                <a:off x="4795910" y="5020665"/>
                <a:ext cx="47100" cy="69900"/>
              </a:xfrm>
              <a:prstGeom prst="flowChartConnector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109" name="Google Shape;1109;p52"/>
              <p:cNvCxnSpPr/>
              <p:nvPr/>
            </p:nvCxnSpPr>
            <p:spPr>
              <a:xfrm rot="10800000">
                <a:off x="4187624" y="4975135"/>
                <a:ext cx="0" cy="1503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110" name="Google Shape;1110;p52"/>
            <p:cNvGrpSpPr/>
            <p:nvPr/>
          </p:nvGrpSpPr>
          <p:grpSpPr>
            <a:xfrm>
              <a:off x="756991" y="5316588"/>
              <a:ext cx="1251667" cy="386100"/>
              <a:chOff x="3888555" y="4862484"/>
              <a:chExt cx="1251667" cy="386100"/>
            </a:xfrm>
          </p:grpSpPr>
          <p:cxnSp>
            <p:nvCxnSpPr>
              <p:cNvPr id="1111" name="Google Shape;1111;p52"/>
              <p:cNvCxnSpPr/>
              <p:nvPr/>
            </p:nvCxnSpPr>
            <p:spPr>
              <a:xfrm>
                <a:off x="3888555" y="5048475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112" name="Google Shape;1112;p52"/>
              <p:cNvSpPr/>
              <p:nvPr/>
            </p:nvSpPr>
            <p:spPr>
              <a:xfrm>
                <a:off x="4488881" y="4862484"/>
                <a:ext cx="303900" cy="386100"/>
              </a:xfrm>
              <a:prstGeom prst="flowChartDelay">
                <a:avLst/>
              </a:prstGeom>
              <a:solidFill>
                <a:srgbClr val="FFFFFF"/>
              </a:solidFill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113" name="Google Shape;1113;p52"/>
              <p:cNvCxnSpPr/>
              <p:nvPr/>
            </p:nvCxnSpPr>
            <p:spPr>
              <a:xfrm>
                <a:off x="4189813" y="4975224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14" name="Google Shape;1114;p52"/>
              <p:cNvCxnSpPr/>
              <p:nvPr/>
            </p:nvCxnSpPr>
            <p:spPr>
              <a:xfrm>
                <a:off x="4187624" y="5125435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15" name="Google Shape;1115;p52"/>
              <p:cNvCxnSpPr/>
              <p:nvPr/>
            </p:nvCxnSpPr>
            <p:spPr>
              <a:xfrm>
                <a:off x="4841122" y="5055893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116" name="Google Shape;1116;p52"/>
              <p:cNvSpPr/>
              <p:nvPr/>
            </p:nvSpPr>
            <p:spPr>
              <a:xfrm>
                <a:off x="4795910" y="5020665"/>
                <a:ext cx="47100" cy="69900"/>
              </a:xfrm>
              <a:prstGeom prst="flowChartConnector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117" name="Google Shape;1117;p52"/>
              <p:cNvCxnSpPr/>
              <p:nvPr/>
            </p:nvCxnSpPr>
            <p:spPr>
              <a:xfrm rot="10800000">
                <a:off x="4187624" y="4975135"/>
                <a:ext cx="0" cy="1503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118" name="Google Shape;1118;p52"/>
            <p:cNvGrpSpPr/>
            <p:nvPr/>
          </p:nvGrpSpPr>
          <p:grpSpPr>
            <a:xfrm>
              <a:off x="2006054" y="5051126"/>
              <a:ext cx="952598" cy="386100"/>
              <a:chOff x="2061934" y="5070992"/>
              <a:chExt cx="952598" cy="386100"/>
            </a:xfrm>
          </p:grpSpPr>
          <p:sp>
            <p:nvSpPr>
              <p:cNvPr id="1119" name="Google Shape;1119;p52"/>
              <p:cNvSpPr/>
              <p:nvPr/>
            </p:nvSpPr>
            <p:spPr>
              <a:xfrm>
                <a:off x="2363191" y="5070992"/>
                <a:ext cx="303900" cy="386100"/>
              </a:xfrm>
              <a:prstGeom prst="flowChartDelay">
                <a:avLst/>
              </a:prstGeom>
              <a:solidFill>
                <a:srgbClr val="FFFFFF"/>
              </a:solidFill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120" name="Google Shape;1120;p52"/>
              <p:cNvCxnSpPr/>
              <p:nvPr/>
            </p:nvCxnSpPr>
            <p:spPr>
              <a:xfrm>
                <a:off x="2064123" y="5183732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21" name="Google Shape;1121;p52"/>
              <p:cNvCxnSpPr/>
              <p:nvPr/>
            </p:nvCxnSpPr>
            <p:spPr>
              <a:xfrm>
                <a:off x="2061934" y="5333943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22" name="Google Shape;1122;p52"/>
              <p:cNvCxnSpPr/>
              <p:nvPr/>
            </p:nvCxnSpPr>
            <p:spPr>
              <a:xfrm>
                <a:off x="2715432" y="5264401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123" name="Google Shape;1123;p52"/>
              <p:cNvSpPr/>
              <p:nvPr/>
            </p:nvSpPr>
            <p:spPr>
              <a:xfrm>
                <a:off x="2670220" y="5229173"/>
                <a:ext cx="47100" cy="69900"/>
              </a:xfrm>
              <a:prstGeom prst="flowChartConnector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1124" name="Google Shape;1124;p52"/>
            <p:cNvCxnSpPr/>
            <p:nvPr/>
          </p:nvCxnSpPr>
          <p:spPr>
            <a:xfrm rot="10800000">
              <a:off x="2008594" y="4971266"/>
              <a:ext cx="0" cy="192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25" name="Google Shape;1125;p52"/>
            <p:cNvCxnSpPr/>
            <p:nvPr/>
          </p:nvCxnSpPr>
          <p:spPr>
            <a:xfrm rot="10800000">
              <a:off x="2006054" y="5313952"/>
              <a:ext cx="0" cy="198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1126" name="Google Shape;1126;p52"/>
          <p:cNvCxnSpPr/>
          <p:nvPr/>
        </p:nvCxnSpPr>
        <p:spPr>
          <a:xfrm flipH="1" rot="10800000">
            <a:off x="4023686" y="4345240"/>
            <a:ext cx="798000" cy="3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27" name="Google Shape;1127;p52"/>
          <p:cNvCxnSpPr/>
          <p:nvPr/>
        </p:nvCxnSpPr>
        <p:spPr>
          <a:xfrm>
            <a:off x="4788065" y="3515928"/>
            <a:ext cx="0" cy="296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28" name="Google Shape;1128;p52"/>
          <p:cNvSpPr txBox="1"/>
          <p:nvPr/>
        </p:nvSpPr>
        <p:spPr>
          <a:xfrm>
            <a:off x="6202100" y="3646800"/>
            <a:ext cx="1594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A(B+CD) +BC’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9" name="Google Shape;1129;p52"/>
          <p:cNvSpPr txBox="1"/>
          <p:nvPr/>
        </p:nvSpPr>
        <p:spPr>
          <a:xfrm>
            <a:off x="6971175" y="583738"/>
            <a:ext cx="242400" cy="3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0" name="Google Shape;1130;p52"/>
          <p:cNvSpPr txBox="1"/>
          <p:nvPr/>
        </p:nvSpPr>
        <p:spPr>
          <a:xfrm>
            <a:off x="8171625" y="622713"/>
            <a:ext cx="521700" cy="4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A’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1" name="Google Shape;1131;p52"/>
          <p:cNvSpPr txBox="1"/>
          <p:nvPr/>
        </p:nvSpPr>
        <p:spPr>
          <a:xfrm>
            <a:off x="6944000" y="1264738"/>
            <a:ext cx="3738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2" name="Google Shape;1132;p52"/>
          <p:cNvSpPr txBox="1"/>
          <p:nvPr/>
        </p:nvSpPr>
        <p:spPr>
          <a:xfrm>
            <a:off x="6944000" y="1502050"/>
            <a:ext cx="3738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3" name="Google Shape;1133;p52"/>
          <p:cNvSpPr txBox="1"/>
          <p:nvPr/>
        </p:nvSpPr>
        <p:spPr>
          <a:xfrm>
            <a:off x="8457500" y="1254138"/>
            <a:ext cx="4881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AB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4" name="Google Shape;1134;p52"/>
          <p:cNvSpPr txBox="1"/>
          <p:nvPr/>
        </p:nvSpPr>
        <p:spPr>
          <a:xfrm>
            <a:off x="7070175" y="2745563"/>
            <a:ext cx="3738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5" name="Google Shape;1135;p52"/>
          <p:cNvSpPr txBox="1"/>
          <p:nvPr/>
        </p:nvSpPr>
        <p:spPr>
          <a:xfrm>
            <a:off x="7036600" y="2269663"/>
            <a:ext cx="3738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6" name="Google Shape;1136;p52"/>
          <p:cNvSpPr txBox="1"/>
          <p:nvPr/>
        </p:nvSpPr>
        <p:spPr>
          <a:xfrm>
            <a:off x="8457500" y="2180538"/>
            <a:ext cx="6030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A+B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0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Google Shape;1141;p53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42" name="Google Shape;1142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143" name="Google Shape;1143;p5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pic>
        <p:nvPicPr>
          <p:cNvPr id="1144" name="Google Shape;1144;p53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0" y="812207"/>
            <a:ext cx="1387924" cy="485001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1145" name="Google Shape;1145;p53"/>
          <p:cNvSpPr txBox="1"/>
          <p:nvPr/>
        </p:nvSpPr>
        <p:spPr>
          <a:xfrm>
            <a:off x="328350" y="766838"/>
            <a:ext cx="8630700" cy="37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514350" lvl="0" marL="51435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Steps: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AutoNum type="arabicPeriod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If an expression is given, represent it using AND,OR and NOT gates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AutoNum type="arabicPeriod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Draw each gate with equivalent NOR representation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AutoNum type="arabicPeriod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Remove any 2 cascading inverters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AutoNum type="arabicPeriod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Remove inverters from single input connection and replace input with its complement.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514350" lvl="0" marL="51435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514350" lvl="0" marL="51435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46" name="Google Shape;1146;p53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1147" name="Google Shape;1147;p53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8" name="Google Shape;1148;p53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9" name="Google Shape;1149;p53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50" name="Google Shape;1150;p53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Use NOR to Implement A Function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1" name="Google Shape;1151;p53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2" name="Google Shape;1152;p53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3" name="Google Shape;1153;p53"/>
          <p:cNvSpPr/>
          <p:nvPr/>
        </p:nvSpPr>
        <p:spPr>
          <a:xfrm>
            <a:off x="6694721" y="4082146"/>
            <a:ext cx="1731135" cy="795337"/>
          </a:xfrm>
          <a:custGeom>
            <a:rect b="b" l="l" r="r" t="t"/>
            <a:pathLst>
              <a:path extrusionOk="0" h="949656" w="1775523">
                <a:moveTo>
                  <a:pt x="1439418" y="0"/>
                </a:moveTo>
                <a:lnTo>
                  <a:pt x="336232" y="0"/>
                </a:lnTo>
                <a:cubicBezTo>
                  <a:pt x="151320" y="0"/>
                  <a:pt x="0" y="151321"/>
                  <a:pt x="0" y="336233"/>
                </a:cubicBezTo>
                <a:lnTo>
                  <a:pt x="0" y="336233"/>
                </a:lnTo>
                <a:cubicBezTo>
                  <a:pt x="0" y="521145"/>
                  <a:pt x="151320" y="672465"/>
                  <a:pt x="336232" y="672465"/>
                </a:cubicBezTo>
                <a:lnTo>
                  <a:pt x="1208912" y="672465"/>
                </a:lnTo>
                <a:cubicBezTo>
                  <a:pt x="1243330" y="724091"/>
                  <a:pt x="1406017" y="956183"/>
                  <a:pt x="1544827" y="949516"/>
                </a:cubicBezTo>
                <a:lnTo>
                  <a:pt x="1545018" y="949516"/>
                </a:lnTo>
                <a:cubicBezTo>
                  <a:pt x="1551939" y="949516"/>
                  <a:pt x="1555750" y="941515"/>
                  <a:pt x="1551305" y="936181"/>
                </a:cubicBezTo>
                <a:cubicBezTo>
                  <a:pt x="1540700" y="923481"/>
                  <a:pt x="1529143" y="904431"/>
                  <a:pt x="1523364" y="893763"/>
                </a:cubicBezTo>
                <a:cubicBezTo>
                  <a:pt x="1516825" y="881761"/>
                  <a:pt x="1463992" y="766191"/>
                  <a:pt x="1473073" y="670751"/>
                </a:cubicBezTo>
                <a:cubicBezTo>
                  <a:pt x="1642300" y="653669"/>
                  <a:pt x="1775523" y="509778"/>
                  <a:pt x="1775523" y="336233"/>
                </a:cubicBezTo>
                <a:lnTo>
                  <a:pt x="1775523" y="336233"/>
                </a:lnTo>
                <a:cubicBezTo>
                  <a:pt x="1775523" y="151321"/>
                  <a:pt x="1624202" y="0"/>
                  <a:pt x="1439291" y="0"/>
                </a:cubicBezTo>
                <a:close/>
              </a:path>
            </a:pathLst>
          </a:custGeom>
          <a:solidFill>
            <a:srgbClr val="28C8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400" u="sng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Tutorial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7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p54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59" name="Google Shape;1159;p54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1160" name="Google Shape;1160;p54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1" name="Google Shape;1161;p54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2" name="Google Shape;1162;p54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163" name="Google Shape;1163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164" name="Google Shape;1164;p5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165" name="Google Shape;1165;p54"/>
          <p:cNvSpPr txBox="1"/>
          <p:nvPr/>
        </p:nvSpPr>
        <p:spPr>
          <a:xfrm>
            <a:off x="328350" y="766912"/>
            <a:ext cx="8630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Use NOR to represent F=A(B+CD)+BC’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6" name="Google Shape;1166;p54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Exercise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7" name="Google Shape;1167;p54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8" name="Google Shape;1168;p54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69" name="Google Shape;1169;p54"/>
          <p:cNvCxnSpPr/>
          <p:nvPr/>
        </p:nvCxnSpPr>
        <p:spPr>
          <a:xfrm>
            <a:off x="628565" y="1687994"/>
            <a:ext cx="7800" cy="30873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70" name="Google Shape;1170;p54"/>
          <p:cNvCxnSpPr/>
          <p:nvPr/>
        </p:nvCxnSpPr>
        <p:spPr>
          <a:xfrm>
            <a:off x="1066230" y="1687994"/>
            <a:ext cx="23100" cy="3081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71" name="Google Shape;1171;p54"/>
          <p:cNvCxnSpPr/>
          <p:nvPr/>
        </p:nvCxnSpPr>
        <p:spPr>
          <a:xfrm>
            <a:off x="1503894" y="1687994"/>
            <a:ext cx="11700" cy="30873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72" name="Google Shape;1172;p54"/>
          <p:cNvCxnSpPr/>
          <p:nvPr/>
        </p:nvCxnSpPr>
        <p:spPr>
          <a:xfrm>
            <a:off x="1941559" y="1687994"/>
            <a:ext cx="23700" cy="3081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73" name="Google Shape;1173;p54"/>
          <p:cNvSpPr txBox="1"/>
          <p:nvPr/>
        </p:nvSpPr>
        <p:spPr>
          <a:xfrm>
            <a:off x="483775" y="1279000"/>
            <a:ext cx="254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1174" name="Google Shape;1174;p54"/>
          <p:cNvSpPr txBox="1"/>
          <p:nvPr/>
        </p:nvSpPr>
        <p:spPr>
          <a:xfrm>
            <a:off x="918823" y="1279000"/>
            <a:ext cx="254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1175" name="Google Shape;1175;p54"/>
          <p:cNvSpPr txBox="1"/>
          <p:nvPr/>
        </p:nvSpPr>
        <p:spPr>
          <a:xfrm>
            <a:off x="1353872" y="1279000"/>
            <a:ext cx="254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sp>
        <p:nvSpPr>
          <p:cNvPr id="1176" name="Google Shape;1176;p54"/>
          <p:cNvSpPr txBox="1"/>
          <p:nvPr/>
        </p:nvSpPr>
        <p:spPr>
          <a:xfrm>
            <a:off x="1788920" y="1279000"/>
            <a:ext cx="254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grpSp>
        <p:nvGrpSpPr>
          <p:cNvPr id="1177" name="Google Shape;1177;p54"/>
          <p:cNvGrpSpPr/>
          <p:nvPr/>
        </p:nvGrpSpPr>
        <p:grpSpPr>
          <a:xfrm>
            <a:off x="7385230" y="461865"/>
            <a:ext cx="771913" cy="367959"/>
            <a:chOff x="9846973" y="1604865"/>
            <a:chExt cx="1029217" cy="367959"/>
          </a:xfrm>
        </p:grpSpPr>
        <p:cxnSp>
          <p:nvCxnSpPr>
            <p:cNvPr id="1178" name="Google Shape;1178;p54"/>
            <p:cNvCxnSpPr/>
            <p:nvPr/>
          </p:nvCxnSpPr>
          <p:spPr>
            <a:xfrm>
              <a:off x="9846973" y="1784339"/>
              <a:ext cx="2991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179" name="Google Shape;1179;p54"/>
            <p:cNvSpPr/>
            <p:nvPr/>
          </p:nvSpPr>
          <p:spPr>
            <a:xfrm>
              <a:off x="10589930" y="1752149"/>
              <a:ext cx="45600" cy="62100"/>
            </a:xfrm>
            <a:prstGeom prst="flowChartConnector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80" name="Google Shape;1180;p54"/>
            <p:cNvCxnSpPr/>
            <p:nvPr/>
          </p:nvCxnSpPr>
          <p:spPr>
            <a:xfrm rot="10800000">
              <a:off x="10150081" y="1690378"/>
              <a:ext cx="0" cy="189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pic>
          <p:nvPicPr>
            <p:cNvPr id="1181" name="Google Shape;1181;p5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349835" y="1604865"/>
              <a:ext cx="242389" cy="367959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182" name="Google Shape;1182;p54"/>
            <p:cNvCxnSpPr/>
            <p:nvPr/>
          </p:nvCxnSpPr>
          <p:spPr>
            <a:xfrm>
              <a:off x="10637690" y="1775805"/>
              <a:ext cx="2385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83" name="Google Shape;1183;p54"/>
            <p:cNvCxnSpPr/>
            <p:nvPr/>
          </p:nvCxnSpPr>
          <p:spPr>
            <a:xfrm>
              <a:off x="10152524" y="1690402"/>
              <a:ext cx="2385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84" name="Google Shape;1184;p54"/>
            <p:cNvCxnSpPr/>
            <p:nvPr/>
          </p:nvCxnSpPr>
          <p:spPr>
            <a:xfrm>
              <a:off x="10150080" y="1879378"/>
              <a:ext cx="2385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185" name="Google Shape;1185;p54"/>
          <p:cNvGrpSpPr/>
          <p:nvPr/>
        </p:nvGrpSpPr>
        <p:grpSpPr>
          <a:xfrm>
            <a:off x="7385230" y="1158914"/>
            <a:ext cx="1141860" cy="375415"/>
            <a:chOff x="9846973" y="2301914"/>
            <a:chExt cx="1522480" cy="375415"/>
          </a:xfrm>
        </p:grpSpPr>
        <p:grpSp>
          <p:nvGrpSpPr>
            <p:cNvPr id="1186" name="Google Shape;1186;p54"/>
            <p:cNvGrpSpPr/>
            <p:nvPr/>
          </p:nvGrpSpPr>
          <p:grpSpPr>
            <a:xfrm>
              <a:off x="9846973" y="2309370"/>
              <a:ext cx="726110" cy="367959"/>
              <a:chOff x="10150080" y="1604865"/>
              <a:chExt cx="726110" cy="367959"/>
            </a:xfrm>
          </p:grpSpPr>
          <p:sp>
            <p:nvSpPr>
              <p:cNvPr id="1187" name="Google Shape;1187;p54"/>
              <p:cNvSpPr/>
              <p:nvPr/>
            </p:nvSpPr>
            <p:spPr>
              <a:xfrm>
                <a:off x="10589930" y="1752149"/>
                <a:ext cx="45600" cy="62100"/>
              </a:xfrm>
              <a:prstGeom prst="flowChartConnector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1188" name="Google Shape;1188;p5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349835" y="1604865"/>
                <a:ext cx="242389" cy="36795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189" name="Google Shape;1189;p54"/>
              <p:cNvCxnSpPr/>
              <p:nvPr/>
            </p:nvCxnSpPr>
            <p:spPr>
              <a:xfrm>
                <a:off x="10637690" y="1775805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90" name="Google Shape;1190;p54"/>
              <p:cNvCxnSpPr/>
              <p:nvPr/>
            </p:nvCxnSpPr>
            <p:spPr>
              <a:xfrm>
                <a:off x="10152524" y="1690402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91" name="Google Shape;1191;p54"/>
              <p:cNvCxnSpPr/>
              <p:nvPr/>
            </p:nvCxnSpPr>
            <p:spPr>
              <a:xfrm>
                <a:off x="10150080" y="1879378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192" name="Google Shape;1192;p54"/>
            <p:cNvGrpSpPr/>
            <p:nvPr/>
          </p:nvGrpSpPr>
          <p:grpSpPr>
            <a:xfrm>
              <a:off x="10340236" y="2301914"/>
              <a:ext cx="1029217" cy="367959"/>
              <a:chOff x="9846973" y="1604865"/>
              <a:chExt cx="1029217" cy="367959"/>
            </a:xfrm>
          </p:grpSpPr>
          <p:cxnSp>
            <p:nvCxnSpPr>
              <p:cNvPr id="1193" name="Google Shape;1193;p54"/>
              <p:cNvCxnSpPr/>
              <p:nvPr/>
            </p:nvCxnSpPr>
            <p:spPr>
              <a:xfrm>
                <a:off x="9846973" y="1784339"/>
                <a:ext cx="2991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194" name="Google Shape;1194;p54"/>
              <p:cNvSpPr/>
              <p:nvPr/>
            </p:nvSpPr>
            <p:spPr>
              <a:xfrm>
                <a:off x="10589930" y="1752149"/>
                <a:ext cx="45600" cy="62100"/>
              </a:xfrm>
              <a:prstGeom prst="flowChartConnector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195" name="Google Shape;1195;p54"/>
              <p:cNvCxnSpPr/>
              <p:nvPr/>
            </p:nvCxnSpPr>
            <p:spPr>
              <a:xfrm rot="10800000">
                <a:off x="10150081" y="1690378"/>
                <a:ext cx="0" cy="189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pic>
            <p:nvPicPr>
              <p:cNvPr id="1196" name="Google Shape;1196;p5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349835" y="1604865"/>
                <a:ext cx="242389" cy="36795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197" name="Google Shape;1197;p54"/>
              <p:cNvCxnSpPr/>
              <p:nvPr/>
            </p:nvCxnSpPr>
            <p:spPr>
              <a:xfrm>
                <a:off x="10637690" y="1775805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98" name="Google Shape;1198;p54"/>
              <p:cNvCxnSpPr/>
              <p:nvPr/>
            </p:nvCxnSpPr>
            <p:spPr>
              <a:xfrm>
                <a:off x="10152524" y="1690402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99" name="Google Shape;1199;p54"/>
              <p:cNvCxnSpPr/>
              <p:nvPr/>
            </p:nvCxnSpPr>
            <p:spPr>
              <a:xfrm>
                <a:off x="10150080" y="1879378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grpSp>
        <p:nvGrpSpPr>
          <p:cNvPr id="1200" name="Google Shape;1200;p54"/>
          <p:cNvGrpSpPr/>
          <p:nvPr/>
        </p:nvGrpSpPr>
        <p:grpSpPr>
          <a:xfrm>
            <a:off x="2150239" y="1686306"/>
            <a:ext cx="1450325" cy="939915"/>
            <a:chOff x="9871726" y="2987797"/>
            <a:chExt cx="1755416" cy="848758"/>
          </a:xfrm>
        </p:grpSpPr>
        <p:grpSp>
          <p:nvGrpSpPr>
            <p:cNvPr id="1201" name="Google Shape;1201;p54"/>
            <p:cNvGrpSpPr/>
            <p:nvPr/>
          </p:nvGrpSpPr>
          <p:grpSpPr>
            <a:xfrm>
              <a:off x="9874015" y="2987797"/>
              <a:ext cx="1029217" cy="367959"/>
              <a:chOff x="9846973" y="1604865"/>
              <a:chExt cx="1029217" cy="367959"/>
            </a:xfrm>
          </p:grpSpPr>
          <p:cxnSp>
            <p:nvCxnSpPr>
              <p:cNvPr id="1202" name="Google Shape;1202;p54"/>
              <p:cNvCxnSpPr/>
              <p:nvPr/>
            </p:nvCxnSpPr>
            <p:spPr>
              <a:xfrm>
                <a:off x="9846973" y="1784339"/>
                <a:ext cx="2991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203" name="Google Shape;1203;p54"/>
              <p:cNvSpPr/>
              <p:nvPr/>
            </p:nvSpPr>
            <p:spPr>
              <a:xfrm>
                <a:off x="10589930" y="1752149"/>
                <a:ext cx="45600" cy="62100"/>
              </a:xfrm>
              <a:prstGeom prst="flowChartConnector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204" name="Google Shape;1204;p54"/>
              <p:cNvCxnSpPr/>
              <p:nvPr/>
            </p:nvCxnSpPr>
            <p:spPr>
              <a:xfrm rot="10800000">
                <a:off x="10150081" y="1690378"/>
                <a:ext cx="0" cy="189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pic>
            <p:nvPicPr>
              <p:cNvPr id="1205" name="Google Shape;1205;p5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349835" y="1604865"/>
                <a:ext cx="242389" cy="36795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206" name="Google Shape;1206;p54"/>
              <p:cNvCxnSpPr/>
              <p:nvPr/>
            </p:nvCxnSpPr>
            <p:spPr>
              <a:xfrm>
                <a:off x="10637690" y="1775805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07" name="Google Shape;1207;p54"/>
              <p:cNvCxnSpPr/>
              <p:nvPr/>
            </p:nvCxnSpPr>
            <p:spPr>
              <a:xfrm>
                <a:off x="10152524" y="1690402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08" name="Google Shape;1208;p54"/>
              <p:cNvCxnSpPr/>
              <p:nvPr/>
            </p:nvCxnSpPr>
            <p:spPr>
              <a:xfrm>
                <a:off x="10150080" y="1879378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209" name="Google Shape;1209;p54"/>
            <p:cNvGrpSpPr/>
            <p:nvPr/>
          </p:nvGrpSpPr>
          <p:grpSpPr>
            <a:xfrm>
              <a:off x="9871726" y="3468596"/>
              <a:ext cx="1029217" cy="367959"/>
              <a:chOff x="9846973" y="1604865"/>
              <a:chExt cx="1029217" cy="367959"/>
            </a:xfrm>
          </p:grpSpPr>
          <p:cxnSp>
            <p:nvCxnSpPr>
              <p:cNvPr id="1210" name="Google Shape;1210;p54"/>
              <p:cNvCxnSpPr/>
              <p:nvPr/>
            </p:nvCxnSpPr>
            <p:spPr>
              <a:xfrm>
                <a:off x="9846973" y="1784339"/>
                <a:ext cx="2991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211" name="Google Shape;1211;p54"/>
              <p:cNvSpPr/>
              <p:nvPr/>
            </p:nvSpPr>
            <p:spPr>
              <a:xfrm>
                <a:off x="10589930" y="1752149"/>
                <a:ext cx="45600" cy="62100"/>
              </a:xfrm>
              <a:prstGeom prst="flowChartConnector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212" name="Google Shape;1212;p54"/>
              <p:cNvCxnSpPr/>
              <p:nvPr/>
            </p:nvCxnSpPr>
            <p:spPr>
              <a:xfrm rot="10800000">
                <a:off x="10150081" y="1690378"/>
                <a:ext cx="0" cy="189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pic>
            <p:nvPicPr>
              <p:cNvPr id="1213" name="Google Shape;1213;p5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349835" y="1604865"/>
                <a:ext cx="242389" cy="36795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214" name="Google Shape;1214;p54"/>
              <p:cNvCxnSpPr/>
              <p:nvPr/>
            </p:nvCxnSpPr>
            <p:spPr>
              <a:xfrm>
                <a:off x="10637690" y="1775805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15" name="Google Shape;1215;p54"/>
              <p:cNvCxnSpPr/>
              <p:nvPr/>
            </p:nvCxnSpPr>
            <p:spPr>
              <a:xfrm>
                <a:off x="10152524" y="1690402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16" name="Google Shape;1216;p54"/>
              <p:cNvCxnSpPr/>
              <p:nvPr/>
            </p:nvCxnSpPr>
            <p:spPr>
              <a:xfrm>
                <a:off x="10150080" y="1879378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217" name="Google Shape;1217;p54"/>
            <p:cNvGrpSpPr/>
            <p:nvPr/>
          </p:nvGrpSpPr>
          <p:grpSpPr>
            <a:xfrm>
              <a:off x="10901032" y="3215157"/>
              <a:ext cx="726110" cy="367959"/>
              <a:chOff x="10150080" y="1604865"/>
              <a:chExt cx="726110" cy="367959"/>
            </a:xfrm>
          </p:grpSpPr>
          <p:sp>
            <p:nvSpPr>
              <p:cNvPr id="1218" name="Google Shape;1218;p54"/>
              <p:cNvSpPr/>
              <p:nvPr/>
            </p:nvSpPr>
            <p:spPr>
              <a:xfrm>
                <a:off x="10589930" y="1752149"/>
                <a:ext cx="45600" cy="62100"/>
              </a:xfrm>
              <a:prstGeom prst="flowChartConnector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1219" name="Google Shape;1219;p5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349835" y="1604865"/>
                <a:ext cx="242389" cy="36795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220" name="Google Shape;1220;p54"/>
              <p:cNvCxnSpPr/>
              <p:nvPr/>
            </p:nvCxnSpPr>
            <p:spPr>
              <a:xfrm>
                <a:off x="10637690" y="1775805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21" name="Google Shape;1221;p54"/>
              <p:cNvCxnSpPr/>
              <p:nvPr/>
            </p:nvCxnSpPr>
            <p:spPr>
              <a:xfrm>
                <a:off x="10152524" y="1690402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22" name="Google Shape;1222;p54"/>
              <p:cNvCxnSpPr/>
              <p:nvPr/>
            </p:nvCxnSpPr>
            <p:spPr>
              <a:xfrm>
                <a:off x="10150080" y="1879378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1223" name="Google Shape;1223;p54"/>
            <p:cNvCxnSpPr/>
            <p:nvPr/>
          </p:nvCxnSpPr>
          <p:spPr>
            <a:xfrm rot="10800000">
              <a:off x="10901032" y="3489537"/>
              <a:ext cx="0" cy="150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24" name="Google Shape;1224;p54"/>
            <p:cNvCxnSpPr/>
            <p:nvPr/>
          </p:nvCxnSpPr>
          <p:spPr>
            <a:xfrm rot="10800000">
              <a:off x="10901032" y="3163294"/>
              <a:ext cx="0" cy="1374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225" name="Google Shape;1225;p54"/>
          <p:cNvGrpSpPr/>
          <p:nvPr/>
        </p:nvGrpSpPr>
        <p:grpSpPr>
          <a:xfrm>
            <a:off x="4853356" y="2710655"/>
            <a:ext cx="1450325" cy="939915"/>
            <a:chOff x="9871726" y="2987797"/>
            <a:chExt cx="1755416" cy="848758"/>
          </a:xfrm>
        </p:grpSpPr>
        <p:grpSp>
          <p:nvGrpSpPr>
            <p:cNvPr id="1226" name="Google Shape;1226;p54"/>
            <p:cNvGrpSpPr/>
            <p:nvPr/>
          </p:nvGrpSpPr>
          <p:grpSpPr>
            <a:xfrm>
              <a:off x="9874015" y="2987797"/>
              <a:ext cx="1029217" cy="367959"/>
              <a:chOff x="9846973" y="1604865"/>
              <a:chExt cx="1029217" cy="367959"/>
            </a:xfrm>
          </p:grpSpPr>
          <p:cxnSp>
            <p:nvCxnSpPr>
              <p:cNvPr id="1227" name="Google Shape;1227;p54"/>
              <p:cNvCxnSpPr/>
              <p:nvPr/>
            </p:nvCxnSpPr>
            <p:spPr>
              <a:xfrm>
                <a:off x="9846973" y="1784339"/>
                <a:ext cx="2991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228" name="Google Shape;1228;p54"/>
              <p:cNvSpPr/>
              <p:nvPr/>
            </p:nvSpPr>
            <p:spPr>
              <a:xfrm>
                <a:off x="10589930" y="1752149"/>
                <a:ext cx="45600" cy="62100"/>
              </a:xfrm>
              <a:prstGeom prst="flowChartConnector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229" name="Google Shape;1229;p54"/>
              <p:cNvCxnSpPr/>
              <p:nvPr/>
            </p:nvCxnSpPr>
            <p:spPr>
              <a:xfrm rot="10800000">
                <a:off x="10150081" y="1690378"/>
                <a:ext cx="0" cy="189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pic>
            <p:nvPicPr>
              <p:cNvPr id="1230" name="Google Shape;1230;p5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349835" y="1604865"/>
                <a:ext cx="242389" cy="36795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231" name="Google Shape;1231;p54"/>
              <p:cNvCxnSpPr/>
              <p:nvPr/>
            </p:nvCxnSpPr>
            <p:spPr>
              <a:xfrm>
                <a:off x="10637690" y="1775805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32" name="Google Shape;1232;p54"/>
              <p:cNvCxnSpPr/>
              <p:nvPr/>
            </p:nvCxnSpPr>
            <p:spPr>
              <a:xfrm>
                <a:off x="10152524" y="1690402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33" name="Google Shape;1233;p54"/>
              <p:cNvCxnSpPr/>
              <p:nvPr/>
            </p:nvCxnSpPr>
            <p:spPr>
              <a:xfrm>
                <a:off x="10150080" y="1879378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234" name="Google Shape;1234;p54"/>
            <p:cNvGrpSpPr/>
            <p:nvPr/>
          </p:nvGrpSpPr>
          <p:grpSpPr>
            <a:xfrm>
              <a:off x="9871726" y="3468596"/>
              <a:ext cx="1029217" cy="367959"/>
              <a:chOff x="9846973" y="1604865"/>
              <a:chExt cx="1029217" cy="367959"/>
            </a:xfrm>
          </p:grpSpPr>
          <p:cxnSp>
            <p:nvCxnSpPr>
              <p:cNvPr id="1235" name="Google Shape;1235;p54"/>
              <p:cNvCxnSpPr/>
              <p:nvPr/>
            </p:nvCxnSpPr>
            <p:spPr>
              <a:xfrm>
                <a:off x="9846973" y="1784339"/>
                <a:ext cx="2991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236" name="Google Shape;1236;p54"/>
              <p:cNvSpPr/>
              <p:nvPr/>
            </p:nvSpPr>
            <p:spPr>
              <a:xfrm>
                <a:off x="10589930" y="1752149"/>
                <a:ext cx="45600" cy="62100"/>
              </a:xfrm>
              <a:prstGeom prst="flowChartConnector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237" name="Google Shape;1237;p54"/>
              <p:cNvCxnSpPr/>
              <p:nvPr/>
            </p:nvCxnSpPr>
            <p:spPr>
              <a:xfrm rot="10800000">
                <a:off x="10150081" y="1690378"/>
                <a:ext cx="0" cy="189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pic>
            <p:nvPicPr>
              <p:cNvPr id="1238" name="Google Shape;1238;p5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349835" y="1604865"/>
                <a:ext cx="242389" cy="36795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239" name="Google Shape;1239;p54"/>
              <p:cNvCxnSpPr/>
              <p:nvPr/>
            </p:nvCxnSpPr>
            <p:spPr>
              <a:xfrm>
                <a:off x="10637690" y="1775805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40" name="Google Shape;1240;p54"/>
              <p:cNvCxnSpPr/>
              <p:nvPr/>
            </p:nvCxnSpPr>
            <p:spPr>
              <a:xfrm>
                <a:off x="10152524" y="1690402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41" name="Google Shape;1241;p54"/>
              <p:cNvCxnSpPr/>
              <p:nvPr/>
            </p:nvCxnSpPr>
            <p:spPr>
              <a:xfrm>
                <a:off x="10150080" y="1879378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242" name="Google Shape;1242;p54"/>
            <p:cNvGrpSpPr/>
            <p:nvPr/>
          </p:nvGrpSpPr>
          <p:grpSpPr>
            <a:xfrm>
              <a:off x="10901032" y="3215157"/>
              <a:ext cx="726110" cy="367959"/>
              <a:chOff x="10150080" y="1604865"/>
              <a:chExt cx="726110" cy="367959"/>
            </a:xfrm>
          </p:grpSpPr>
          <p:sp>
            <p:nvSpPr>
              <p:cNvPr id="1243" name="Google Shape;1243;p54"/>
              <p:cNvSpPr/>
              <p:nvPr/>
            </p:nvSpPr>
            <p:spPr>
              <a:xfrm>
                <a:off x="10589930" y="1752149"/>
                <a:ext cx="45600" cy="62100"/>
              </a:xfrm>
              <a:prstGeom prst="flowChartConnector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1244" name="Google Shape;1244;p5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349835" y="1604865"/>
                <a:ext cx="242389" cy="36795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245" name="Google Shape;1245;p54"/>
              <p:cNvCxnSpPr/>
              <p:nvPr/>
            </p:nvCxnSpPr>
            <p:spPr>
              <a:xfrm>
                <a:off x="10637690" y="1775805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46" name="Google Shape;1246;p54"/>
              <p:cNvCxnSpPr/>
              <p:nvPr/>
            </p:nvCxnSpPr>
            <p:spPr>
              <a:xfrm>
                <a:off x="10152524" y="1690402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47" name="Google Shape;1247;p54"/>
              <p:cNvCxnSpPr/>
              <p:nvPr/>
            </p:nvCxnSpPr>
            <p:spPr>
              <a:xfrm>
                <a:off x="10150080" y="1879378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1248" name="Google Shape;1248;p54"/>
            <p:cNvCxnSpPr/>
            <p:nvPr/>
          </p:nvCxnSpPr>
          <p:spPr>
            <a:xfrm rot="10800000">
              <a:off x="10901032" y="3489537"/>
              <a:ext cx="0" cy="150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49" name="Google Shape;1249;p54"/>
            <p:cNvCxnSpPr/>
            <p:nvPr/>
          </p:nvCxnSpPr>
          <p:spPr>
            <a:xfrm rot="10800000">
              <a:off x="10901032" y="3163294"/>
              <a:ext cx="0" cy="1374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1250" name="Google Shape;1250;p54"/>
          <p:cNvCxnSpPr/>
          <p:nvPr/>
        </p:nvCxnSpPr>
        <p:spPr>
          <a:xfrm>
            <a:off x="1503894" y="1886114"/>
            <a:ext cx="7152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51" name="Google Shape;1251;p54"/>
          <p:cNvCxnSpPr/>
          <p:nvPr/>
        </p:nvCxnSpPr>
        <p:spPr>
          <a:xfrm>
            <a:off x="1937763" y="2415646"/>
            <a:ext cx="4305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52" name="Google Shape;1252;p54"/>
          <p:cNvSpPr txBox="1"/>
          <p:nvPr/>
        </p:nvSpPr>
        <p:spPr>
          <a:xfrm>
            <a:off x="3339662" y="1729690"/>
            <a:ext cx="67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CD</a:t>
            </a:r>
            <a:endParaRPr/>
          </a:p>
        </p:txBody>
      </p:sp>
      <p:grpSp>
        <p:nvGrpSpPr>
          <p:cNvPr id="1253" name="Google Shape;1253;p54"/>
          <p:cNvGrpSpPr/>
          <p:nvPr/>
        </p:nvGrpSpPr>
        <p:grpSpPr>
          <a:xfrm>
            <a:off x="3597387" y="2387035"/>
            <a:ext cx="1257873" cy="415734"/>
            <a:chOff x="9846973" y="2301914"/>
            <a:chExt cx="1522480" cy="375415"/>
          </a:xfrm>
        </p:grpSpPr>
        <p:grpSp>
          <p:nvGrpSpPr>
            <p:cNvPr id="1254" name="Google Shape;1254;p54"/>
            <p:cNvGrpSpPr/>
            <p:nvPr/>
          </p:nvGrpSpPr>
          <p:grpSpPr>
            <a:xfrm>
              <a:off x="9846973" y="2309370"/>
              <a:ext cx="726110" cy="367959"/>
              <a:chOff x="10150080" y="1604865"/>
              <a:chExt cx="726110" cy="367959"/>
            </a:xfrm>
          </p:grpSpPr>
          <p:sp>
            <p:nvSpPr>
              <p:cNvPr id="1255" name="Google Shape;1255;p54"/>
              <p:cNvSpPr/>
              <p:nvPr/>
            </p:nvSpPr>
            <p:spPr>
              <a:xfrm>
                <a:off x="10589930" y="1752149"/>
                <a:ext cx="45600" cy="62100"/>
              </a:xfrm>
              <a:prstGeom prst="flowChartConnector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1256" name="Google Shape;1256;p5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349835" y="1604865"/>
                <a:ext cx="242389" cy="36795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257" name="Google Shape;1257;p54"/>
              <p:cNvCxnSpPr/>
              <p:nvPr/>
            </p:nvCxnSpPr>
            <p:spPr>
              <a:xfrm>
                <a:off x="10637690" y="1775805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58" name="Google Shape;1258;p54"/>
              <p:cNvCxnSpPr/>
              <p:nvPr/>
            </p:nvCxnSpPr>
            <p:spPr>
              <a:xfrm>
                <a:off x="10152524" y="1690402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59" name="Google Shape;1259;p54"/>
              <p:cNvCxnSpPr/>
              <p:nvPr/>
            </p:nvCxnSpPr>
            <p:spPr>
              <a:xfrm>
                <a:off x="10150080" y="1879378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260" name="Google Shape;1260;p54"/>
            <p:cNvGrpSpPr/>
            <p:nvPr/>
          </p:nvGrpSpPr>
          <p:grpSpPr>
            <a:xfrm>
              <a:off x="10340236" y="2301914"/>
              <a:ext cx="1029217" cy="367959"/>
              <a:chOff x="9846973" y="1604865"/>
              <a:chExt cx="1029217" cy="367959"/>
            </a:xfrm>
          </p:grpSpPr>
          <p:cxnSp>
            <p:nvCxnSpPr>
              <p:cNvPr id="1261" name="Google Shape;1261;p54"/>
              <p:cNvCxnSpPr/>
              <p:nvPr/>
            </p:nvCxnSpPr>
            <p:spPr>
              <a:xfrm>
                <a:off x="9846973" y="1784339"/>
                <a:ext cx="2991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262" name="Google Shape;1262;p54"/>
              <p:cNvSpPr/>
              <p:nvPr/>
            </p:nvSpPr>
            <p:spPr>
              <a:xfrm>
                <a:off x="10589930" y="1752149"/>
                <a:ext cx="45600" cy="62100"/>
              </a:xfrm>
              <a:prstGeom prst="flowChartConnector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263" name="Google Shape;1263;p54"/>
              <p:cNvCxnSpPr/>
              <p:nvPr/>
            </p:nvCxnSpPr>
            <p:spPr>
              <a:xfrm rot="10800000">
                <a:off x="10150081" y="1690378"/>
                <a:ext cx="0" cy="189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pic>
            <p:nvPicPr>
              <p:cNvPr id="1264" name="Google Shape;1264;p5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349835" y="1604865"/>
                <a:ext cx="242389" cy="36795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265" name="Google Shape;1265;p54"/>
              <p:cNvCxnSpPr/>
              <p:nvPr/>
            </p:nvCxnSpPr>
            <p:spPr>
              <a:xfrm>
                <a:off x="10637690" y="1775805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66" name="Google Shape;1266;p54"/>
              <p:cNvCxnSpPr/>
              <p:nvPr/>
            </p:nvCxnSpPr>
            <p:spPr>
              <a:xfrm>
                <a:off x="10152524" y="1690402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67" name="Google Shape;1267;p54"/>
              <p:cNvCxnSpPr/>
              <p:nvPr/>
            </p:nvCxnSpPr>
            <p:spPr>
              <a:xfrm>
                <a:off x="10150080" y="1879378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cxnSp>
        <p:nvCxnSpPr>
          <p:cNvPr id="1268" name="Google Shape;1268;p54"/>
          <p:cNvCxnSpPr/>
          <p:nvPr/>
        </p:nvCxnSpPr>
        <p:spPr>
          <a:xfrm flipH="1" rot="10800000">
            <a:off x="1077802" y="2700119"/>
            <a:ext cx="2521800" cy="105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69" name="Google Shape;1269;p54"/>
          <p:cNvCxnSpPr/>
          <p:nvPr/>
        </p:nvCxnSpPr>
        <p:spPr>
          <a:xfrm>
            <a:off x="3599968" y="2127342"/>
            <a:ext cx="0" cy="360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70" name="Google Shape;1270;p54"/>
          <p:cNvSpPr txBox="1"/>
          <p:nvPr/>
        </p:nvSpPr>
        <p:spPr>
          <a:xfrm>
            <a:off x="4567853" y="2194488"/>
            <a:ext cx="849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B+CD</a:t>
            </a:r>
            <a:endParaRPr/>
          </a:p>
        </p:txBody>
      </p:sp>
      <p:grpSp>
        <p:nvGrpSpPr>
          <p:cNvPr id="1271" name="Google Shape;1271;p54"/>
          <p:cNvGrpSpPr/>
          <p:nvPr/>
        </p:nvGrpSpPr>
        <p:grpSpPr>
          <a:xfrm>
            <a:off x="2981900" y="3548352"/>
            <a:ext cx="1450325" cy="939915"/>
            <a:chOff x="9871726" y="2987797"/>
            <a:chExt cx="1755416" cy="848758"/>
          </a:xfrm>
        </p:grpSpPr>
        <p:grpSp>
          <p:nvGrpSpPr>
            <p:cNvPr id="1272" name="Google Shape;1272;p54"/>
            <p:cNvGrpSpPr/>
            <p:nvPr/>
          </p:nvGrpSpPr>
          <p:grpSpPr>
            <a:xfrm>
              <a:off x="9874015" y="2987797"/>
              <a:ext cx="1029217" cy="367959"/>
              <a:chOff x="9846973" y="1604865"/>
              <a:chExt cx="1029217" cy="367959"/>
            </a:xfrm>
          </p:grpSpPr>
          <p:cxnSp>
            <p:nvCxnSpPr>
              <p:cNvPr id="1273" name="Google Shape;1273;p54"/>
              <p:cNvCxnSpPr/>
              <p:nvPr/>
            </p:nvCxnSpPr>
            <p:spPr>
              <a:xfrm>
                <a:off x="9846973" y="1784339"/>
                <a:ext cx="2991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274" name="Google Shape;1274;p54"/>
              <p:cNvSpPr/>
              <p:nvPr/>
            </p:nvSpPr>
            <p:spPr>
              <a:xfrm>
                <a:off x="10589930" y="1752149"/>
                <a:ext cx="45600" cy="62100"/>
              </a:xfrm>
              <a:prstGeom prst="flowChartConnector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275" name="Google Shape;1275;p54"/>
              <p:cNvCxnSpPr/>
              <p:nvPr/>
            </p:nvCxnSpPr>
            <p:spPr>
              <a:xfrm rot="10800000">
                <a:off x="10150081" y="1690378"/>
                <a:ext cx="0" cy="189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pic>
            <p:nvPicPr>
              <p:cNvPr id="1276" name="Google Shape;1276;p5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349835" y="1604865"/>
                <a:ext cx="242389" cy="36795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277" name="Google Shape;1277;p54"/>
              <p:cNvCxnSpPr/>
              <p:nvPr/>
            </p:nvCxnSpPr>
            <p:spPr>
              <a:xfrm>
                <a:off x="10637690" y="1775805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78" name="Google Shape;1278;p54"/>
              <p:cNvCxnSpPr/>
              <p:nvPr/>
            </p:nvCxnSpPr>
            <p:spPr>
              <a:xfrm>
                <a:off x="10152524" y="1690402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79" name="Google Shape;1279;p54"/>
              <p:cNvCxnSpPr/>
              <p:nvPr/>
            </p:nvCxnSpPr>
            <p:spPr>
              <a:xfrm>
                <a:off x="10150080" y="1879378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280" name="Google Shape;1280;p54"/>
            <p:cNvGrpSpPr/>
            <p:nvPr/>
          </p:nvGrpSpPr>
          <p:grpSpPr>
            <a:xfrm>
              <a:off x="9871726" y="3468596"/>
              <a:ext cx="1029217" cy="367959"/>
              <a:chOff x="9846973" y="1604865"/>
              <a:chExt cx="1029217" cy="367959"/>
            </a:xfrm>
          </p:grpSpPr>
          <p:cxnSp>
            <p:nvCxnSpPr>
              <p:cNvPr id="1281" name="Google Shape;1281;p54"/>
              <p:cNvCxnSpPr/>
              <p:nvPr/>
            </p:nvCxnSpPr>
            <p:spPr>
              <a:xfrm>
                <a:off x="9846973" y="1784339"/>
                <a:ext cx="2991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282" name="Google Shape;1282;p54"/>
              <p:cNvSpPr/>
              <p:nvPr/>
            </p:nvSpPr>
            <p:spPr>
              <a:xfrm>
                <a:off x="10589930" y="1752149"/>
                <a:ext cx="45600" cy="62100"/>
              </a:xfrm>
              <a:prstGeom prst="flowChartConnector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283" name="Google Shape;1283;p54"/>
              <p:cNvCxnSpPr/>
              <p:nvPr/>
            </p:nvCxnSpPr>
            <p:spPr>
              <a:xfrm rot="10800000">
                <a:off x="10150081" y="1690378"/>
                <a:ext cx="0" cy="189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pic>
            <p:nvPicPr>
              <p:cNvPr id="1284" name="Google Shape;1284;p5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349835" y="1604865"/>
                <a:ext cx="242389" cy="36795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285" name="Google Shape;1285;p54"/>
              <p:cNvCxnSpPr/>
              <p:nvPr/>
            </p:nvCxnSpPr>
            <p:spPr>
              <a:xfrm>
                <a:off x="10637690" y="1775805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86" name="Google Shape;1286;p54"/>
              <p:cNvCxnSpPr/>
              <p:nvPr/>
            </p:nvCxnSpPr>
            <p:spPr>
              <a:xfrm>
                <a:off x="10152524" y="1690402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87" name="Google Shape;1287;p54"/>
              <p:cNvCxnSpPr/>
              <p:nvPr/>
            </p:nvCxnSpPr>
            <p:spPr>
              <a:xfrm>
                <a:off x="10150080" y="1879378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288" name="Google Shape;1288;p54"/>
            <p:cNvGrpSpPr/>
            <p:nvPr/>
          </p:nvGrpSpPr>
          <p:grpSpPr>
            <a:xfrm>
              <a:off x="10901032" y="3215157"/>
              <a:ext cx="726110" cy="367959"/>
              <a:chOff x="10150080" y="1604865"/>
              <a:chExt cx="726110" cy="367959"/>
            </a:xfrm>
          </p:grpSpPr>
          <p:sp>
            <p:nvSpPr>
              <p:cNvPr id="1289" name="Google Shape;1289;p54"/>
              <p:cNvSpPr/>
              <p:nvPr/>
            </p:nvSpPr>
            <p:spPr>
              <a:xfrm>
                <a:off x="10589930" y="1752149"/>
                <a:ext cx="45600" cy="62100"/>
              </a:xfrm>
              <a:prstGeom prst="flowChartConnector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1290" name="Google Shape;1290;p5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349835" y="1604865"/>
                <a:ext cx="242389" cy="36795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291" name="Google Shape;1291;p54"/>
              <p:cNvCxnSpPr/>
              <p:nvPr/>
            </p:nvCxnSpPr>
            <p:spPr>
              <a:xfrm>
                <a:off x="10637690" y="1775805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92" name="Google Shape;1292;p54"/>
              <p:cNvCxnSpPr/>
              <p:nvPr/>
            </p:nvCxnSpPr>
            <p:spPr>
              <a:xfrm>
                <a:off x="10152524" y="1690402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93" name="Google Shape;1293;p54"/>
              <p:cNvCxnSpPr/>
              <p:nvPr/>
            </p:nvCxnSpPr>
            <p:spPr>
              <a:xfrm>
                <a:off x="10150080" y="1879378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1294" name="Google Shape;1294;p54"/>
            <p:cNvCxnSpPr/>
            <p:nvPr/>
          </p:nvCxnSpPr>
          <p:spPr>
            <a:xfrm rot="10800000">
              <a:off x="10901032" y="3489537"/>
              <a:ext cx="0" cy="150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95" name="Google Shape;1295;p54"/>
            <p:cNvCxnSpPr/>
            <p:nvPr/>
          </p:nvCxnSpPr>
          <p:spPr>
            <a:xfrm rot="10800000">
              <a:off x="10901032" y="3163294"/>
              <a:ext cx="0" cy="1374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1296" name="Google Shape;1296;p54"/>
          <p:cNvCxnSpPr/>
          <p:nvPr/>
        </p:nvCxnSpPr>
        <p:spPr>
          <a:xfrm>
            <a:off x="4852788" y="2576304"/>
            <a:ext cx="0" cy="333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97" name="Google Shape;1297;p54"/>
          <p:cNvCxnSpPr/>
          <p:nvPr/>
        </p:nvCxnSpPr>
        <p:spPr>
          <a:xfrm flipH="1" rot="10800000">
            <a:off x="636119" y="3441673"/>
            <a:ext cx="4264800" cy="7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98" name="Google Shape;1298;p54"/>
          <p:cNvSpPr txBox="1"/>
          <p:nvPr/>
        </p:nvSpPr>
        <p:spPr>
          <a:xfrm>
            <a:off x="6038285" y="2742535"/>
            <a:ext cx="111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A(B+CD)</a:t>
            </a:r>
            <a:endParaRPr/>
          </a:p>
        </p:txBody>
      </p:sp>
      <p:grpSp>
        <p:nvGrpSpPr>
          <p:cNvPr id="1299" name="Google Shape;1299;p54"/>
          <p:cNvGrpSpPr/>
          <p:nvPr/>
        </p:nvGrpSpPr>
        <p:grpSpPr>
          <a:xfrm>
            <a:off x="2153384" y="3559747"/>
            <a:ext cx="850339" cy="407478"/>
            <a:chOff x="9846973" y="1604865"/>
            <a:chExt cx="1029217" cy="367959"/>
          </a:xfrm>
        </p:grpSpPr>
        <p:cxnSp>
          <p:nvCxnSpPr>
            <p:cNvPr id="1300" name="Google Shape;1300;p54"/>
            <p:cNvCxnSpPr/>
            <p:nvPr/>
          </p:nvCxnSpPr>
          <p:spPr>
            <a:xfrm>
              <a:off x="9846973" y="1784339"/>
              <a:ext cx="2991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301" name="Google Shape;1301;p54"/>
            <p:cNvSpPr/>
            <p:nvPr/>
          </p:nvSpPr>
          <p:spPr>
            <a:xfrm>
              <a:off x="10589930" y="1752149"/>
              <a:ext cx="45600" cy="62100"/>
            </a:xfrm>
            <a:prstGeom prst="flowChartConnector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302" name="Google Shape;1302;p54"/>
            <p:cNvCxnSpPr/>
            <p:nvPr/>
          </p:nvCxnSpPr>
          <p:spPr>
            <a:xfrm rot="10800000">
              <a:off x="10150081" y="1690378"/>
              <a:ext cx="0" cy="189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pic>
          <p:nvPicPr>
            <p:cNvPr id="1303" name="Google Shape;1303;p5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349835" y="1604865"/>
              <a:ext cx="242389" cy="367959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304" name="Google Shape;1304;p54"/>
            <p:cNvCxnSpPr/>
            <p:nvPr/>
          </p:nvCxnSpPr>
          <p:spPr>
            <a:xfrm>
              <a:off x="10637690" y="1775805"/>
              <a:ext cx="2385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05" name="Google Shape;1305;p54"/>
            <p:cNvCxnSpPr/>
            <p:nvPr/>
          </p:nvCxnSpPr>
          <p:spPr>
            <a:xfrm>
              <a:off x="10152524" y="1690402"/>
              <a:ext cx="2385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06" name="Google Shape;1306;p54"/>
            <p:cNvCxnSpPr/>
            <p:nvPr/>
          </p:nvCxnSpPr>
          <p:spPr>
            <a:xfrm>
              <a:off x="10150080" y="1879378"/>
              <a:ext cx="2385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1307" name="Google Shape;1307;p54"/>
          <p:cNvCxnSpPr/>
          <p:nvPr/>
        </p:nvCxnSpPr>
        <p:spPr>
          <a:xfrm>
            <a:off x="1507042" y="3756158"/>
            <a:ext cx="6768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08" name="Google Shape;1308;p54"/>
          <p:cNvSpPr txBox="1"/>
          <p:nvPr/>
        </p:nvSpPr>
        <p:spPr>
          <a:xfrm>
            <a:off x="2755625" y="3406150"/>
            <a:ext cx="41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C’</a:t>
            </a:r>
            <a:endParaRPr/>
          </a:p>
        </p:txBody>
      </p:sp>
      <p:grpSp>
        <p:nvGrpSpPr>
          <p:cNvPr id="1309" name="Google Shape;1309;p54"/>
          <p:cNvGrpSpPr/>
          <p:nvPr/>
        </p:nvGrpSpPr>
        <p:grpSpPr>
          <a:xfrm>
            <a:off x="7385230" y="1900889"/>
            <a:ext cx="1316562" cy="848758"/>
            <a:chOff x="9871726" y="2987797"/>
            <a:chExt cx="1755416" cy="848758"/>
          </a:xfrm>
        </p:grpSpPr>
        <p:grpSp>
          <p:nvGrpSpPr>
            <p:cNvPr id="1310" name="Google Shape;1310;p54"/>
            <p:cNvGrpSpPr/>
            <p:nvPr/>
          </p:nvGrpSpPr>
          <p:grpSpPr>
            <a:xfrm>
              <a:off x="9874015" y="2987797"/>
              <a:ext cx="1029217" cy="367959"/>
              <a:chOff x="9846973" y="1604865"/>
              <a:chExt cx="1029217" cy="367959"/>
            </a:xfrm>
          </p:grpSpPr>
          <p:cxnSp>
            <p:nvCxnSpPr>
              <p:cNvPr id="1311" name="Google Shape;1311;p54"/>
              <p:cNvCxnSpPr/>
              <p:nvPr/>
            </p:nvCxnSpPr>
            <p:spPr>
              <a:xfrm>
                <a:off x="9846973" y="1784339"/>
                <a:ext cx="2991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312" name="Google Shape;1312;p54"/>
              <p:cNvSpPr/>
              <p:nvPr/>
            </p:nvSpPr>
            <p:spPr>
              <a:xfrm>
                <a:off x="10589930" y="1752149"/>
                <a:ext cx="45600" cy="62100"/>
              </a:xfrm>
              <a:prstGeom prst="flowChartConnector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313" name="Google Shape;1313;p54"/>
              <p:cNvCxnSpPr/>
              <p:nvPr/>
            </p:nvCxnSpPr>
            <p:spPr>
              <a:xfrm rot="10800000">
                <a:off x="10150081" y="1690378"/>
                <a:ext cx="0" cy="189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pic>
            <p:nvPicPr>
              <p:cNvPr id="1314" name="Google Shape;1314;p5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349835" y="1604865"/>
                <a:ext cx="242389" cy="36795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315" name="Google Shape;1315;p54"/>
              <p:cNvCxnSpPr/>
              <p:nvPr/>
            </p:nvCxnSpPr>
            <p:spPr>
              <a:xfrm>
                <a:off x="10637690" y="1775805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16" name="Google Shape;1316;p54"/>
              <p:cNvCxnSpPr/>
              <p:nvPr/>
            </p:nvCxnSpPr>
            <p:spPr>
              <a:xfrm>
                <a:off x="10152524" y="1690402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17" name="Google Shape;1317;p54"/>
              <p:cNvCxnSpPr/>
              <p:nvPr/>
            </p:nvCxnSpPr>
            <p:spPr>
              <a:xfrm>
                <a:off x="10150080" y="1879378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318" name="Google Shape;1318;p54"/>
            <p:cNvGrpSpPr/>
            <p:nvPr/>
          </p:nvGrpSpPr>
          <p:grpSpPr>
            <a:xfrm>
              <a:off x="9871726" y="3468596"/>
              <a:ext cx="1029217" cy="367959"/>
              <a:chOff x="9846973" y="1604865"/>
              <a:chExt cx="1029217" cy="367959"/>
            </a:xfrm>
          </p:grpSpPr>
          <p:cxnSp>
            <p:nvCxnSpPr>
              <p:cNvPr id="1319" name="Google Shape;1319;p54"/>
              <p:cNvCxnSpPr/>
              <p:nvPr/>
            </p:nvCxnSpPr>
            <p:spPr>
              <a:xfrm>
                <a:off x="9846973" y="1784339"/>
                <a:ext cx="2991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320" name="Google Shape;1320;p54"/>
              <p:cNvSpPr/>
              <p:nvPr/>
            </p:nvSpPr>
            <p:spPr>
              <a:xfrm>
                <a:off x="10589930" y="1752149"/>
                <a:ext cx="45600" cy="62100"/>
              </a:xfrm>
              <a:prstGeom prst="flowChartConnector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321" name="Google Shape;1321;p54"/>
              <p:cNvCxnSpPr/>
              <p:nvPr/>
            </p:nvCxnSpPr>
            <p:spPr>
              <a:xfrm rot="10800000">
                <a:off x="10150081" y="1690378"/>
                <a:ext cx="0" cy="189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pic>
            <p:nvPicPr>
              <p:cNvPr id="1322" name="Google Shape;1322;p5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349835" y="1604865"/>
                <a:ext cx="242389" cy="36795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323" name="Google Shape;1323;p54"/>
              <p:cNvCxnSpPr/>
              <p:nvPr/>
            </p:nvCxnSpPr>
            <p:spPr>
              <a:xfrm>
                <a:off x="10637690" y="1775805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24" name="Google Shape;1324;p54"/>
              <p:cNvCxnSpPr/>
              <p:nvPr/>
            </p:nvCxnSpPr>
            <p:spPr>
              <a:xfrm>
                <a:off x="10152524" y="1690402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25" name="Google Shape;1325;p54"/>
              <p:cNvCxnSpPr/>
              <p:nvPr/>
            </p:nvCxnSpPr>
            <p:spPr>
              <a:xfrm>
                <a:off x="10150080" y="1879378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326" name="Google Shape;1326;p54"/>
            <p:cNvGrpSpPr/>
            <p:nvPr/>
          </p:nvGrpSpPr>
          <p:grpSpPr>
            <a:xfrm>
              <a:off x="10901032" y="3215157"/>
              <a:ext cx="726110" cy="367959"/>
              <a:chOff x="10150080" y="1604865"/>
              <a:chExt cx="726110" cy="367959"/>
            </a:xfrm>
          </p:grpSpPr>
          <p:sp>
            <p:nvSpPr>
              <p:cNvPr id="1327" name="Google Shape;1327;p54"/>
              <p:cNvSpPr/>
              <p:nvPr/>
            </p:nvSpPr>
            <p:spPr>
              <a:xfrm>
                <a:off x="10589930" y="1752149"/>
                <a:ext cx="45600" cy="62100"/>
              </a:xfrm>
              <a:prstGeom prst="flowChartConnector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1328" name="Google Shape;1328;p5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349835" y="1604865"/>
                <a:ext cx="242389" cy="36795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329" name="Google Shape;1329;p54"/>
              <p:cNvCxnSpPr/>
              <p:nvPr/>
            </p:nvCxnSpPr>
            <p:spPr>
              <a:xfrm>
                <a:off x="10637690" y="1775805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30" name="Google Shape;1330;p54"/>
              <p:cNvCxnSpPr/>
              <p:nvPr/>
            </p:nvCxnSpPr>
            <p:spPr>
              <a:xfrm>
                <a:off x="10152524" y="1690402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31" name="Google Shape;1331;p54"/>
              <p:cNvCxnSpPr/>
              <p:nvPr/>
            </p:nvCxnSpPr>
            <p:spPr>
              <a:xfrm>
                <a:off x="10150080" y="1879378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1332" name="Google Shape;1332;p54"/>
            <p:cNvCxnSpPr/>
            <p:nvPr/>
          </p:nvCxnSpPr>
          <p:spPr>
            <a:xfrm rot="10800000">
              <a:off x="10901032" y="3489537"/>
              <a:ext cx="0" cy="150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33" name="Google Shape;1333;p54"/>
            <p:cNvCxnSpPr/>
            <p:nvPr/>
          </p:nvCxnSpPr>
          <p:spPr>
            <a:xfrm rot="10800000">
              <a:off x="10901032" y="3163294"/>
              <a:ext cx="0" cy="1374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1334" name="Google Shape;1334;p54"/>
          <p:cNvCxnSpPr/>
          <p:nvPr/>
        </p:nvCxnSpPr>
        <p:spPr>
          <a:xfrm>
            <a:off x="1089374" y="4279494"/>
            <a:ext cx="19380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35" name="Google Shape;1335;p54"/>
          <p:cNvSpPr txBox="1"/>
          <p:nvPr/>
        </p:nvSpPr>
        <p:spPr>
          <a:xfrm>
            <a:off x="4156224" y="3610650"/>
            <a:ext cx="56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BC’</a:t>
            </a:r>
            <a:endParaRPr/>
          </a:p>
        </p:txBody>
      </p:sp>
      <p:grpSp>
        <p:nvGrpSpPr>
          <p:cNvPr id="1336" name="Google Shape;1336;p54"/>
          <p:cNvGrpSpPr/>
          <p:nvPr/>
        </p:nvGrpSpPr>
        <p:grpSpPr>
          <a:xfrm>
            <a:off x="5108319" y="3922232"/>
            <a:ext cx="1257873" cy="415734"/>
            <a:chOff x="9846973" y="2301914"/>
            <a:chExt cx="1522480" cy="375415"/>
          </a:xfrm>
        </p:grpSpPr>
        <p:grpSp>
          <p:nvGrpSpPr>
            <p:cNvPr id="1337" name="Google Shape;1337;p54"/>
            <p:cNvGrpSpPr/>
            <p:nvPr/>
          </p:nvGrpSpPr>
          <p:grpSpPr>
            <a:xfrm>
              <a:off x="9846973" y="2309370"/>
              <a:ext cx="726110" cy="367959"/>
              <a:chOff x="10150080" y="1604865"/>
              <a:chExt cx="726110" cy="367959"/>
            </a:xfrm>
          </p:grpSpPr>
          <p:sp>
            <p:nvSpPr>
              <p:cNvPr id="1338" name="Google Shape;1338;p54"/>
              <p:cNvSpPr/>
              <p:nvPr/>
            </p:nvSpPr>
            <p:spPr>
              <a:xfrm>
                <a:off x="10589930" y="1752149"/>
                <a:ext cx="45600" cy="62100"/>
              </a:xfrm>
              <a:prstGeom prst="flowChartConnector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1339" name="Google Shape;1339;p5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349835" y="1604865"/>
                <a:ext cx="242389" cy="36795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340" name="Google Shape;1340;p54"/>
              <p:cNvCxnSpPr/>
              <p:nvPr/>
            </p:nvCxnSpPr>
            <p:spPr>
              <a:xfrm>
                <a:off x="10637690" y="1775805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41" name="Google Shape;1341;p54"/>
              <p:cNvCxnSpPr/>
              <p:nvPr/>
            </p:nvCxnSpPr>
            <p:spPr>
              <a:xfrm>
                <a:off x="10152524" y="1690402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42" name="Google Shape;1342;p54"/>
              <p:cNvCxnSpPr/>
              <p:nvPr/>
            </p:nvCxnSpPr>
            <p:spPr>
              <a:xfrm>
                <a:off x="10150080" y="1879378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343" name="Google Shape;1343;p54"/>
            <p:cNvGrpSpPr/>
            <p:nvPr/>
          </p:nvGrpSpPr>
          <p:grpSpPr>
            <a:xfrm>
              <a:off x="10340236" y="2301914"/>
              <a:ext cx="1029217" cy="367959"/>
              <a:chOff x="9846973" y="1604865"/>
              <a:chExt cx="1029217" cy="367959"/>
            </a:xfrm>
          </p:grpSpPr>
          <p:cxnSp>
            <p:nvCxnSpPr>
              <p:cNvPr id="1344" name="Google Shape;1344;p54"/>
              <p:cNvCxnSpPr/>
              <p:nvPr/>
            </p:nvCxnSpPr>
            <p:spPr>
              <a:xfrm>
                <a:off x="9846973" y="1784339"/>
                <a:ext cx="2991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345" name="Google Shape;1345;p54"/>
              <p:cNvSpPr/>
              <p:nvPr/>
            </p:nvSpPr>
            <p:spPr>
              <a:xfrm>
                <a:off x="10589930" y="1752149"/>
                <a:ext cx="45600" cy="62100"/>
              </a:xfrm>
              <a:prstGeom prst="flowChartConnector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346" name="Google Shape;1346;p54"/>
              <p:cNvCxnSpPr/>
              <p:nvPr/>
            </p:nvCxnSpPr>
            <p:spPr>
              <a:xfrm rot="10800000">
                <a:off x="10150081" y="1690378"/>
                <a:ext cx="0" cy="189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pic>
            <p:nvPicPr>
              <p:cNvPr id="1347" name="Google Shape;1347;p5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349835" y="1604865"/>
                <a:ext cx="242389" cy="36795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348" name="Google Shape;1348;p54"/>
              <p:cNvCxnSpPr/>
              <p:nvPr/>
            </p:nvCxnSpPr>
            <p:spPr>
              <a:xfrm>
                <a:off x="10637690" y="1775805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49" name="Google Shape;1349;p54"/>
              <p:cNvCxnSpPr/>
              <p:nvPr/>
            </p:nvCxnSpPr>
            <p:spPr>
              <a:xfrm>
                <a:off x="10152524" y="1690402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50" name="Google Shape;1350;p54"/>
              <p:cNvCxnSpPr/>
              <p:nvPr/>
            </p:nvCxnSpPr>
            <p:spPr>
              <a:xfrm>
                <a:off x="10150080" y="1879378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cxnSp>
        <p:nvCxnSpPr>
          <p:cNvPr id="1351" name="Google Shape;1351;p54"/>
          <p:cNvCxnSpPr/>
          <p:nvPr/>
        </p:nvCxnSpPr>
        <p:spPr>
          <a:xfrm>
            <a:off x="4707600" y="4234412"/>
            <a:ext cx="4305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52" name="Google Shape;1352;p54"/>
          <p:cNvCxnSpPr/>
          <p:nvPr/>
        </p:nvCxnSpPr>
        <p:spPr>
          <a:xfrm>
            <a:off x="4431629" y="3989388"/>
            <a:ext cx="2760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53" name="Google Shape;1353;p54"/>
          <p:cNvCxnSpPr/>
          <p:nvPr/>
        </p:nvCxnSpPr>
        <p:spPr>
          <a:xfrm>
            <a:off x="4707600" y="3989388"/>
            <a:ext cx="0" cy="2451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54" name="Google Shape;1354;p54"/>
          <p:cNvCxnSpPr/>
          <p:nvPr/>
        </p:nvCxnSpPr>
        <p:spPr>
          <a:xfrm flipH="1" rot="10800000">
            <a:off x="5101959" y="3791391"/>
            <a:ext cx="1204800" cy="87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55" name="Google Shape;1355;p54"/>
          <p:cNvCxnSpPr/>
          <p:nvPr/>
        </p:nvCxnSpPr>
        <p:spPr>
          <a:xfrm>
            <a:off x="6305103" y="3147970"/>
            <a:ext cx="0" cy="6435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56" name="Google Shape;1356;p54"/>
          <p:cNvCxnSpPr/>
          <p:nvPr/>
        </p:nvCxnSpPr>
        <p:spPr>
          <a:xfrm>
            <a:off x="5107315" y="3800091"/>
            <a:ext cx="0" cy="2277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57" name="Google Shape;1357;p54"/>
          <p:cNvSpPr txBox="1"/>
          <p:nvPr/>
        </p:nvSpPr>
        <p:spPr>
          <a:xfrm>
            <a:off x="6168511" y="3742589"/>
            <a:ext cx="179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A(B+CD)+BC’</a:t>
            </a:r>
            <a:endParaRPr/>
          </a:p>
        </p:txBody>
      </p:sp>
      <p:sp>
        <p:nvSpPr>
          <p:cNvPr id="1358" name="Google Shape;1358;p54"/>
          <p:cNvSpPr txBox="1"/>
          <p:nvPr/>
        </p:nvSpPr>
        <p:spPr>
          <a:xfrm>
            <a:off x="7170906" y="461865"/>
            <a:ext cx="23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1359" name="Google Shape;1359;p54"/>
          <p:cNvSpPr txBox="1"/>
          <p:nvPr/>
        </p:nvSpPr>
        <p:spPr>
          <a:xfrm>
            <a:off x="7110203" y="1054022"/>
            <a:ext cx="23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1360" name="Google Shape;1360;p54"/>
          <p:cNvSpPr txBox="1"/>
          <p:nvPr/>
        </p:nvSpPr>
        <p:spPr>
          <a:xfrm>
            <a:off x="7161901" y="1891649"/>
            <a:ext cx="23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1361" name="Google Shape;1361;p54"/>
          <p:cNvSpPr txBox="1"/>
          <p:nvPr/>
        </p:nvSpPr>
        <p:spPr>
          <a:xfrm>
            <a:off x="7159250" y="2406408"/>
            <a:ext cx="23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1362" name="Google Shape;1362;p54"/>
          <p:cNvSpPr txBox="1"/>
          <p:nvPr/>
        </p:nvSpPr>
        <p:spPr>
          <a:xfrm>
            <a:off x="7103742" y="1306198"/>
            <a:ext cx="23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1363" name="Google Shape;1363;p54"/>
          <p:cNvSpPr txBox="1"/>
          <p:nvPr/>
        </p:nvSpPr>
        <p:spPr>
          <a:xfrm>
            <a:off x="8124239" y="432999"/>
            <a:ext cx="667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A’</a:t>
            </a:r>
            <a:endParaRPr/>
          </a:p>
        </p:txBody>
      </p:sp>
      <p:sp>
        <p:nvSpPr>
          <p:cNvPr id="1364" name="Google Shape;1364;p54"/>
          <p:cNvSpPr txBox="1"/>
          <p:nvPr/>
        </p:nvSpPr>
        <p:spPr>
          <a:xfrm>
            <a:off x="8505863" y="1142333"/>
            <a:ext cx="667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A+B</a:t>
            </a:r>
            <a:endParaRPr/>
          </a:p>
        </p:txBody>
      </p:sp>
      <p:sp>
        <p:nvSpPr>
          <p:cNvPr id="1365" name="Google Shape;1365;p54"/>
          <p:cNvSpPr txBox="1"/>
          <p:nvPr/>
        </p:nvSpPr>
        <p:spPr>
          <a:xfrm>
            <a:off x="8668889" y="2110275"/>
            <a:ext cx="667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AB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