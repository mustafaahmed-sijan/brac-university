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Roboto Mono Medium"/>
      <p:regular r:id="rId40"/>
      <p:bold r:id="rId41"/>
      <p:italic r:id="rId42"/>
      <p:boldItalic r:id="rId43"/>
    </p:embeddedFont>
    <p:embeddedFont>
      <p:font typeface="Lexend Light"/>
      <p:regular r:id="rId44"/>
      <p:bold r:id="rId45"/>
    </p:embeddedFont>
    <p:embeddedFont>
      <p:font typeface="Lexend Medium"/>
      <p:regular r:id="rId46"/>
      <p:bold r:id="rId47"/>
    </p:embeddedFont>
    <p:embeddedFont>
      <p:font typeface="Lexend"/>
      <p:regular r:id="rId48"/>
      <p:bold r:id="rId49"/>
    </p:embeddedFont>
    <p:embeddedFont>
      <p:font typeface="Roboto Mon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623827D-E9A9-4C25-9243-6ADB782674F1}">
  <a:tblStyle styleId="{D623827D-E9A9-4C25-9243-6ADB782674F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Medium-regular.fntdata"/><Relationship Id="rId42" Type="http://schemas.openxmlformats.org/officeDocument/2006/relationships/font" Target="fonts/RobotoMonoMedium-italic.fntdata"/><Relationship Id="rId41" Type="http://schemas.openxmlformats.org/officeDocument/2006/relationships/font" Target="fonts/RobotoMonoMedium-bold.fntdata"/><Relationship Id="rId44" Type="http://schemas.openxmlformats.org/officeDocument/2006/relationships/font" Target="fonts/LexendLight-regular.fntdata"/><Relationship Id="rId43" Type="http://schemas.openxmlformats.org/officeDocument/2006/relationships/font" Target="fonts/RobotoMonoMedium-boldItalic.fntdata"/><Relationship Id="rId46" Type="http://schemas.openxmlformats.org/officeDocument/2006/relationships/font" Target="fonts/LexendMedium-regular.fntdata"/><Relationship Id="rId45" Type="http://schemas.openxmlformats.org/officeDocument/2006/relationships/font" Target="fonts/LexendLigh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Lexend-regular.fntdata"/><Relationship Id="rId47" Type="http://schemas.openxmlformats.org/officeDocument/2006/relationships/font" Target="fonts/LexendMedium-bold.fntdata"/><Relationship Id="rId49" Type="http://schemas.openxmlformats.org/officeDocument/2006/relationships/font" Target="fonts/Lexend-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Mono-bold.fntdata"/><Relationship Id="rId50" Type="http://schemas.openxmlformats.org/officeDocument/2006/relationships/font" Target="fonts/RobotoMono-regular.fntdata"/><Relationship Id="rId53" Type="http://schemas.openxmlformats.org/officeDocument/2006/relationships/font" Target="fonts/RobotoMono-boldItalic.fntdata"/><Relationship Id="rId52" Type="http://schemas.openxmlformats.org/officeDocument/2006/relationships/font" Target="fonts/RobotoMono-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61495c2e2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61495c2e2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61495c2e2e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61495c2e2e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61d2ac5f0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61d2ac5f0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61d2ac5f0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61d2ac5f0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61d2ac5f0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61d2ac5f0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61d2ac5f00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61d2ac5f00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61d2ac5f00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61d2ac5f00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61d2ac5f00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61d2ac5f00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61d2ac5f00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61d2ac5f00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61d2ac5f00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61d2ac5f00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61d2ac5f00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61d2ac5f00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61d2ac5f00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61d2ac5f00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61d2ac5f00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61d2ac5f00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61d2ac5f00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61d2ac5f00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61d2ac5f00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61d2ac5f00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61d2ac5f00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61d2ac5f00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61d2ac5f00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61d2ac5f00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61d2ac5f00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61d2ac5f00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61d2ac5f00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61d2ac5f00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61d2ac5f00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61d2ac5f00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61d2ac5f00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61d2ac5f00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61d2ac5f00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61d2ac5f00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61d2ac5f00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61d2ac5f00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61d2ac5f00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61d2ac5f00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61d2ac5f00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61d2ac5f00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61d2ac5f00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61d2ac5f00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61d2ac5f00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61d2ac5f00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61d2ac5f00_0_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61d2ac5f00_0_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61d2ac5f00_0_7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61d2ac5f00_0_7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61d2ac5f00_0_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61d2ac5f00_0_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61d2ac5f00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61d2ac5f00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61d2ac5f00_0_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61d2ac5f00_0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jpg"/><Relationship Id="rId5"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208725" y="344175"/>
            <a:ext cx="8501100" cy="20052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6000">
                <a:latin typeface="Lexend"/>
                <a:ea typeface="Lexend"/>
                <a:cs typeface="Lexend"/>
                <a:sym typeface="Lexend"/>
              </a:rPr>
              <a:t>Lecture 2</a:t>
            </a:r>
            <a:endParaRPr sz="60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Binary Codes,</a:t>
            </a:r>
            <a:endParaRPr sz="4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Signed &amp; Unsigned Numbers - 1's &amp; 2's Complement</a:t>
            </a:r>
            <a:endParaRPr sz="4200">
              <a:latin typeface="Lexend"/>
              <a:ea typeface="Lexend"/>
              <a:cs typeface="Lexend"/>
              <a:sym typeface="Lexend"/>
            </a:endParaRPr>
          </a:p>
        </p:txBody>
      </p:sp>
      <p:sp>
        <p:nvSpPr>
          <p:cNvPr id="55" name="Google Shape;55;p13"/>
          <p:cNvSpPr txBox="1"/>
          <p:nvPr/>
        </p:nvSpPr>
        <p:spPr>
          <a:xfrm>
            <a:off x="0" y="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 BRAC University</a:t>
            </a:r>
            <a:endParaRPr b="1" sz="900">
              <a:solidFill>
                <a:srgbClr val="4F4F4F"/>
              </a:solidFill>
              <a:latin typeface="Lexend"/>
              <a:ea typeface="Lexend"/>
              <a:cs typeface="Lexend"/>
              <a:sym typeface="Lexend"/>
            </a:endParaRPr>
          </a:p>
        </p:txBody>
      </p:sp>
      <p:pic>
        <p:nvPicPr>
          <p:cNvPr id="56" name="Google Shape;56;p1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7" name="Google Shape;57;p13"/>
          <p:cNvSpPr txBox="1"/>
          <p:nvPr/>
        </p:nvSpPr>
        <p:spPr>
          <a:xfrm>
            <a:off x="321450" y="4484225"/>
            <a:ext cx="8501100" cy="10104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CSE260 : Digital Logic Design</a:t>
            </a:r>
            <a:endParaRPr sz="5000">
              <a:latin typeface="Lexend"/>
              <a:ea typeface="Lexend"/>
              <a:cs typeface="Lexend"/>
              <a:sym typeface="Lexend"/>
            </a:endParaRPr>
          </a:p>
        </p:txBody>
      </p:sp>
      <p:pic>
        <p:nvPicPr>
          <p:cNvPr descr="Circuitboard with binary code (Provided by Getty Images)" id="58" name="Google Shape;58;p13"/>
          <p:cNvPicPr preferRelativeResize="0"/>
          <p:nvPr/>
        </p:nvPicPr>
        <p:blipFill>
          <a:blip r:embed="rId4">
            <a:alphaModFix/>
          </a:blip>
          <a:stretch>
            <a:fillRect/>
          </a:stretch>
        </p:blipFill>
        <p:spPr>
          <a:xfrm>
            <a:off x="2209504" y="3215174"/>
            <a:ext cx="1902623" cy="1269052"/>
          </a:xfrm>
          <a:prstGeom prst="rect">
            <a:avLst/>
          </a:prstGeom>
          <a:noFill/>
          <a:ln>
            <a:noFill/>
          </a:ln>
        </p:spPr>
      </p:pic>
      <p:pic>
        <p:nvPicPr>
          <p:cNvPr descr="tungsten toned high angle view of binary codes displayed on a computer screen (Provided by Getty Images)" id="59" name="Google Shape;59;p13"/>
          <p:cNvPicPr preferRelativeResize="0"/>
          <p:nvPr/>
        </p:nvPicPr>
        <p:blipFill>
          <a:blip r:embed="rId5">
            <a:alphaModFix/>
          </a:blip>
          <a:stretch>
            <a:fillRect/>
          </a:stretch>
        </p:blipFill>
        <p:spPr>
          <a:xfrm>
            <a:off x="5062205" y="3215175"/>
            <a:ext cx="1745495" cy="12690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1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5" name="Google Shape;65;p1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6" name="Google Shape;66;p1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67" name="Google Shape;67;p1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8" name="Google Shape;68;p14"/>
          <p:cNvSpPr/>
          <p:nvPr/>
        </p:nvSpPr>
        <p:spPr>
          <a:xfrm>
            <a:off x="376395" y="1324925"/>
            <a:ext cx="8399100" cy="3480300"/>
          </a:xfrm>
          <a:prstGeom prst="roundRect">
            <a:avLst>
              <a:gd fmla="val 5139"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9" name="Google Shape;69;p14"/>
          <p:cNvGrpSpPr/>
          <p:nvPr/>
        </p:nvGrpSpPr>
        <p:grpSpPr>
          <a:xfrm>
            <a:off x="422950" y="1426240"/>
            <a:ext cx="277873" cy="68400"/>
            <a:chOff x="411700" y="2416840"/>
            <a:chExt cx="277873" cy="68400"/>
          </a:xfrm>
        </p:grpSpPr>
        <p:sp>
          <p:nvSpPr>
            <p:cNvPr id="70" name="Google Shape;70;p1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1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3" name="Google Shape;73;p14"/>
          <p:cNvSpPr txBox="1"/>
          <p:nvPr/>
        </p:nvSpPr>
        <p:spPr>
          <a:xfrm>
            <a:off x="354925" y="1557600"/>
            <a:ext cx="8399100" cy="3016800"/>
          </a:xfrm>
          <a:prstGeom prst="rect">
            <a:avLst/>
          </a:prstGeom>
          <a:noFill/>
          <a:ln>
            <a:noFill/>
          </a:ln>
        </p:spPr>
        <p:txBody>
          <a:bodyPr anchorCtr="0" anchor="t" bIns="91425" lIns="91425" spcFirstLastPara="1" rIns="91425" wrap="square" tIns="91425">
            <a:spAutoFit/>
          </a:bodyPr>
          <a:lstStyle/>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Decimal numbers are more natural to humans.  Binary numbers are natural to computers.  Quite expensive to convert between the two.</a:t>
            </a:r>
            <a:endParaRPr sz="2400">
              <a:solidFill>
                <a:schemeClr val="dk1"/>
              </a:solidFill>
              <a:latin typeface="Lexend"/>
              <a:ea typeface="Lexend"/>
              <a:cs typeface="Lexend"/>
              <a:sym typeface="Lexend"/>
            </a:endParaRPr>
          </a:p>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If little calculation is involved, we can use some </a:t>
            </a:r>
            <a:r>
              <a:rPr i="1" lang="en" sz="2400">
                <a:solidFill>
                  <a:srgbClr val="0000FF"/>
                </a:solidFill>
                <a:latin typeface="Lexend"/>
                <a:ea typeface="Lexend"/>
                <a:cs typeface="Lexend"/>
                <a:sym typeface="Lexend"/>
              </a:rPr>
              <a:t>coding schemes</a:t>
            </a:r>
            <a:r>
              <a:rPr lang="en" sz="2400">
                <a:solidFill>
                  <a:schemeClr val="dk1"/>
                </a:solidFill>
                <a:latin typeface="Lexend"/>
                <a:ea typeface="Lexend"/>
                <a:cs typeface="Lexend"/>
                <a:sym typeface="Lexend"/>
              </a:rPr>
              <a:t> for decimal numbers.</a:t>
            </a:r>
            <a:endParaRPr sz="2400">
              <a:solidFill>
                <a:schemeClr val="dk1"/>
              </a:solidFill>
              <a:latin typeface="Lexend"/>
              <a:ea typeface="Lexend"/>
              <a:cs typeface="Lexend"/>
              <a:sym typeface="Lexend"/>
            </a:endParaRPr>
          </a:p>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One such scheme is </a:t>
            </a:r>
            <a:r>
              <a:rPr lang="en" sz="2400">
                <a:solidFill>
                  <a:srgbClr val="0000FF"/>
                </a:solidFill>
                <a:latin typeface="Lexend"/>
                <a:ea typeface="Lexend"/>
                <a:cs typeface="Lexend"/>
                <a:sym typeface="Lexend"/>
              </a:rPr>
              <a:t>BCD</a:t>
            </a:r>
            <a:r>
              <a:rPr lang="en" sz="2400">
                <a:solidFill>
                  <a:schemeClr val="dk1"/>
                </a:solidFill>
                <a:latin typeface="Lexend"/>
                <a:ea typeface="Lexend"/>
                <a:cs typeface="Lexend"/>
                <a:sym typeface="Lexend"/>
              </a:rPr>
              <a:t>, a.k.a the </a:t>
            </a:r>
            <a:r>
              <a:rPr lang="en" sz="2400">
                <a:solidFill>
                  <a:srgbClr val="0000FF"/>
                </a:solidFill>
                <a:latin typeface="Lexend"/>
                <a:ea typeface="Lexend"/>
                <a:cs typeface="Lexend"/>
                <a:sym typeface="Lexend"/>
              </a:rPr>
              <a:t>8421 </a:t>
            </a:r>
            <a:r>
              <a:rPr lang="en" sz="2400">
                <a:solidFill>
                  <a:schemeClr val="dk1"/>
                </a:solidFill>
                <a:latin typeface="Lexend"/>
                <a:ea typeface="Lexend"/>
                <a:cs typeface="Lexend"/>
                <a:sym typeface="Lexend"/>
              </a:rPr>
              <a:t>code.</a:t>
            </a:r>
            <a:endParaRPr sz="2400">
              <a:solidFill>
                <a:schemeClr val="dk1"/>
              </a:solidFill>
              <a:latin typeface="Lexend"/>
              <a:ea typeface="Lexend"/>
              <a:cs typeface="Lexend"/>
              <a:sym typeface="Lexend"/>
            </a:endParaRPr>
          </a:p>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Represent each decimal digit as a </a:t>
            </a:r>
            <a:r>
              <a:rPr lang="en" sz="2400">
                <a:solidFill>
                  <a:srgbClr val="0000FF"/>
                </a:solidFill>
                <a:latin typeface="Lexend"/>
                <a:ea typeface="Lexend"/>
                <a:cs typeface="Lexend"/>
                <a:sym typeface="Lexend"/>
              </a:rPr>
              <a:t>4-bit binary code.</a:t>
            </a:r>
            <a:endParaRPr sz="2400">
              <a:solidFill>
                <a:srgbClr val="0000FF"/>
              </a:solidFill>
              <a:latin typeface="Lexend"/>
              <a:ea typeface="Lexend"/>
              <a:cs typeface="Lexend"/>
              <a:sym typeface="Lexend"/>
            </a:endParaRPr>
          </a:p>
        </p:txBody>
      </p:sp>
      <p:sp>
        <p:nvSpPr>
          <p:cNvPr id="74" name="Google Shape;74;p14"/>
          <p:cNvSpPr txBox="1"/>
          <p:nvPr/>
        </p:nvSpPr>
        <p:spPr>
          <a:xfrm>
            <a:off x="209775" y="316175"/>
            <a:ext cx="88113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Binary Coded Decimal (BCD)</a:t>
            </a:r>
            <a:endParaRPr sz="36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0" name="Google Shape;80;p1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81" name="Google Shape;81;p1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2" name="Google Shape;82;p15"/>
          <p:cNvSpPr txBox="1"/>
          <p:nvPr/>
        </p:nvSpPr>
        <p:spPr>
          <a:xfrm>
            <a:off x="351900" y="2010250"/>
            <a:ext cx="8630700" cy="2955300"/>
          </a:xfrm>
          <a:prstGeom prst="rect">
            <a:avLst/>
          </a:prstGeom>
          <a:noFill/>
          <a:ln>
            <a:noFill/>
          </a:ln>
        </p:spPr>
        <p:txBody>
          <a:bodyPr anchorCtr="0" anchor="t" bIns="91425" lIns="91425" spcFirstLastPara="1" rIns="91425" wrap="square" tIns="91425">
            <a:spAutoFit/>
          </a:bodyPr>
          <a:lstStyle/>
          <a:p>
            <a:pPr indent="-355600" lvl="0" marL="342900" rtl="0" algn="l">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Also known as the </a:t>
            </a:r>
            <a:r>
              <a:rPr i="1" lang="en" sz="2000">
                <a:solidFill>
                  <a:srgbClr val="0000FF"/>
                </a:solidFill>
                <a:latin typeface="Lexend"/>
                <a:ea typeface="Lexend"/>
                <a:cs typeface="Lexend"/>
                <a:sym typeface="Lexend"/>
              </a:rPr>
              <a:t>8421</a:t>
            </a:r>
            <a:r>
              <a:rPr lang="en" sz="2000">
                <a:solidFill>
                  <a:schemeClr val="dk1"/>
                </a:solidFill>
                <a:latin typeface="Lexend"/>
                <a:ea typeface="Lexend"/>
                <a:cs typeface="Lexend"/>
                <a:sym typeface="Lexend"/>
              </a:rPr>
              <a:t> code.</a:t>
            </a:r>
            <a:endParaRPr sz="2000">
              <a:solidFill>
                <a:schemeClr val="dk1"/>
              </a:solidFill>
              <a:latin typeface="Lexend"/>
              <a:ea typeface="Lexend"/>
              <a:cs typeface="Lexend"/>
              <a:sym typeface="Lexend"/>
            </a:endParaRPr>
          </a:p>
          <a:p>
            <a:pPr indent="-355600" lvl="0" marL="342900" rtl="0" algn="l">
              <a:spcBef>
                <a:spcPts val="960"/>
              </a:spcBef>
              <a:spcAft>
                <a:spcPts val="0"/>
              </a:spcAft>
              <a:buClr>
                <a:schemeClr val="dk1"/>
              </a:buClr>
              <a:buSzPts val="2000"/>
              <a:buFont typeface="Lexend"/>
              <a:buChar char="•"/>
            </a:pPr>
            <a:r>
              <a:rPr lang="en" sz="2000">
                <a:solidFill>
                  <a:schemeClr val="dk1"/>
                </a:solidFill>
                <a:latin typeface="Lexend"/>
                <a:ea typeface="Lexend"/>
                <a:cs typeface="Lexend"/>
                <a:sym typeface="Lexend"/>
              </a:rPr>
              <a:t>Represent each decimal digit as a </a:t>
            </a:r>
            <a:r>
              <a:rPr lang="en" sz="2000">
                <a:solidFill>
                  <a:srgbClr val="0000FF"/>
                </a:solidFill>
                <a:latin typeface="Lexend"/>
                <a:ea typeface="Lexend"/>
                <a:cs typeface="Lexend"/>
                <a:sym typeface="Lexend"/>
              </a:rPr>
              <a:t>4-bit binary code</a:t>
            </a:r>
            <a:r>
              <a:rPr lang="en"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a:p>
            <a:pPr indent="-355600" lvl="0" marL="342900" rtl="0" algn="l">
              <a:spcBef>
                <a:spcPts val="960"/>
              </a:spcBef>
              <a:spcAft>
                <a:spcPts val="0"/>
              </a:spcAft>
              <a:buClr>
                <a:schemeClr val="dk1"/>
              </a:buClr>
              <a:buSzPts val="2000"/>
              <a:buFont typeface="Lexend"/>
              <a:buChar char="•"/>
            </a:pPr>
            <a:r>
              <a:rPr lang="en" sz="2000">
                <a:solidFill>
                  <a:schemeClr val="dk1"/>
                </a:solidFill>
                <a:latin typeface="Lexend"/>
                <a:ea typeface="Lexend"/>
                <a:cs typeface="Lexend"/>
                <a:sym typeface="Lexend"/>
              </a:rPr>
              <a:t>Some codes are unused, eg: (1010)</a:t>
            </a:r>
            <a:r>
              <a:rPr baseline="-25000" lang="en" sz="2000">
                <a:solidFill>
                  <a:schemeClr val="dk1"/>
                </a:solidFill>
                <a:latin typeface="Lexend"/>
                <a:ea typeface="Lexend"/>
                <a:cs typeface="Lexend"/>
                <a:sym typeface="Lexend"/>
              </a:rPr>
              <a:t>BCD</a:t>
            </a:r>
            <a:r>
              <a:rPr lang="en" sz="2000">
                <a:solidFill>
                  <a:schemeClr val="dk1"/>
                </a:solidFill>
                <a:latin typeface="Lexend"/>
                <a:ea typeface="Lexend"/>
                <a:cs typeface="Lexend"/>
                <a:sym typeface="Lexend"/>
              </a:rPr>
              <a:t>, (1011) </a:t>
            </a:r>
            <a:r>
              <a:rPr baseline="-25000" lang="en" sz="2000">
                <a:solidFill>
                  <a:schemeClr val="dk1"/>
                </a:solidFill>
                <a:latin typeface="Lexend"/>
                <a:ea typeface="Lexend"/>
                <a:cs typeface="Lexend"/>
                <a:sym typeface="Lexend"/>
              </a:rPr>
              <a:t>BCD</a:t>
            </a:r>
            <a:r>
              <a:rPr lang="en" sz="2000">
                <a:solidFill>
                  <a:schemeClr val="dk1"/>
                </a:solidFill>
                <a:latin typeface="Lexend"/>
                <a:ea typeface="Lexend"/>
                <a:cs typeface="Lexend"/>
                <a:sym typeface="Lexend"/>
              </a:rPr>
              <a:t>, …, (1111) </a:t>
            </a:r>
            <a:r>
              <a:rPr baseline="-25000" lang="en" sz="2000">
                <a:solidFill>
                  <a:schemeClr val="dk1"/>
                </a:solidFill>
                <a:latin typeface="Lexend"/>
                <a:ea typeface="Lexend"/>
                <a:cs typeface="Lexend"/>
                <a:sym typeface="Lexend"/>
              </a:rPr>
              <a:t>BCD</a:t>
            </a:r>
            <a:r>
              <a:rPr lang="en" sz="2000">
                <a:solidFill>
                  <a:schemeClr val="dk1"/>
                </a:solidFill>
                <a:latin typeface="Lexend"/>
                <a:ea typeface="Lexend"/>
                <a:cs typeface="Lexend"/>
                <a:sym typeface="Lexend"/>
              </a:rPr>
              <a:t>.  These codes are considered as errors.</a:t>
            </a:r>
            <a:endParaRPr sz="2000">
              <a:solidFill>
                <a:schemeClr val="dk1"/>
              </a:solidFill>
              <a:latin typeface="Lexend"/>
              <a:ea typeface="Lexend"/>
              <a:cs typeface="Lexend"/>
              <a:sym typeface="Lexend"/>
            </a:endParaRPr>
          </a:p>
          <a:p>
            <a:pPr indent="-355600" lvl="0" marL="342900" rtl="0" algn="l">
              <a:spcBef>
                <a:spcPts val="1440"/>
              </a:spcBef>
              <a:spcAft>
                <a:spcPts val="0"/>
              </a:spcAft>
              <a:buClr>
                <a:schemeClr val="dk1"/>
              </a:buClr>
              <a:buSzPts val="2000"/>
              <a:buFont typeface="Lexend"/>
              <a:buChar char="•"/>
            </a:pPr>
            <a:r>
              <a:rPr lang="en" sz="2000">
                <a:solidFill>
                  <a:schemeClr val="dk1"/>
                </a:solidFill>
                <a:latin typeface="Lexend"/>
                <a:ea typeface="Lexend"/>
                <a:cs typeface="Lexend"/>
                <a:sym typeface="Lexend"/>
              </a:rPr>
              <a:t>Easy to convert, but arithmetic operations are more complicated.</a:t>
            </a:r>
            <a:endParaRPr sz="2000">
              <a:solidFill>
                <a:schemeClr val="dk1"/>
              </a:solidFill>
              <a:latin typeface="Lexend"/>
              <a:ea typeface="Lexend"/>
              <a:cs typeface="Lexend"/>
              <a:sym typeface="Lexend"/>
            </a:endParaRPr>
          </a:p>
          <a:p>
            <a:pPr indent="-355600" lvl="0" marL="342900" rtl="0" algn="l">
              <a:spcBef>
                <a:spcPts val="1440"/>
              </a:spcBef>
              <a:spcAft>
                <a:spcPts val="0"/>
              </a:spcAft>
              <a:buClr>
                <a:schemeClr val="dk1"/>
              </a:buClr>
              <a:buSzPts val="2000"/>
              <a:buFont typeface="Lexend"/>
              <a:buChar char="•"/>
            </a:pPr>
            <a:r>
              <a:rPr lang="en" sz="2000">
                <a:solidFill>
                  <a:schemeClr val="dk1"/>
                </a:solidFill>
                <a:latin typeface="Lexend"/>
                <a:ea typeface="Lexend"/>
                <a:cs typeface="Lexend"/>
                <a:sym typeface="Lexend"/>
              </a:rPr>
              <a:t>Suitable for interfaces such as keypad inputs and digital readouts.</a:t>
            </a:r>
            <a:endParaRPr sz="2000">
              <a:solidFill>
                <a:schemeClr val="dk1"/>
              </a:solidFill>
              <a:latin typeface="Lexend"/>
              <a:ea typeface="Lexend"/>
              <a:cs typeface="Lexend"/>
              <a:sym typeface="Lexend"/>
            </a:endParaRPr>
          </a:p>
        </p:txBody>
      </p:sp>
      <p:grpSp>
        <p:nvGrpSpPr>
          <p:cNvPr id="83" name="Google Shape;83;p15"/>
          <p:cNvGrpSpPr/>
          <p:nvPr/>
        </p:nvGrpSpPr>
        <p:grpSpPr>
          <a:xfrm>
            <a:off x="50480" y="122879"/>
            <a:ext cx="277873" cy="68400"/>
            <a:chOff x="411700" y="2416840"/>
            <a:chExt cx="277873" cy="68400"/>
          </a:xfrm>
        </p:grpSpPr>
        <p:sp>
          <p:nvSpPr>
            <p:cNvPr id="84" name="Google Shape;84;p1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7" name="Google Shape;87;p1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Binary Coded Decimal (BCD)</a:t>
            </a:r>
            <a:endParaRPr sz="3600">
              <a:latin typeface="Lexend"/>
              <a:ea typeface="Lexend"/>
              <a:cs typeface="Lexend"/>
              <a:sym typeface="Lexend"/>
            </a:endParaRPr>
          </a:p>
        </p:txBody>
      </p:sp>
      <p:sp>
        <p:nvSpPr>
          <p:cNvPr id="88" name="Google Shape;88;p1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9" name="Google Shape;89;p1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90" name="Google Shape;90;p15"/>
          <p:cNvPicPr preferRelativeResize="0"/>
          <p:nvPr>
            <p:ph idx="1" type="body"/>
          </p:nvPr>
        </p:nvPicPr>
        <p:blipFill rotWithShape="1">
          <a:blip r:embed="rId4">
            <a:alphaModFix/>
          </a:blip>
          <a:srcRect b="0" l="0" r="0" t="0"/>
          <a:stretch/>
        </p:blipFill>
        <p:spPr>
          <a:xfrm>
            <a:off x="838200" y="838200"/>
            <a:ext cx="7251600" cy="1312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6" name="Google Shape;96;p1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7" name="Google Shape;97;p1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8" name="Google Shape;98;p16"/>
          <p:cNvSpPr txBox="1"/>
          <p:nvPr/>
        </p:nvSpPr>
        <p:spPr>
          <a:xfrm>
            <a:off x="351900" y="2010250"/>
            <a:ext cx="8630700" cy="2739900"/>
          </a:xfrm>
          <a:prstGeom prst="rect">
            <a:avLst/>
          </a:prstGeom>
          <a:noFill/>
          <a:ln>
            <a:noFill/>
          </a:ln>
        </p:spPr>
        <p:txBody>
          <a:bodyPr anchorCtr="0" anchor="t" bIns="91425" lIns="91425" spcFirstLastPara="1" rIns="91425" wrap="square" tIns="91425">
            <a:spAutoFit/>
          </a:bodyPr>
          <a:lstStyle/>
          <a:p>
            <a:pPr indent="-355600" lvl="0" marL="342900" rtl="0" algn="l">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Examples:</a:t>
            </a:r>
            <a:endParaRPr sz="2000">
              <a:solidFill>
                <a:schemeClr val="dk1"/>
              </a:solidFill>
              <a:latin typeface="Lexend"/>
              <a:ea typeface="Lexend"/>
              <a:cs typeface="Lexend"/>
              <a:sym typeface="Lexend"/>
            </a:endParaRPr>
          </a:p>
          <a:p>
            <a:pPr indent="-342900" lvl="0" marL="342900" rtl="0" algn="l">
              <a:spcBef>
                <a:spcPts val="480"/>
              </a:spcBef>
              <a:spcAft>
                <a:spcPts val="0"/>
              </a:spcAft>
              <a:buNone/>
            </a:pPr>
            <a:r>
              <a:rPr lang="en" sz="2000">
                <a:solidFill>
                  <a:schemeClr val="dk1"/>
                </a:solidFill>
                <a:latin typeface="Lexend"/>
                <a:ea typeface="Lexend"/>
                <a:cs typeface="Lexend"/>
                <a:sym typeface="Lexend"/>
              </a:rPr>
              <a:t>		(234)</a:t>
            </a:r>
            <a:r>
              <a:rPr baseline="-25000" lang="en" sz="2000">
                <a:solidFill>
                  <a:schemeClr val="dk1"/>
                </a:solidFill>
                <a:latin typeface="Lexend"/>
                <a:ea typeface="Lexend"/>
                <a:cs typeface="Lexend"/>
                <a:sym typeface="Lexend"/>
              </a:rPr>
              <a:t>10 </a:t>
            </a:r>
            <a:r>
              <a:rPr lang="en" sz="2000">
                <a:solidFill>
                  <a:schemeClr val="dk1"/>
                </a:solidFill>
                <a:latin typeface="Lexend"/>
                <a:ea typeface="Lexend"/>
                <a:cs typeface="Lexend"/>
                <a:sym typeface="Lexend"/>
              </a:rPr>
              <a:t>= (0010 0011 0100)</a:t>
            </a:r>
            <a:r>
              <a:rPr baseline="-25000" lang="en" sz="2000">
                <a:solidFill>
                  <a:schemeClr val="dk1"/>
                </a:solidFill>
                <a:latin typeface="Lexend"/>
                <a:ea typeface="Lexend"/>
                <a:cs typeface="Lexend"/>
                <a:sym typeface="Lexend"/>
              </a:rPr>
              <a:t>BCD</a:t>
            </a:r>
            <a:endParaRPr sz="2000">
              <a:solidFill>
                <a:schemeClr val="dk1"/>
              </a:solidFill>
              <a:latin typeface="Lexend"/>
              <a:ea typeface="Lexend"/>
              <a:cs typeface="Lexend"/>
              <a:sym typeface="Lexend"/>
            </a:endParaRPr>
          </a:p>
          <a:p>
            <a:pPr indent="-342900" lvl="0" marL="342900" rtl="0" algn="l">
              <a:spcBef>
                <a:spcPts val="480"/>
              </a:spcBef>
              <a:spcAft>
                <a:spcPts val="0"/>
              </a:spcAft>
              <a:buNone/>
            </a:pPr>
            <a:r>
              <a:rPr lang="en" sz="2000">
                <a:solidFill>
                  <a:schemeClr val="dk1"/>
                </a:solidFill>
                <a:latin typeface="Lexend"/>
                <a:ea typeface="Lexend"/>
                <a:cs typeface="Lexend"/>
                <a:sym typeface="Lexend"/>
              </a:rPr>
              <a:t>		(7093)</a:t>
            </a:r>
            <a:r>
              <a:rPr baseline="-25000" lang="en" sz="2000">
                <a:solidFill>
                  <a:schemeClr val="dk1"/>
                </a:solidFill>
                <a:latin typeface="Lexend"/>
                <a:ea typeface="Lexend"/>
                <a:cs typeface="Lexend"/>
                <a:sym typeface="Lexend"/>
              </a:rPr>
              <a:t>10 </a:t>
            </a:r>
            <a:r>
              <a:rPr lang="en" sz="2000">
                <a:solidFill>
                  <a:schemeClr val="dk1"/>
                </a:solidFill>
                <a:latin typeface="Lexend"/>
                <a:ea typeface="Lexend"/>
                <a:cs typeface="Lexend"/>
                <a:sym typeface="Lexend"/>
              </a:rPr>
              <a:t>= (0111 0000 1001 0011)</a:t>
            </a:r>
            <a:r>
              <a:rPr baseline="-25000" lang="en" sz="2000">
                <a:solidFill>
                  <a:schemeClr val="dk1"/>
                </a:solidFill>
                <a:latin typeface="Lexend"/>
                <a:ea typeface="Lexend"/>
                <a:cs typeface="Lexend"/>
                <a:sym typeface="Lexend"/>
              </a:rPr>
              <a:t>BCD</a:t>
            </a:r>
            <a:endParaRPr sz="2000">
              <a:solidFill>
                <a:schemeClr val="dk1"/>
              </a:solidFill>
              <a:latin typeface="Lexend"/>
              <a:ea typeface="Lexend"/>
              <a:cs typeface="Lexend"/>
              <a:sym typeface="Lexend"/>
            </a:endParaRPr>
          </a:p>
          <a:p>
            <a:pPr indent="-342900" lvl="0" marL="342900" rtl="0" algn="l">
              <a:spcBef>
                <a:spcPts val="480"/>
              </a:spcBef>
              <a:spcAft>
                <a:spcPts val="0"/>
              </a:spcAft>
              <a:buNone/>
            </a:pPr>
            <a:r>
              <a:rPr lang="en" sz="2000">
                <a:solidFill>
                  <a:schemeClr val="dk1"/>
                </a:solidFill>
                <a:latin typeface="Lexend"/>
                <a:ea typeface="Lexend"/>
                <a:cs typeface="Lexend"/>
                <a:sym typeface="Lexend"/>
              </a:rPr>
              <a:t>		(1000 0110)</a:t>
            </a:r>
            <a:r>
              <a:rPr baseline="-25000" lang="en" sz="2000">
                <a:solidFill>
                  <a:schemeClr val="dk1"/>
                </a:solidFill>
                <a:latin typeface="Lexend"/>
                <a:ea typeface="Lexend"/>
                <a:cs typeface="Lexend"/>
                <a:sym typeface="Lexend"/>
              </a:rPr>
              <a:t>BCD </a:t>
            </a:r>
            <a:r>
              <a:rPr lang="en" sz="2000">
                <a:solidFill>
                  <a:schemeClr val="dk1"/>
                </a:solidFill>
                <a:latin typeface="Lexend"/>
                <a:ea typeface="Lexend"/>
                <a:cs typeface="Lexend"/>
                <a:sym typeface="Lexend"/>
              </a:rPr>
              <a:t>= (86)</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480"/>
              </a:spcBef>
              <a:spcAft>
                <a:spcPts val="0"/>
              </a:spcAft>
              <a:buNone/>
            </a:pPr>
            <a:r>
              <a:rPr lang="en" sz="2000">
                <a:solidFill>
                  <a:schemeClr val="dk1"/>
                </a:solidFill>
                <a:latin typeface="Lexend"/>
                <a:ea typeface="Lexend"/>
                <a:cs typeface="Lexend"/>
                <a:sym typeface="Lexend"/>
              </a:rPr>
              <a:t>		(1001 0100 0111 0010)</a:t>
            </a:r>
            <a:r>
              <a:rPr baseline="-25000" lang="en" sz="2000">
                <a:solidFill>
                  <a:schemeClr val="dk1"/>
                </a:solidFill>
                <a:latin typeface="Lexend"/>
                <a:ea typeface="Lexend"/>
                <a:cs typeface="Lexend"/>
                <a:sym typeface="Lexend"/>
              </a:rPr>
              <a:t>BCD </a:t>
            </a:r>
            <a:r>
              <a:rPr lang="en" sz="2000">
                <a:solidFill>
                  <a:schemeClr val="dk1"/>
                </a:solidFill>
                <a:latin typeface="Lexend"/>
                <a:ea typeface="Lexend"/>
                <a:cs typeface="Lexend"/>
                <a:sym typeface="Lexend"/>
              </a:rPr>
              <a:t>= (9472)</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800"/>
              </a:spcBef>
              <a:spcAft>
                <a:spcPts val="0"/>
              </a:spcAft>
              <a:buNone/>
            </a:pPr>
            <a:r>
              <a:rPr b="1" lang="en" sz="2000">
                <a:solidFill>
                  <a:schemeClr val="dk1"/>
                </a:solidFill>
                <a:latin typeface="Lexend"/>
                <a:ea typeface="Lexend"/>
                <a:cs typeface="Lexend"/>
                <a:sym typeface="Lexend"/>
              </a:rPr>
              <a:t>Note</a:t>
            </a:r>
            <a:r>
              <a:rPr lang="en" sz="2000">
                <a:solidFill>
                  <a:schemeClr val="dk1"/>
                </a:solidFill>
                <a:latin typeface="Lexend"/>
                <a:ea typeface="Lexend"/>
                <a:cs typeface="Lexend"/>
                <a:sym typeface="Lexend"/>
              </a:rPr>
              <a:t>: BCD is </a:t>
            </a:r>
            <a:r>
              <a:rPr lang="en" sz="2000">
                <a:solidFill>
                  <a:srgbClr val="CC0000"/>
                </a:solidFill>
                <a:latin typeface="Lexend"/>
                <a:ea typeface="Lexend"/>
                <a:cs typeface="Lexend"/>
                <a:sym typeface="Lexend"/>
              </a:rPr>
              <a:t>not equivalent</a:t>
            </a:r>
            <a:r>
              <a:rPr lang="en" sz="2000">
                <a:solidFill>
                  <a:schemeClr val="dk1"/>
                </a:solidFill>
                <a:latin typeface="Lexend"/>
                <a:ea typeface="Lexend"/>
                <a:cs typeface="Lexend"/>
                <a:sym typeface="Lexend"/>
              </a:rPr>
              <a:t> to binary.</a:t>
            </a:r>
            <a:endParaRPr baseline="-25000" sz="2000">
              <a:solidFill>
                <a:schemeClr val="dk1"/>
              </a:solidFill>
              <a:latin typeface="Lexend"/>
              <a:ea typeface="Lexend"/>
              <a:cs typeface="Lexend"/>
              <a:sym typeface="Lexend"/>
            </a:endParaRPr>
          </a:p>
          <a:p>
            <a:pPr indent="-342900" lvl="0" marL="342900" rtl="0" algn="l">
              <a:spcBef>
                <a:spcPts val="400"/>
              </a:spcBef>
              <a:spcAft>
                <a:spcPts val="0"/>
              </a:spcAft>
              <a:buNone/>
            </a:pPr>
            <a:r>
              <a:rPr lang="en" sz="2000">
                <a:solidFill>
                  <a:schemeClr val="dk1"/>
                </a:solidFill>
                <a:latin typeface="Lexend"/>
                <a:ea typeface="Lexend"/>
                <a:cs typeface="Lexend"/>
                <a:sym typeface="Lexend"/>
              </a:rPr>
              <a:t>		Example:</a:t>
            </a:r>
            <a:r>
              <a:rPr baseline="-25000" lang="en" sz="2000">
                <a:solidFill>
                  <a:schemeClr val="dk1"/>
                </a:solidFill>
                <a:latin typeface="Lexend"/>
                <a:ea typeface="Lexend"/>
                <a:cs typeface="Lexend"/>
                <a:sym typeface="Lexend"/>
              </a:rPr>
              <a:t> </a:t>
            </a:r>
            <a:r>
              <a:rPr lang="en" sz="2000">
                <a:solidFill>
                  <a:schemeClr val="dk1"/>
                </a:solidFill>
                <a:latin typeface="Lexend"/>
                <a:ea typeface="Lexend"/>
                <a:cs typeface="Lexend"/>
                <a:sym typeface="Lexend"/>
              </a:rPr>
              <a:t>(234)</a:t>
            </a:r>
            <a:r>
              <a:rPr baseline="-25000" lang="en" sz="2000">
                <a:solidFill>
                  <a:schemeClr val="dk1"/>
                </a:solidFill>
                <a:latin typeface="Lexend"/>
                <a:ea typeface="Lexend"/>
                <a:cs typeface="Lexend"/>
                <a:sym typeface="Lexend"/>
              </a:rPr>
              <a:t>10 </a:t>
            </a:r>
            <a:r>
              <a:rPr lang="en" sz="2000">
                <a:solidFill>
                  <a:schemeClr val="dk1"/>
                </a:solidFill>
                <a:latin typeface="Lexend"/>
                <a:ea typeface="Lexend"/>
                <a:cs typeface="Lexend"/>
                <a:sym typeface="Lexend"/>
              </a:rPr>
              <a:t>= (11101010)</a:t>
            </a:r>
            <a:r>
              <a:rPr baseline="-25000" lang="en" sz="2000">
                <a:solidFill>
                  <a:schemeClr val="dk1"/>
                </a:solidFill>
                <a:latin typeface="Lexend"/>
                <a:ea typeface="Lexend"/>
                <a:cs typeface="Lexend"/>
                <a:sym typeface="Lexend"/>
              </a:rPr>
              <a:t>2</a:t>
            </a:r>
            <a:endParaRPr sz="2000">
              <a:solidFill>
                <a:schemeClr val="dk1"/>
              </a:solidFill>
              <a:latin typeface="Lexend"/>
              <a:ea typeface="Lexend"/>
              <a:cs typeface="Lexend"/>
              <a:sym typeface="Lexend"/>
            </a:endParaRPr>
          </a:p>
        </p:txBody>
      </p:sp>
      <p:grpSp>
        <p:nvGrpSpPr>
          <p:cNvPr id="99" name="Google Shape;99;p16"/>
          <p:cNvGrpSpPr/>
          <p:nvPr/>
        </p:nvGrpSpPr>
        <p:grpSpPr>
          <a:xfrm>
            <a:off x="50480" y="122879"/>
            <a:ext cx="277873" cy="68400"/>
            <a:chOff x="411700" y="2416840"/>
            <a:chExt cx="277873" cy="68400"/>
          </a:xfrm>
        </p:grpSpPr>
        <p:sp>
          <p:nvSpPr>
            <p:cNvPr id="100" name="Google Shape;100;p1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3" name="Google Shape;103;p1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Binary Coded Decimal (BCD)</a:t>
            </a:r>
            <a:endParaRPr sz="3600">
              <a:latin typeface="Lexend"/>
              <a:ea typeface="Lexend"/>
              <a:cs typeface="Lexend"/>
              <a:sym typeface="Lexend"/>
            </a:endParaRPr>
          </a:p>
        </p:txBody>
      </p:sp>
      <p:sp>
        <p:nvSpPr>
          <p:cNvPr id="104" name="Google Shape;104;p1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5" name="Google Shape;105;p1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106" name="Google Shape;106;p16"/>
          <p:cNvPicPr preferRelativeResize="0"/>
          <p:nvPr>
            <p:ph idx="1" type="body"/>
          </p:nvPr>
        </p:nvPicPr>
        <p:blipFill rotWithShape="1">
          <a:blip r:embed="rId4">
            <a:alphaModFix/>
          </a:blip>
          <a:srcRect b="0" l="0" r="0" t="0"/>
          <a:stretch/>
        </p:blipFill>
        <p:spPr>
          <a:xfrm>
            <a:off x="838200" y="838200"/>
            <a:ext cx="7251600" cy="1312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2" name="Google Shape;112;p1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3" name="Google Shape;113;p1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4" name="Google Shape;114;p17"/>
          <p:cNvSpPr txBox="1"/>
          <p:nvPr/>
        </p:nvSpPr>
        <p:spPr>
          <a:xfrm>
            <a:off x="256650" y="807550"/>
            <a:ext cx="8630700" cy="1569900"/>
          </a:xfrm>
          <a:prstGeom prst="rect">
            <a:avLst/>
          </a:prstGeom>
          <a:noFill/>
          <a:ln>
            <a:noFill/>
          </a:ln>
        </p:spPr>
        <p:txBody>
          <a:bodyPr anchorCtr="0" anchor="t" bIns="91425" lIns="91425" spcFirstLastPara="1" rIns="91425" wrap="square" tIns="91425">
            <a:spAutoFit/>
          </a:bodyPr>
          <a:lstStyle/>
          <a:p>
            <a:pPr indent="-342900" lvl="0" marL="342900" rtl="0" algn="l">
              <a:spcBef>
                <a:spcPts val="400"/>
              </a:spcBef>
              <a:spcAft>
                <a:spcPts val="0"/>
              </a:spcAft>
              <a:buNone/>
            </a:pPr>
            <a:r>
              <a:rPr lang="en" sz="2000">
                <a:solidFill>
                  <a:schemeClr val="dk1"/>
                </a:solidFill>
                <a:latin typeface="Lexend"/>
                <a:ea typeface="Lexend"/>
                <a:cs typeface="Lexend"/>
                <a:sym typeface="Lexend"/>
              </a:rPr>
              <a:t>Other Codes:</a:t>
            </a:r>
            <a:endParaRPr sz="2000">
              <a:solidFill>
                <a:schemeClr val="dk1"/>
              </a:solidFill>
              <a:latin typeface="Lexend"/>
              <a:ea typeface="Lexend"/>
              <a:cs typeface="Lexend"/>
              <a:sym typeface="Lexend"/>
            </a:endParaRPr>
          </a:p>
          <a:p>
            <a:pPr indent="-342900" lvl="0" marL="342900" rtl="0" algn="l">
              <a:spcBef>
                <a:spcPts val="400"/>
              </a:spcBef>
              <a:spcAft>
                <a:spcPts val="0"/>
              </a:spcAft>
              <a:buNone/>
            </a:pPr>
            <a:r>
              <a:t/>
            </a:r>
            <a:endParaRPr sz="2000">
              <a:solidFill>
                <a:schemeClr val="dk1"/>
              </a:solidFill>
              <a:latin typeface="Lexend"/>
              <a:ea typeface="Lexend"/>
              <a:cs typeface="Lexend"/>
              <a:sym typeface="Lexend"/>
            </a:endParaRPr>
          </a:p>
          <a:p>
            <a:pPr indent="-355600" lvl="0" marL="457200" rtl="0" algn="l">
              <a:spcBef>
                <a:spcPts val="400"/>
              </a:spcBef>
              <a:spcAft>
                <a:spcPts val="0"/>
              </a:spcAft>
              <a:buClr>
                <a:schemeClr val="dk1"/>
              </a:buClr>
              <a:buSzPts val="2000"/>
              <a:buFont typeface="Lexend"/>
              <a:buChar char="●"/>
            </a:pPr>
            <a:r>
              <a:rPr lang="en" sz="2000">
                <a:solidFill>
                  <a:schemeClr val="dk1"/>
                </a:solidFill>
                <a:latin typeface="Lexend"/>
                <a:ea typeface="Lexend"/>
                <a:cs typeface="Lexend"/>
                <a:sym typeface="Lexend"/>
              </a:rPr>
              <a:t>Excess-3</a:t>
            </a:r>
            <a:endParaRPr sz="2000">
              <a:solidFill>
                <a:schemeClr val="dk1"/>
              </a:solidFill>
              <a:latin typeface="Lexend"/>
              <a:ea typeface="Lexend"/>
              <a:cs typeface="Lexend"/>
              <a:sym typeface="Lexend"/>
            </a:endParaRPr>
          </a:p>
          <a:p>
            <a:pPr indent="-342900" lvl="0" marL="342900" rtl="0" algn="l">
              <a:spcBef>
                <a:spcPts val="400"/>
              </a:spcBef>
              <a:spcAft>
                <a:spcPts val="0"/>
              </a:spcAft>
              <a:buNone/>
            </a:pPr>
            <a:r>
              <a:t/>
            </a:r>
            <a:endParaRPr sz="2000">
              <a:solidFill>
                <a:schemeClr val="dk1"/>
              </a:solidFill>
              <a:latin typeface="Lexend"/>
              <a:ea typeface="Lexend"/>
              <a:cs typeface="Lexend"/>
              <a:sym typeface="Lexend"/>
            </a:endParaRPr>
          </a:p>
        </p:txBody>
      </p:sp>
      <p:grpSp>
        <p:nvGrpSpPr>
          <p:cNvPr id="115" name="Google Shape;115;p17"/>
          <p:cNvGrpSpPr/>
          <p:nvPr/>
        </p:nvGrpSpPr>
        <p:grpSpPr>
          <a:xfrm>
            <a:off x="50480" y="122879"/>
            <a:ext cx="277873" cy="68400"/>
            <a:chOff x="411700" y="2416840"/>
            <a:chExt cx="277873" cy="68400"/>
          </a:xfrm>
        </p:grpSpPr>
        <p:sp>
          <p:nvSpPr>
            <p:cNvPr id="116" name="Google Shape;116;p1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1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9" name="Google Shape;119;p1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Binary Codes</a:t>
            </a:r>
            <a:endParaRPr sz="3600">
              <a:latin typeface="Lexend"/>
              <a:ea typeface="Lexend"/>
              <a:cs typeface="Lexend"/>
              <a:sym typeface="Lexend"/>
            </a:endParaRPr>
          </a:p>
        </p:txBody>
      </p:sp>
      <p:sp>
        <p:nvSpPr>
          <p:cNvPr id="120" name="Google Shape;120;p1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1" name="Google Shape;121;p1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122" name="Google Shape;122;p17"/>
          <p:cNvGraphicFramePr/>
          <p:nvPr/>
        </p:nvGraphicFramePr>
        <p:xfrm>
          <a:off x="5124750" y="155088"/>
          <a:ext cx="3000000" cy="3000000"/>
        </p:xfrm>
        <a:graphic>
          <a:graphicData uri="http://schemas.openxmlformats.org/drawingml/2006/table">
            <a:tbl>
              <a:tblPr>
                <a:noFill/>
                <a:tableStyleId>{D623827D-E9A9-4C25-9243-6ADB782674F1}</a:tableStyleId>
              </a:tblPr>
              <a:tblGrid>
                <a:gridCol w="1124800"/>
                <a:gridCol w="1007225"/>
                <a:gridCol w="939875"/>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Decimal Digit</a:t>
                      </a:r>
                      <a:endParaRPr b="1">
                        <a:latin typeface="Roboto Mono"/>
                        <a:ea typeface="Roboto Mono"/>
                        <a:cs typeface="Roboto Mono"/>
                        <a:sym typeface="Roboto Mono"/>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BCD</a:t>
                      </a:r>
                      <a:endParaRPr b="1" sz="1200">
                        <a:latin typeface="Roboto Mono"/>
                        <a:ea typeface="Roboto Mono"/>
                        <a:cs typeface="Roboto Mono"/>
                        <a:sym typeface="Roboto Mono"/>
                      </a:endParaRPr>
                    </a:p>
                    <a:p>
                      <a:pPr indent="0" lvl="0" marL="0" marR="0" rtl="0" algn="ctr">
                        <a:lnSpc>
                          <a:spcPct val="100000"/>
                        </a:lnSpc>
                        <a:spcBef>
                          <a:spcPts val="0"/>
                        </a:spcBef>
                        <a:spcAft>
                          <a:spcPts val="0"/>
                        </a:spcAft>
                        <a:buClr>
                          <a:srgbClr val="000000"/>
                        </a:buClr>
                        <a:buSzPts val="1200"/>
                        <a:buFont typeface="Arial"/>
                        <a:buNone/>
                      </a:pPr>
                      <a:r>
                        <a:rPr lang="en" sz="1200">
                          <a:latin typeface="Roboto Mono Medium"/>
                          <a:ea typeface="Roboto Mono Medium"/>
                          <a:cs typeface="Roboto Mono Medium"/>
                          <a:sym typeface="Roboto Mono Medium"/>
                        </a:rPr>
                        <a:t>8421</a:t>
                      </a:r>
                      <a:endParaRPr sz="1200">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Excess-3</a:t>
                      </a:r>
                      <a:endParaRPr b="1">
                        <a:latin typeface="Roboto Mono"/>
                        <a:ea typeface="Roboto Mono"/>
                        <a:cs typeface="Roboto Mono"/>
                        <a:sym typeface="Roboto Mono"/>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sz="1200">
                          <a:latin typeface="Roboto Mono Medium"/>
                          <a:ea typeface="Roboto Mono Medium"/>
                          <a:cs typeface="Roboto Mono Medium"/>
                          <a:sym typeface="Roboto Mono Medium"/>
                        </a:rPr>
                        <a:t>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sz="1200" u="none">
                          <a:solidFill>
                            <a:srgbClr val="000000"/>
                          </a:solidFill>
                          <a:latin typeface="Roboto Mono Medium"/>
                          <a:ea typeface="Roboto Mono Medium"/>
                          <a:cs typeface="Roboto Mono Medium"/>
                          <a:sym typeface="Roboto Mono Medium"/>
                        </a:rPr>
                        <a:t>0000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2</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3</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4</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5</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sz="1200" u="none">
                          <a:solidFill>
                            <a:srgbClr val="000000"/>
                          </a:solidFill>
                          <a:latin typeface="Roboto Mono Medium"/>
                          <a:ea typeface="Roboto Mono Medium"/>
                          <a:cs typeface="Roboto Mono Medium"/>
                          <a:sym typeface="Roboto Mono Medium"/>
                        </a:rPr>
                        <a:t>1000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6</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7</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sz="1200">
                          <a:latin typeface="Roboto Mono Medium"/>
                          <a:ea typeface="Roboto Mono Medium"/>
                          <a:cs typeface="Roboto Mono Medium"/>
                          <a:sym typeface="Roboto Mono Medium"/>
                        </a:rPr>
                        <a:t>8</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sz="1200" u="none">
                          <a:solidFill>
                            <a:srgbClr val="000000"/>
                          </a:solidFill>
                          <a:latin typeface="Roboto Mono Medium"/>
                          <a:ea typeface="Roboto Mono Medium"/>
                          <a:cs typeface="Roboto Mono Medium"/>
                          <a:sym typeface="Roboto Mono Medium"/>
                        </a:rPr>
                        <a:t>1000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9</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rowSpan="6">
                  <a:txBody>
                    <a:bodyPr/>
                    <a:lstStyle/>
                    <a:p>
                      <a:pPr indent="0" lvl="0" marL="0" rtl="0" algn="l">
                        <a:spcBef>
                          <a:spcPts val="0"/>
                        </a:spcBef>
                        <a:spcAft>
                          <a:spcPts val="0"/>
                        </a:spcAft>
                        <a:buNone/>
                      </a:pPr>
                      <a:r>
                        <a:rPr lang="en" sz="1100">
                          <a:latin typeface="Roboto Mono Medium"/>
                          <a:ea typeface="Roboto Mono Medium"/>
                          <a:cs typeface="Roboto Mono Medium"/>
                          <a:sym typeface="Roboto Mono Medium"/>
                        </a:rPr>
                        <a:t>Unused</a:t>
                      </a:r>
                      <a:endParaRPr sz="1100">
                        <a:latin typeface="Roboto Mono Medium"/>
                        <a:ea typeface="Roboto Mono Medium"/>
                        <a:cs typeface="Roboto Mono Medium"/>
                        <a:sym typeface="Roboto Mono Medium"/>
                      </a:endParaRPr>
                    </a:p>
                    <a:p>
                      <a:pPr indent="0" lvl="0" marL="0" rtl="0" algn="l">
                        <a:spcBef>
                          <a:spcPts val="0"/>
                        </a:spcBef>
                        <a:spcAft>
                          <a:spcPts val="0"/>
                        </a:spcAft>
                        <a:buNone/>
                      </a:pPr>
                      <a:r>
                        <a:rPr lang="en" sz="1100">
                          <a:latin typeface="Roboto Mono Medium"/>
                          <a:ea typeface="Roboto Mono Medium"/>
                          <a:cs typeface="Roboto Mono Medium"/>
                          <a:sym typeface="Roboto Mono Medium"/>
                        </a:rPr>
                        <a:t>Bit</a:t>
                      </a:r>
                      <a:endParaRPr sz="1100">
                        <a:latin typeface="Roboto Mono Medium"/>
                        <a:ea typeface="Roboto Mono Medium"/>
                        <a:cs typeface="Roboto Mono Medium"/>
                        <a:sym typeface="Roboto Mono Medium"/>
                      </a:endParaRPr>
                    </a:p>
                    <a:p>
                      <a:pPr indent="0" lvl="0" marL="0" rtl="0" algn="l">
                        <a:spcBef>
                          <a:spcPts val="0"/>
                        </a:spcBef>
                        <a:spcAft>
                          <a:spcPts val="0"/>
                        </a:spcAft>
                        <a:buNone/>
                      </a:pPr>
                      <a:r>
                        <a:rPr lang="en" sz="1100">
                          <a:latin typeface="Roboto Mono Medium"/>
                          <a:ea typeface="Roboto Mono Medium"/>
                          <a:cs typeface="Roboto Mono Medium"/>
                          <a:sym typeface="Roboto Mono Medium"/>
                        </a:rPr>
                        <a:t>Combi-</a:t>
                      </a:r>
                      <a:endParaRPr sz="1100">
                        <a:latin typeface="Roboto Mono Medium"/>
                        <a:ea typeface="Roboto Mono Medium"/>
                        <a:cs typeface="Roboto Mono Medium"/>
                        <a:sym typeface="Roboto Mono Medium"/>
                      </a:endParaRPr>
                    </a:p>
                    <a:p>
                      <a:pPr indent="0" lvl="0" marL="0" rtl="0" algn="l">
                        <a:spcBef>
                          <a:spcPts val="0"/>
                        </a:spcBef>
                        <a:spcAft>
                          <a:spcPts val="0"/>
                        </a:spcAft>
                        <a:buNone/>
                      </a:pPr>
                      <a:r>
                        <a:rPr lang="en" sz="1100">
                          <a:latin typeface="Roboto Mono Medium"/>
                          <a:ea typeface="Roboto Mono Medium"/>
                          <a:cs typeface="Roboto Mono Medium"/>
                          <a:sym typeface="Roboto Mono Medium"/>
                        </a:rPr>
                        <a:t>nations</a:t>
                      </a:r>
                      <a:endParaRPr sz="1100">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0000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100">
                          <a:solidFill>
                            <a:schemeClr val="dk1"/>
                          </a:solidFill>
                          <a:latin typeface="Roboto Mono Medium"/>
                          <a:ea typeface="Roboto Mono Medium"/>
                          <a:cs typeface="Roboto Mono Medium"/>
                          <a:sym typeface="Roboto Mono Medium"/>
                        </a:rPr>
                        <a:t>1101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1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8" name="Google Shape;128;p1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9" name="Google Shape;129;p1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30" name="Google Shape;130;p1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31" name="Google Shape;131;p18"/>
          <p:cNvSpPr/>
          <p:nvPr/>
        </p:nvSpPr>
        <p:spPr>
          <a:xfrm>
            <a:off x="357202" y="1202846"/>
            <a:ext cx="8437500" cy="3521100"/>
          </a:xfrm>
          <a:prstGeom prst="roundRect">
            <a:avLst>
              <a:gd fmla="val 3928" name="adj"/>
            </a:avLst>
          </a:prstGeom>
          <a:solidFill>
            <a:srgbClr val="FFFFFF"/>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18"/>
          <p:cNvSpPr/>
          <p:nvPr/>
        </p:nvSpPr>
        <p:spPr>
          <a:xfrm>
            <a:off x="3545249" y="2850750"/>
            <a:ext cx="2248500" cy="1652700"/>
          </a:xfrm>
          <a:prstGeom prst="roundRect">
            <a:avLst>
              <a:gd fmla="val 4721" name="adj"/>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18"/>
          <p:cNvSpPr/>
          <p:nvPr/>
        </p:nvSpPr>
        <p:spPr>
          <a:xfrm>
            <a:off x="6130099" y="2850750"/>
            <a:ext cx="2248500" cy="1652700"/>
          </a:xfrm>
          <a:prstGeom prst="roundRect">
            <a:avLst>
              <a:gd fmla="val 4721" name="adj"/>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18"/>
          <p:cNvSpPr/>
          <p:nvPr/>
        </p:nvSpPr>
        <p:spPr>
          <a:xfrm>
            <a:off x="960400" y="2850750"/>
            <a:ext cx="2248500" cy="1652700"/>
          </a:xfrm>
          <a:prstGeom prst="roundRect">
            <a:avLst>
              <a:gd fmla="val 4721" name="adj"/>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5" name="Google Shape;135;p18"/>
          <p:cNvGrpSpPr/>
          <p:nvPr/>
        </p:nvGrpSpPr>
        <p:grpSpPr>
          <a:xfrm>
            <a:off x="427350" y="1281750"/>
            <a:ext cx="277873" cy="68400"/>
            <a:chOff x="520925" y="1460325"/>
            <a:chExt cx="277873" cy="68400"/>
          </a:xfrm>
        </p:grpSpPr>
        <p:sp>
          <p:nvSpPr>
            <p:cNvPr id="136" name="Google Shape;136;p18"/>
            <p:cNvSpPr/>
            <p:nvPr/>
          </p:nvSpPr>
          <p:spPr>
            <a:xfrm>
              <a:off x="520925" y="1460325"/>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18"/>
            <p:cNvSpPr/>
            <p:nvPr/>
          </p:nvSpPr>
          <p:spPr>
            <a:xfrm>
              <a:off x="625661" y="1460325"/>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8"/>
            <p:cNvSpPr/>
            <p:nvPr/>
          </p:nvSpPr>
          <p:spPr>
            <a:xfrm>
              <a:off x="730398" y="1460325"/>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39" name="Google Shape;139;p18"/>
          <p:cNvSpPr txBox="1"/>
          <p:nvPr/>
        </p:nvSpPr>
        <p:spPr>
          <a:xfrm>
            <a:off x="209775" y="316175"/>
            <a:ext cx="85848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Negative Numbers Representation</a:t>
            </a:r>
            <a:endParaRPr sz="3600">
              <a:latin typeface="Lexend"/>
              <a:ea typeface="Lexend"/>
              <a:cs typeface="Lexend"/>
              <a:sym typeface="Lexend"/>
            </a:endParaRPr>
          </a:p>
        </p:txBody>
      </p:sp>
      <p:sp>
        <p:nvSpPr>
          <p:cNvPr id="140" name="Google Shape;140;p18"/>
          <p:cNvSpPr txBox="1"/>
          <p:nvPr/>
        </p:nvSpPr>
        <p:spPr>
          <a:xfrm>
            <a:off x="960400" y="3169200"/>
            <a:ext cx="22485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Sign</a:t>
            </a:r>
            <a:endParaRPr sz="1800">
              <a:latin typeface="Lexend Medium"/>
              <a:ea typeface="Lexend Medium"/>
              <a:cs typeface="Lexend Medium"/>
              <a:sym typeface="Lexend Medium"/>
            </a:endParaRPr>
          </a:p>
          <a:p>
            <a:pPr indent="0" lvl="0" marL="0" rtl="0" algn="ctr">
              <a:spcBef>
                <a:spcPts val="0"/>
              </a:spcBef>
              <a:spcAft>
                <a:spcPts val="0"/>
              </a:spcAft>
              <a:buNone/>
            </a:pPr>
            <a:r>
              <a:rPr lang="en" sz="1800">
                <a:latin typeface="Lexend Medium"/>
                <a:ea typeface="Lexend Medium"/>
                <a:cs typeface="Lexend Medium"/>
                <a:sym typeface="Lexend Medium"/>
              </a:rPr>
              <a:t>and</a:t>
            </a:r>
            <a:endParaRPr sz="1800">
              <a:latin typeface="Lexend Medium"/>
              <a:ea typeface="Lexend Medium"/>
              <a:cs typeface="Lexend Medium"/>
              <a:sym typeface="Lexend Medium"/>
            </a:endParaRPr>
          </a:p>
          <a:p>
            <a:pPr indent="0" lvl="0" marL="0" rtl="0" algn="ctr">
              <a:spcBef>
                <a:spcPts val="0"/>
              </a:spcBef>
              <a:spcAft>
                <a:spcPts val="0"/>
              </a:spcAft>
              <a:buNone/>
            </a:pPr>
            <a:r>
              <a:rPr lang="en" sz="1800">
                <a:latin typeface="Lexend Medium"/>
                <a:ea typeface="Lexend Medium"/>
                <a:cs typeface="Lexend Medium"/>
                <a:sym typeface="Lexend Medium"/>
              </a:rPr>
              <a:t>Magnitude</a:t>
            </a:r>
            <a:endParaRPr sz="1800">
              <a:latin typeface="Lexend Medium"/>
              <a:ea typeface="Lexend Medium"/>
              <a:cs typeface="Lexend Medium"/>
              <a:sym typeface="Lexend Medium"/>
            </a:endParaRPr>
          </a:p>
        </p:txBody>
      </p:sp>
      <p:sp>
        <p:nvSpPr>
          <p:cNvPr id="141" name="Google Shape;141;p18"/>
          <p:cNvSpPr txBox="1"/>
          <p:nvPr/>
        </p:nvSpPr>
        <p:spPr>
          <a:xfrm>
            <a:off x="3545175" y="3446250"/>
            <a:ext cx="2248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1s Complement</a:t>
            </a:r>
            <a:endParaRPr sz="1800">
              <a:latin typeface="Lexend Medium"/>
              <a:ea typeface="Lexend Medium"/>
              <a:cs typeface="Lexend Medium"/>
              <a:sym typeface="Lexend Medium"/>
            </a:endParaRPr>
          </a:p>
        </p:txBody>
      </p:sp>
      <p:sp>
        <p:nvSpPr>
          <p:cNvPr id="142" name="Google Shape;142;p18"/>
          <p:cNvSpPr txBox="1"/>
          <p:nvPr/>
        </p:nvSpPr>
        <p:spPr>
          <a:xfrm>
            <a:off x="6130100" y="3446250"/>
            <a:ext cx="2248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2s Complement</a:t>
            </a:r>
            <a:endParaRPr sz="1800">
              <a:latin typeface="Lexend Medium"/>
              <a:ea typeface="Lexend Medium"/>
              <a:cs typeface="Lexend Medium"/>
              <a:sym typeface="Lexend Medium"/>
            </a:endParaRPr>
          </a:p>
        </p:txBody>
      </p:sp>
      <p:sp>
        <p:nvSpPr>
          <p:cNvPr id="143" name="Google Shape;143;p18"/>
          <p:cNvSpPr txBox="1"/>
          <p:nvPr/>
        </p:nvSpPr>
        <p:spPr>
          <a:xfrm>
            <a:off x="354925" y="1557600"/>
            <a:ext cx="8399100" cy="1293000"/>
          </a:xfrm>
          <a:prstGeom prst="rect">
            <a:avLst/>
          </a:prstGeom>
          <a:noFill/>
          <a:ln>
            <a:noFill/>
          </a:ln>
        </p:spPr>
        <p:txBody>
          <a:bodyPr anchorCtr="0" anchor="t" bIns="91425" lIns="91425" spcFirstLastPara="1" rIns="91425" wrap="square" tIns="91425">
            <a:spAutoFit/>
          </a:bodyPr>
          <a:lstStyle/>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There are three common ways of representing signed numbers (positive and negative numbers) for binary numbers:</a:t>
            </a:r>
            <a:endParaRPr sz="2400">
              <a:solidFill>
                <a:schemeClr val="dk1"/>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9"/>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9" name="Google Shape;149;p1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50" name="Google Shape;150;p1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51" name="Google Shape;151;p19"/>
          <p:cNvSpPr txBox="1"/>
          <p:nvPr/>
        </p:nvSpPr>
        <p:spPr>
          <a:xfrm>
            <a:off x="351900" y="791050"/>
            <a:ext cx="8494200" cy="344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226059" lvl="0" marL="342900" rtl="0" algn="l">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Negative numbers are usually written by writing a minus sign in front.</a:t>
            </a:r>
            <a:endParaRPr sz="2000">
              <a:solidFill>
                <a:schemeClr val="dk1"/>
              </a:solidFill>
              <a:latin typeface="Lexend"/>
              <a:ea typeface="Lexend"/>
              <a:cs typeface="Lexend"/>
              <a:sym typeface="Lexend"/>
            </a:endParaRPr>
          </a:p>
          <a:p>
            <a:pPr indent="-252730" lvl="1" marL="742950" rtl="0" algn="l">
              <a:spcBef>
                <a:spcPts val="560"/>
              </a:spcBef>
              <a:spcAft>
                <a:spcPts val="0"/>
              </a:spcAft>
              <a:buClr>
                <a:srgbClr val="009999"/>
              </a:buClr>
              <a:buSzPts val="2000"/>
              <a:buFont typeface="Lexend"/>
              <a:buChar char="❖"/>
            </a:pPr>
            <a:r>
              <a:rPr lang="en" sz="2000">
                <a:solidFill>
                  <a:schemeClr val="dk1"/>
                </a:solidFill>
                <a:latin typeface="Lexend"/>
                <a:ea typeface="Lexend"/>
                <a:cs typeface="Lexend"/>
                <a:sym typeface="Lexend"/>
              </a:rPr>
              <a:t>Example:</a:t>
            </a:r>
            <a:endParaRPr sz="2000">
              <a:solidFill>
                <a:schemeClr val="dk1"/>
              </a:solidFill>
              <a:latin typeface="Lexend"/>
              <a:ea typeface="Lexend"/>
              <a:cs typeface="Lexend"/>
              <a:sym typeface="Lexend"/>
            </a:endParaRPr>
          </a:p>
          <a:p>
            <a:pPr indent="-285750" lvl="1" marL="742950" rtl="0" algn="l">
              <a:spcBef>
                <a:spcPts val="560"/>
              </a:spcBef>
              <a:spcAft>
                <a:spcPts val="0"/>
              </a:spcAft>
              <a:buClr>
                <a:schemeClr val="dk1"/>
              </a:buClr>
              <a:buSzPts val="2800"/>
              <a:buFont typeface="Arial"/>
              <a:buNone/>
            </a:pPr>
            <a:r>
              <a:rPr lang="en" sz="2000">
                <a:solidFill>
                  <a:schemeClr val="dk1"/>
                </a:solidFill>
                <a:latin typeface="Lexend"/>
                <a:ea typeface="Lexend"/>
                <a:cs typeface="Lexend"/>
                <a:sym typeface="Lexend"/>
              </a:rPr>
              <a:t>		- (12)</a:t>
            </a:r>
            <a:r>
              <a:rPr baseline="-25000" lang="en" sz="2000">
                <a:solidFill>
                  <a:schemeClr val="dk1"/>
                </a:solidFill>
                <a:latin typeface="Lexend"/>
                <a:ea typeface="Lexend"/>
                <a:cs typeface="Lexend"/>
                <a:sym typeface="Lexend"/>
              </a:rPr>
              <a:t>10</a:t>
            </a:r>
            <a:r>
              <a:rPr lang="en" sz="2000">
                <a:solidFill>
                  <a:schemeClr val="dk1"/>
                </a:solidFill>
                <a:latin typeface="Lexend"/>
                <a:ea typeface="Lexend"/>
                <a:cs typeface="Lexend"/>
                <a:sym typeface="Lexend"/>
              </a:rPr>
              <a:t> , - (1100)</a:t>
            </a:r>
            <a:r>
              <a:rPr baseline="-25000" lang="en" sz="2000">
                <a:solidFill>
                  <a:schemeClr val="dk1"/>
                </a:solidFill>
                <a:latin typeface="Lexend"/>
                <a:ea typeface="Lexend"/>
                <a:cs typeface="Lexend"/>
                <a:sym typeface="Lexend"/>
              </a:rPr>
              <a:t>2</a:t>
            </a:r>
            <a:endParaRPr sz="2000">
              <a:solidFill>
                <a:schemeClr val="dk1"/>
              </a:solidFill>
              <a:latin typeface="Lexend"/>
              <a:ea typeface="Lexend"/>
              <a:cs typeface="Lexend"/>
              <a:sym typeface="Lexend"/>
            </a:endParaRPr>
          </a:p>
          <a:p>
            <a:pPr indent="-226059" lvl="0" marL="342900" rtl="0" algn="l">
              <a:spcBef>
                <a:spcPts val="1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In computer memory of fixed width, this sign is usually represented by a bit:</a:t>
            </a:r>
            <a:endParaRPr sz="2000">
              <a:solidFill>
                <a:schemeClr val="dk1"/>
              </a:solidFill>
              <a:latin typeface="Lexend"/>
              <a:ea typeface="Lexend"/>
              <a:cs typeface="Lexend"/>
              <a:sym typeface="Lexend"/>
            </a:endParaRPr>
          </a:p>
          <a:p>
            <a:pPr indent="-285750" lvl="1" marL="742950" rtl="0" algn="l">
              <a:spcBef>
                <a:spcPts val="560"/>
              </a:spcBef>
              <a:spcAft>
                <a:spcPts val="0"/>
              </a:spcAft>
              <a:buClr>
                <a:schemeClr val="dk1"/>
              </a:buClr>
              <a:buSzPts val="2800"/>
              <a:buFont typeface="Arial"/>
              <a:buNone/>
            </a:pPr>
            <a:r>
              <a:rPr lang="en" sz="2000">
                <a:solidFill>
                  <a:schemeClr val="dk1"/>
                </a:solidFill>
                <a:latin typeface="Lexend"/>
                <a:ea typeface="Lexend"/>
                <a:cs typeface="Lexend"/>
                <a:sym typeface="Lexend"/>
              </a:rPr>
              <a:t>		0 for  +</a:t>
            </a:r>
            <a:endParaRPr sz="2000">
              <a:solidFill>
                <a:schemeClr val="dk1"/>
              </a:solidFill>
              <a:latin typeface="Lexend"/>
              <a:ea typeface="Lexend"/>
              <a:cs typeface="Lexend"/>
              <a:sym typeface="Lexend"/>
            </a:endParaRPr>
          </a:p>
          <a:p>
            <a:pPr indent="-285750" lvl="1" marL="742950" rtl="0" algn="l">
              <a:spcBef>
                <a:spcPts val="560"/>
              </a:spcBef>
              <a:spcAft>
                <a:spcPts val="0"/>
              </a:spcAft>
              <a:buNone/>
            </a:pPr>
            <a:r>
              <a:rPr lang="en" sz="2000">
                <a:solidFill>
                  <a:schemeClr val="dk1"/>
                </a:solidFill>
                <a:latin typeface="Lexend"/>
                <a:ea typeface="Lexend"/>
                <a:cs typeface="Lexend"/>
                <a:sym typeface="Lexend"/>
              </a:rPr>
              <a:t>		1 for  -</a:t>
            </a:r>
            <a:endParaRPr sz="2000">
              <a:solidFill>
                <a:schemeClr val="dk1"/>
              </a:solidFill>
              <a:latin typeface="Lexend"/>
              <a:ea typeface="Lexend"/>
              <a:cs typeface="Lexend"/>
              <a:sym typeface="Lexend"/>
            </a:endParaRPr>
          </a:p>
        </p:txBody>
      </p:sp>
      <p:grpSp>
        <p:nvGrpSpPr>
          <p:cNvPr id="152" name="Google Shape;152;p19"/>
          <p:cNvGrpSpPr/>
          <p:nvPr/>
        </p:nvGrpSpPr>
        <p:grpSpPr>
          <a:xfrm>
            <a:off x="50480" y="122879"/>
            <a:ext cx="277873" cy="68400"/>
            <a:chOff x="411700" y="2416840"/>
            <a:chExt cx="277873" cy="68400"/>
          </a:xfrm>
        </p:grpSpPr>
        <p:sp>
          <p:nvSpPr>
            <p:cNvPr id="153" name="Google Shape;153;p1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1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1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56" name="Google Shape;156;p1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Sign-and-Magnitude</a:t>
            </a:r>
            <a:endParaRPr sz="3600">
              <a:latin typeface="Lexend"/>
              <a:ea typeface="Lexend"/>
              <a:cs typeface="Lexend"/>
              <a:sym typeface="Lexend"/>
            </a:endParaRPr>
          </a:p>
        </p:txBody>
      </p:sp>
      <p:sp>
        <p:nvSpPr>
          <p:cNvPr id="157" name="Google Shape;157;p1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58" name="Google Shape;158;p1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2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64" name="Google Shape;164;p2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65" name="Google Shape;165;p2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66" name="Google Shape;166;p2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67" name="Google Shape;167;p20"/>
          <p:cNvSpPr/>
          <p:nvPr/>
        </p:nvSpPr>
        <p:spPr>
          <a:xfrm>
            <a:off x="357202" y="1202846"/>
            <a:ext cx="8437500" cy="3521100"/>
          </a:xfrm>
          <a:prstGeom prst="roundRect">
            <a:avLst>
              <a:gd fmla="val 3928" name="adj"/>
            </a:avLst>
          </a:prstGeom>
          <a:solidFill>
            <a:srgbClr val="FFFFFF"/>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68" name="Google Shape;168;p20"/>
          <p:cNvGrpSpPr/>
          <p:nvPr/>
        </p:nvGrpSpPr>
        <p:grpSpPr>
          <a:xfrm>
            <a:off x="427350" y="1281750"/>
            <a:ext cx="277873" cy="68400"/>
            <a:chOff x="520925" y="1460325"/>
            <a:chExt cx="277873" cy="68400"/>
          </a:xfrm>
        </p:grpSpPr>
        <p:sp>
          <p:nvSpPr>
            <p:cNvPr id="169" name="Google Shape;169;p20"/>
            <p:cNvSpPr/>
            <p:nvPr/>
          </p:nvSpPr>
          <p:spPr>
            <a:xfrm>
              <a:off x="520925" y="1460325"/>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20"/>
            <p:cNvSpPr/>
            <p:nvPr/>
          </p:nvSpPr>
          <p:spPr>
            <a:xfrm>
              <a:off x="625661" y="1460325"/>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20"/>
            <p:cNvSpPr/>
            <p:nvPr/>
          </p:nvSpPr>
          <p:spPr>
            <a:xfrm>
              <a:off x="730398" y="1460325"/>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72" name="Google Shape;172;p20"/>
          <p:cNvSpPr txBox="1"/>
          <p:nvPr/>
        </p:nvSpPr>
        <p:spPr>
          <a:xfrm>
            <a:off x="209775" y="316175"/>
            <a:ext cx="85848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Sign-and-Magnitude [cont.]</a:t>
            </a:r>
            <a:endParaRPr sz="3600">
              <a:latin typeface="Lexend"/>
              <a:ea typeface="Lexend"/>
              <a:cs typeface="Lexend"/>
              <a:sym typeface="Lexend"/>
            </a:endParaRPr>
          </a:p>
        </p:txBody>
      </p:sp>
      <p:sp>
        <p:nvSpPr>
          <p:cNvPr id="173" name="Google Shape;173;p20"/>
          <p:cNvSpPr txBox="1"/>
          <p:nvPr/>
        </p:nvSpPr>
        <p:spPr>
          <a:xfrm>
            <a:off x="354925" y="1557600"/>
            <a:ext cx="8399100" cy="923400"/>
          </a:xfrm>
          <a:prstGeom prst="rect">
            <a:avLst/>
          </a:prstGeom>
          <a:noFill/>
          <a:ln>
            <a:noFill/>
          </a:ln>
        </p:spPr>
        <p:txBody>
          <a:bodyPr anchorCtr="0" anchor="t" bIns="91425" lIns="91425" spcFirstLastPara="1" rIns="91425" wrap="square" tIns="91425">
            <a:spAutoFit/>
          </a:bodyPr>
          <a:lstStyle/>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Example: an 8-bit number can have 1-bit sign and 7-bits magnitude.</a:t>
            </a:r>
            <a:endParaRPr sz="2400">
              <a:solidFill>
                <a:schemeClr val="dk1"/>
              </a:solidFill>
              <a:latin typeface="Lexend"/>
              <a:ea typeface="Lexend"/>
              <a:cs typeface="Lexend"/>
              <a:sym typeface="Lexend"/>
            </a:endParaRPr>
          </a:p>
        </p:txBody>
      </p:sp>
      <p:grpSp>
        <p:nvGrpSpPr>
          <p:cNvPr id="174" name="Google Shape;174;p20"/>
          <p:cNvGrpSpPr/>
          <p:nvPr/>
        </p:nvGrpSpPr>
        <p:grpSpPr>
          <a:xfrm>
            <a:off x="1600200" y="3048000"/>
            <a:ext cx="5317823" cy="1695450"/>
            <a:chOff x="1248" y="1728"/>
            <a:chExt cx="3350" cy="1068"/>
          </a:xfrm>
        </p:grpSpPr>
        <p:sp>
          <p:nvSpPr>
            <p:cNvPr id="175" name="Google Shape;175;p20"/>
            <p:cNvSpPr txBox="1"/>
            <p:nvPr/>
          </p:nvSpPr>
          <p:spPr>
            <a:xfrm>
              <a:off x="1248" y="2496"/>
              <a:ext cx="6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Lexend"/>
                  <a:ea typeface="Lexend"/>
                  <a:cs typeface="Lexend"/>
                  <a:sym typeface="Lexend"/>
                </a:rPr>
                <a:t>sign</a:t>
              </a:r>
              <a:endParaRPr>
                <a:latin typeface="Lexend"/>
                <a:ea typeface="Lexend"/>
                <a:cs typeface="Lexend"/>
                <a:sym typeface="Lexend"/>
              </a:endParaRPr>
            </a:p>
          </p:txBody>
        </p:sp>
        <p:sp>
          <p:nvSpPr>
            <p:cNvPr id="176" name="Google Shape;176;p20"/>
            <p:cNvSpPr txBox="1"/>
            <p:nvPr/>
          </p:nvSpPr>
          <p:spPr>
            <a:xfrm>
              <a:off x="1776"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77" name="Google Shape;177;p20"/>
            <p:cNvSpPr txBox="1"/>
            <p:nvPr/>
          </p:nvSpPr>
          <p:spPr>
            <a:xfrm>
              <a:off x="2256"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78" name="Google Shape;178;p20"/>
            <p:cNvSpPr txBox="1"/>
            <p:nvPr/>
          </p:nvSpPr>
          <p:spPr>
            <a:xfrm>
              <a:off x="4272"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79" name="Google Shape;179;p20"/>
            <p:cNvSpPr txBox="1"/>
            <p:nvPr/>
          </p:nvSpPr>
          <p:spPr>
            <a:xfrm>
              <a:off x="3936"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0" name="Google Shape;180;p20"/>
            <p:cNvSpPr txBox="1"/>
            <p:nvPr/>
          </p:nvSpPr>
          <p:spPr>
            <a:xfrm>
              <a:off x="3600"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1" name="Google Shape;181;p20"/>
            <p:cNvSpPr txBox="1"/>
            <p:nvPr/>
          </p:nvSpPr>
          <p:spPr>
            <a:xfrm>
              <a:off x="2928"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2" name="Google Shape;182;p20"/>
            <p:cNvSpPr txBox="1"/>
            <p:nvPr/>
          </p:nvSpPr>
          <p:spPr>
            <a:xfrm>
              <a:off x="3264"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3" name="Google Shape;183;p20"/>
            <p:cNvSpPr txBox="1"/>
            <p:nvPr/>
          </p:nvSpPr>
          <p:spPr>
            <a:xfrm>
              <a:off x="2592"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cxnSp>
          <p:nvCxnSpPr>
            <p:cNvPr id="184" name="Google Shape;184;p20"/>
            <p:cNvCxnSpPr/>
            <p:nvPr/>
          </p:nvCxnSpPr>
          <p:spPr>
            <a:xfrm flipH="1" rot="10800000">
              <a:off x="1584" y="2196"/>
              <a:ext cx="300" cy="300"/>
            </a:xfrm>
            <a:prstGeom prst="straightConnector1">
              <a:avLst/>
            </a:prstGeom>
            <a:noFill/>
            <a:ln cap="flat" cmpd="sng" w="19050">
              <a:solidFill>
                <a:srgbClr val="000000"/>
              </a:solidFill>
              <a:prstDash val="solid"/>
              <a:miter lim="800000"/>
              <a:headEnd len="med" w="med" type="none"/>
              <a:tailEnd len="med" w="med" type="triangle"/>
            </a:ln>
          </p:spPr>
        </p:cxnSp>
        <p:cxnSp>
          <p:nvCxnSpPr>
            <p:cNvPr id="185" name="Google Shape;185;p20"/>
            <p:cNvCxnSpPr/>
            <p:nvPr/>
          </p:nvCxnSpPr>
          <p:spPr>
            <a:xfrm rot="10800000">
              <a:off x="3492" y="2100"/>
              <a:ext cx="300" cy="300"/>
            </a:xfrm>
            <a:prstGeom prst="straightConnector1">
              <a:avLst/>
            </a:prstGeom>
            <a:noFill/>
            <a:ln cap="flat" cmpd="sng" w="19050">
              <a:solidFill>
                <a:srgbClr val="000000"/>
              </a:solidFill>
              <a:prstDash val="solid"/>
              <a:miter lim="800000"/>
              <a:headEnd len="med" w="med" type="none"/>
              <a:tailEnd len="med" w="med" type="triangle"/>
            </a:ln>
          </p:spPr>
        </p:cxnSp>
        <p:sp>
          <p:nvSpPr>
            <p:cNvPr id="186" name="Google Shape;186;p20"/>
            <p:cNvSpPr txBox="1"/>
            <p:nvPr/>
          </p:nvSpPr>
          <p:spPr>
            <a:xfrm>
              <a:off x="3398" y="2448"/>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0" lang="en" sz="2000" u="none">
                  <a:solidFill>
                    <a:srgbClr val="000000"/>
                  </a:solidFill>
                  <a:latin typeface="Lexend"/>
                  <a:ea typeface="Lexend"/>
                  <a:cs typeface="Lexend"/>
                  <a:sym typeface="Lexend"/>
                </a:rPr>
                <a:t>magnitude</a:t>
              </a:r>
              <a:endParaRPr>
                <a:latin typeface="Lexend"/>
                <a:ea typeface="Lexend"/>
                <a:cs typeface="Lexend"/>
                <a:sym typeface="Lexend"/>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2" name="Google Shape;192;p2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93" name="Google Shape;193;p2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94" name="Google Shape;194;p21"/>
          <p:cNvSpPr txBox="1"/>
          <p:nvPr/>
        </p:nvSpPr>
        <p:spPr>
          <a:xfrm>
            <a:off x="351900" y="791050"/>
            <a:ext cx="8494200" cy="492600"/>
          </a:xfrm>
          <a:prstGeom prst="rect">
            <a:avLst/>
          </a:prstGeom>
          <a:noFill/>
          <a:ln>
            <a:noFill/>
          </a:ln>
        </p:spPr>
        <p:txBody>
          <a:bodyPr anchorCtr="0" anchor="t" bIns="91425" lIns="91425" spcFirstLastPara="1" rIns="91425" wrap="square" tIns="91425">
            <a:spAutoFit/>
          </a:bodyPr>
          <a:lstStyle/>
          <a:p>
            <a:pPr indent="0" lvl="0" marL="0" rtl="0" algn="l">
              <a:spcBef>
                <a:spcPts val="560"/>
              </a:spcBef>
              <a:spcAft>
                <a:spcPts val="0"/>
              </a:spcAft>
              <a:buNone/>
            </a:pPr>
            <a:r>
              <a:rPr lang="en" sz="2000">
                <a:solidFill>
                  <a:schemeClr val="dk1"/>
                </a:solidFill>
                <a:latin typeface="Lexend"/>
                <a:ea typeface="Lexend"/>
                <a:cs typeface="Lexend"/>
                <a:sym typeface="Lexend"/>
              </a:rPr>
              <a:t>Examples:</a:t>
            </a:r>
            <a:endParaRPr sz="2000">
              <a:solidFill>
                <a:schemeClr val="dk1"/>
              </a:solidFill>
              <a:latin typeface="Lexend"/>
              <a:ea typeface="Lexend"/>
              <a:cs typeface="Lexend"/>
              <a:sym typeface="Lexend"/>
            </a:endParaRPr>
          </a:p>
        </p:txBody>
      </p:sp>
      <p:grpSp>
        <p:nvGrpSpPr>
          <p:cNvPr id="195" name="Google Shape;195;p21"/>
          <p:cNvGrpSpPr/>
          <p:nvPr/>
        </p:nvGrpSpPr>
        <p:grpSpPr>
          <a:xfrm>
            <a:off x="50480" y="122879"/>
            <a:ext cx="277873" cy="68400"/>
            <a:chOff x="411700" y="2416840"/>
            <a:chExt cx="277873" cy="68400"/>
          </a:xfrm>
        </p:grpSpPr>
        <p:sp>
          <p:nvSpPr>
            <p:cNvPr id="196" name="Google Shape;196;p2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9" name="Google Shape;199;p2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Signed magnitude representation</a:t>
            </a:r>
            <a:endParaRPr sz="3600">
              <a:latin typeface="Lexend"/>
              <a:ea typeface="Lexend"/>
              <a:cs typeface="Lexend"/>
              <a:sym typeface="Lexend"/>
            </a:endParaRPr>
          </a:p>
        </p:txBody>
      </p:sp>
      <p:sp>
        <p:nvSpPr>
          <p:cNvPr id="200" name="Google Shape;200;p2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01" name="Google Shape;201;p2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202" name="Google Shape;202;p21"/>
          <p:cNvSpPr txBox="1"/>
          <p:nvPr/>
        </p:nvSpPr>
        <p:spPr>
          <a:xfrm>
            <a:off x="669750" y="1646113"/>
            <a:ext cx="7804500" cy="1015800"/>
          </a:xfrm>
          <a:prstGeom prst="rect">
            <a:avLst/>
          </a:prstGeom>
          <a:solidFill>
            <a:srgbClr val="CCFFFF"/>
          </a:solidFill>
          <a:ln cap="flat" cmpd="sng" w="25400">
            <a:solidFill>
              <a:srgbClr val="00008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mic Sans MS"/>
              <a:buNone/>
            </a:pPr>
            <a:r>
              <a:rPr i="0" lang="en" sz="1800" u="none">
                <a:solidFill>
                  <a:srgbClr val="000000"/>
                </a:solidFill>
                <a:latin typeface="Lexend"/>
                <a:ea typeface="Lexend"/>
                <a:cs typeface="Lexend"/>
                <a:sym typeface="Lexend"/>
              </a:rPr>
              <a:t>	1101</a:t>
            </a:r>
            <a:r>
              <a:rPr baseline="-25000" i="0" lang="en" sz="1800" u="none">
                <a:solidFill>
                  <a:srgbClr val="000000"/>
                </a:solidFill>
                <a:latin typeface="Lexend"/>
                <a:ea typeface="Lexend"/>
                <a:cs typeface="Lexend"/>
                <a:sym typeface="Lexend"/>
              </a:rPr>
              <a:t>2</a:t>
            </a:r>
            <a:r>
              <a:rPr i="0" lang="en" sz="1800" u="none">
                <a:solidFill>
                  <a:srgbClr val="000000"/>
                </a:solidFill>
                <a:latin typeface="Lexend"/>
                <a:ea typeface="Lexend"/>
                <a:cs typeface="Lexend"/>
                <a:sym typeface="Lexend"/>
              </a:rPr>
              <a:t>	= 13</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4-bit unsigned number)</a:t>
            </a:r>
            <a:endParaRPr sz="1800">
              <a:latin typeface="Lexend"/>
              <a:ea typeface="Lexend"/>
              <a:cs typeface="Lexend"/>
              <a:sym typeface="Lexend"/>
            </a:endParaRPr>
          </a:p>
          <a:p>
            <a:pPr indent="0" lvl="0" marL="0" marR="0" rtl="0" algn="l">
              <a:lnSpc>
                <a:spcPct val="100000"/>
              </a:lnSpc>
              <a:spcBef>
                <a:spcPts val="360"/>
              </a:spcBef>
              <a:spcAft>
                <a:spcPts val="0"/>
              </a:spcAft>
              <a:buClr>
                <a:srgbClr val="3333FF"/>
              </a:buClr>
              <a:buSzPts val="1800"/>
              <a:buFont typeface="Comic Sans MS"/>
              <a:buNone/>
            </a:pPr>
            <a:r>
              <a:rPr i="0" lang="en" sz="1800" u="none">
                <a:solidFill>
                  <a:srgbClr val="3333FF"/>
                </a:solidFill>
                <a:latin typeface="Lexend"/>
                <a:ea typeface="Lexend"/>
                <a:cs typeface="Lexend"/>
                <a:sym typeface="Lexend"/>
              </a:rPr>
              <a:t>0	</a:t>
            </a:r>
            <a:r>
              <a:rPr i="0" lang="en" sz="1800" u="none">
                <a:solidFill>
                  <a:srgbClr val="000000"/>
                </a:solidFill>
                <a:latin typeface="Lexend"/>
                <a:ea typeface="Lexend"/>
                <a:cs typeface="Lexend"/>
                <a:sym typeface="Lexend"/>
              </a:rPr>
              <a:t>1101	= +13</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positive number in 5-bit signed magnitude)</a:t>
            </a:r>
            <a:endParaRPr sz="1800">
              <a:latin typeface="Lexend"/>
              <a:ea typeface="Lexend"/>
              <a:cs typeface="Lexend"/>
              <a:sym typeface="Lexend"/>
            </a:endParaRPr>
          </a:p>
          <a:p>
            <a:pPr indent="0" lvl="0" marL="0" marR="0" rtl="0" algn="l">
              <a:lnSpc>
                <a:spcPct val="100000"/>
              </a:lnSpc>
              <a:spcBef>
                <a:spcPts val="360"/>
              </a:spcBef>
              <a:spcAft>
                <a:spcPts val="0"/>
              </a:spcAft>
              <a:buClr>
                <a:srgbClr val="3333FF"/>
              </a:buClr>
              <a:buSzPts val="1800"/>
              <a:buFont typeface="Comic Sans MS"/>
              <a:buNone/>
            </a:pPr>
            <a:r>
              <a:rPr i="0" lang="en" sz="1800" u="none">
                <a:solidFill>
                  <a:srgbClr val="3333FF"/>
                </a:solidFill>
                <a:latin typeface="Lexend"/>
                <a:ea typeface="Lexend"/>
                <a:cs typeface="Lexend"/>
                <a:sym typeface="Lexend"/>
              </a:rPr>
              <a:t>1	</a:t>
            </a:r>
            <a:r>
              <a:rPr i="0" lang="en" sz="1800" u="none">
                <a:solidFill>
                  <a:srgbClr val="000000"/>
                </a:solidFill>
                <a:latin typeface="Lexend"/>
                <a:ea typeface="Lexend"/>
                <a:cs typeface="Lexend"/>
                <a:sym typeface="Lexend"/>
              </a:rPr>
              <a:t>1101	= -13</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negative number in 5-bit signed magnitude)</a:t>
            </a:r>
            <a:endParaRPr sz="1800">
              <a:latin typeface="Lexend"/>
              <a:ea typeface="Lexend"/>
              <a:cs typeface="Lexend"/>
              <a:sym typeface="Lexend"/>
            </a:endParaRPr>
          </a:p>
        </p:txBody>
      </p:sp>
      <p:sp>
        <p:nvSpPr>
          <p:cNvPr id="203" name="Google Shape;203;p21"/>
          <p:cNvSpPr txBox="1"/>
          <p:nvPr/>
        </p:nvSpPr>
        <p:spPr>
          <a:xfrm>
            <a:off x="669750" y="2973200"/>
            <a:ext cx="7804500" cy="1015800"/>
          </a:xfrm>
          <a:prstGeom prst="rect">
            <a:avLst/>
          </a:prstGeom>
          <a:solidFill>
            <a:srgbClr val="FFFF99"/>
          </a:solidFill>
          <a:ln cap="flat" cmpd="sng" w="25400">
            <a:solidFill>
              <a:srgbClr val="99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mic Sans MS"/>
              <a:buNone/>
            </a:pPr>
            <a:r>
              <a:rPr i="0" lang="en" sz="1800" u="none">
                <a:solidFill>
                  <a:srgbClr val="000000"/>
                </a:solidFill>
                <a:latin typeface="Lexend"/>
                <a:ea typeface="Lexend"/>
                <a:cs typeface="Lexend"/>
                <a:sym typeface="Lexend"/>
              </a:rPr>
              <a:t>	0100</a:t>
            </a:r>
            <a:r>
              <a:rPr baseline="-25000" i="0" lang="en" sz="1800" u="none">
                <a:solidFill>
                  <a:srgbClr val="000000"/>
                </a:solidFill>
                <a:latin typeface="Lexend"/>
                <a:ea typeface="Lexend"/>
                <a:cs typeface="Lexend"/>
                <a:sym typeface="Lexend"/>
              </a:rPr>
              <a:t>2</a:t>
            </a:r>
            <a:r>
              <a:rPr i="0" lang="en" sz="1800" u="none">
                <a:solidFill>
                  <a:srgbClr val="000000"/>
                </a:solidFill>
                <a:latin typeface="Lexend"/>
                <a:ea typeface="Lexend"/>
                <a:cs typeface="Lexend"/>
                <a:sym typeface="Lexend"/>
              </a:rPr>
              <a:t>	= 4</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4-bit unsigned number)</a:t>
            </a:r>
            <a:endParaRPr sz="1800">
              <a:latin typeface="Lexend"/>
              <a:ea typeface="Lexend"/>
              <a:cs typeface="Lexend"/>
              <a:sym typeface="Lexend"/>
            </a:endParaRPr>
          </a:p>
          <a:p>
            <a:pPr indent="0" lvl="0" marL="0" marR="0" rtl="0" algn="l">
              <a:lnSpc>
                <a:spcPct val="100000"/>
              </a:lnSpc>
              <a:spcBef>
                <a:spcPts val="360"/>
              </a:spcBef>
              <a:spcAft>
                <a:spcPts val="0"/>
              </a:spcAft>
              <a:buClr>
                <a:srgbClr val="3333FF"/>
              </a:buClr>
              <a:buSzPts val="1800"/>
              <a:buFont typeface="Comic Sans MS"/>
              <a:buNone/>
            </a:pPr>
            <a:r>
              <a:rPr i="0" lang="en" sz="1800" u="none">
                <a:solidFill>
                  <a:srgbClr val="3333FF"/>
                </a:solidFill>
                <a:latin typeface="Lexend"/>
                <a:ea typeface="Lexend"/>
                <a:cs typeface="Lexend"/>
                <a:sym typeface="Lexend"/>
              </a:rPr>
              <a:t>0	</a:t>
            </a:r>
            <a:r>
              <a:rPr i="0" lang="en" sz="1800" u="none">
                <a:solidFill>
                  <a:srgbClr val="000000"/>
                </a:solidFill>
                <a:latin typeface="Lexend"/>
                <a:ea typeface="Lexend"/>
                <a:cs typeface="Lexend"/>
                <a:sym typeface="Lexend"/>
              </a:rPr>
              <a:t>0100	= +4</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positive number in 5-bit signed magnitude)</a:t>
            </a:r>
            <a:endParaRPr sz="1800">
              <a:latin typeface="Lexend"/>
              <a:ea typeface="Lexend"/>
              <a:cs typeface="Lexend"/>
              <a:sym typeface="Lexend"/>
            </a:endParaRPr>
          </a:p>
          <a:p>
            <a:pPr indent="0" lvl="0" marL="0" marR="0" rtl="0" algn="l">
              <a:lnSpc>
                <a:spcPct val="100000"/>
              </a:lnSpc>
              <a:spcBef>
                <a:spcPts val="360"/>
              </a:spcBef>
              <a:spcAft>
                <a:spcPts val="0"/>
              </a:spcAft>
              <a:buClr>
                <a:srgbClr val="3333FF"/>
              </a:buClr>
              <a:buSzPts val="1800"/>
              <a:buFont typeface="Comic Sans MS"/>
              <a:buNone/>
            </a:pPr>
            <a:r>
              <a:rPr i="0" lang="en" sz="1800" u="none">
                <a:solidFill>
                  <a:srgbClr val="3333FF"/>
                </a:solidFill>
                <a:latin typeface="Lexend"/>
                <a:ea typeface="Lexend"/>
                <a:cs typeface="Lexend"/>
                <a:sym typeface="Lexend"/>
              </a:rPr>
              <a:t>1	</a:t>
            </a:r>
            <a:r>
              <a:rPr i="0" lang="en" sz="1800" u="none">
                <a:solidFill>
                  <a:srgbClr val="000000"/>
                </a:solidFill>
                <a:latin typeface="Lexend"/>
                <a:ea typeface="Lexend"/>
                <a:cs typeface="Lexend"/>
                <a:sym typeface="Lexend"/>
              </a:rPr>
              <a:t>0100	= -4</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negative number in 5-bit signed magnitude)</a:t>
            </a:r>
            <a:endParaRPr sz="1800">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2"/>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9" name="Google Shape;209;p2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10" name="Google Shape;210;p2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11" name="Google Shape;211;p22"/>
          <p:cNvSpPr txBox="1"/>
          <p:nvPr/>
        </p:nvSpPr>
        <p:spPr>
          <a:xfrm>
            <a:off x="351900" y="791050"/>
            <a:ext cx="8494200" cy="3560700"/>
          </a:xfrm>
          <a:prstGeom prst="rect">
            <a:avLst/>
          </a:prstGeom>
          <a:noFill/>
          <a:ln>
            <a:noFill/>
          </a:ln>
        </p:spPr>
        <p:txBody>
          <a:bodyPr anchorCtr="0" anchor="t" bIns="91425" lIns="91425" spcFirstLastPara="1" rIns="91425" wrap="square" tIns="91425">
            <a:spAutoFit/>
          </a:bodyPr>
          <a:lstStyle/>
          <a:p>
            <a:pPr indent="-281940" lvl="0" marL="342900" rtl="0" algn="l">
              <a:spcBef>
                <a:spcPts val="0"/>
              </a:spcBef>
              <a:spcAft>
                <a:spcPts val="0"/>
              </a:spcAft>
              <a:buClr>
                <a:schemeClr val="dk1"/>
              </a:buClr>
              <a:buSzPts val="2400"/>
              <a:buFont typeface="Lexend"/>
              <a:buChar char="▪"/>
            </a:pPr>
            <a:r>
              <a:rPr lang="en" sz="2400">
                <a:solidFill>
                  <a:schemeClr val="dk1"/>
                </a:solidFill>
                <a:latin typeface="Lexend"/>
                <a:ea typeface="Lexend"/>
                <a:cs typeface="Lexend"/>
                <a:sym typeface="Lexend"/>
              </a:rPr>
              <a:t>Largest Positive Number:    0 1111111      +(127)</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281940" lvl="0" marL="342900" rtl="0" algn="l">
              <a:spcBef>
                <a:spcPts val="1120"/>
              </a:spcBef>
              <a:spcAft>
                <a:spcPts val="0"/>
              </a:spcAft>
              <a:buClr>
                <a:schemeClr val="dk1"/>
              </a:buClr>
              <a:buSzPts val="2400"/>
              <a:buFont typeface="Noto Sans Symbols"/>
              <a:buChar char="▪"/>
            </a:pPr>
            <a:r>
              <a:rPr lang="en" sz="2400">
                <a:solidFill>
                  <a:schemeClr val="dk1"/>
                </a:solidFill>
                <a:latin typeface="Lexend"/>
                <a:ea typeface="Lexend"/>
                <a:cs typeface="Lexend"/>
                <a:sym typeface="Lexend"/>
              </a:rPr>
              <a:t>Largest Negative Number:  1 1111111      -(127)</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281940" lvl="0" marL="342900" rtl="0" algn="l">
              <a:spcBef>
                <a:spcPts val="1120"/>
              </a:spcBef>
              <a:spcAft>
                <a:spcPts val="0"/>
              </a:spcAft>
              <a:buClr>
                <a:schemeClr val="dk1"/>
              </a:buClr>
              <a:buSzPts val="2400"/>
              <a:buFont typeface="Lexend"/>
              <a:buChar char="▪"/>
            </a:pPr>
            <a:r>
              <a:rPr lang="en" sz="2400">
                <a:solidFill>
                  <a:schemeClr val="dk1"/>
                </a:solidFill>
                <a:latin typeface="Lexend"/>
                <a:ea typeface="Lexend"/>
                <a:cs typeface="Lexend"/>
                <a:sym typeface="Lexend"/>
              </a:rPr>
              <a:t>Zeroes:                                   0 0000000   +(0)</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342900" lvl="0" marL="342900" rtl="0" algn="l">
              <a:spcBef>
                <a:spcPts val="560"/>
              </a:spcBef>
              <a:spcAft>
                <a:spcPts val="0"/>
              </a:spcAft>
              <a:buClr>
                <a:schemeClr val="dk1"/>
              </a:buClr>
              <a:buSzPts val="2800"/>
              <a:buFont typeface="Arial"/>
              <a:buNone/>
            </a:pPr>
            <a:r>
              <a:rPr lang="en" sz="2400">
                <a:solidFill>
                  <a:schemeClr val="dk1"/>
                </a:solidFill>
                <a:latin typeface="Lexend"/>
                <a:ea typeface="Lexend"/>
                <a:cs typeface="Lexend"/>
                <a:sym typeface="Lexend"/>
              </a:rPr>
              <a:t>                                                   1 0000000     -(0)</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281940" lvl="0" marL="342900" rtl="0" algn="l">
              <a:spcBef>
                <a:spcPts val="1120"/>
              </a:spcBef>
              <a:spcAft>
                <a:spcPts val="0"/>
              </a:spcAft>
              <a:buClr>
                <a:schemeClr val="dk1"/>
              </a:buClr>
              <a:buSzPts val="2400"/>
              <a:buFont typeface="Noto Sans Symbols"/>
              <a:buChar char="▪"/>
            </a:pPr>
            <a:r>
              <a:rPr lang="en" sz="2400">
                <a:solidFill>
                  <a:schemeClr val="dk1"/>
                </a:solidFill>
                <a:latin typeface="Lexend"/>
                <a:ea typeface="Lexend"/>
                <a:cs typeface="Lexend"/>
                <a:sym typeface="Lexend"/>
              </a:rPr>
              <a:t>Range: -(127)</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to +(127)</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281940" lvl="0" marL="342900" rtl="0" algn="l">
              <a:spcBef>
                <a:spcPts val="1120"/>
              </a:spcBef>
              <a:spcAft>
                <a:spcPts val="0"/>
              </a:spcAft>
              <a:buClr>
                <a:srgbClr val="0000FF"/>
              </a:buClr>
              <a:buSzPts val="2400"/>
              <a:buFont typeface="Lexend"/>
              <a:buChar char="▪"/>
            </a:pPr>
            <a:r>
              <a:rPr lang="en" sz="2400">
                <a:solidFill>
                  <a:srgbClr val="0000FF"/>
                </a:solidFill>
                <a:latin typeface="Lexend"/>
                <a:ea typeface="Lexend"/>
                <a:cs typeface="Lexend"/>
                <a:sym typeface="Lexend"/>
              </a:rPr>
              <a:t>Signed numbers</a:t>
            </a:r>
            <a:r>
              <a:rPr lang="en" sz="2400">
                <a:solidFill>
                  <a:schemeClr val="dk1"/>
                </a:solidFill>
                <a:latin typeface="Lexend"/>
                <a:ea typeface="Lexend"/>
                <a:cs typeface="Lexend"/>
                <a:sym typeface="Lexend"/>
              </a:rPr>
              <a:t> needed for negative numbers. </a:t>
            </a:r>
            <a:endParaRPr sz="2400">
              <a:solidFill>
                <a:schemeClr val="dk1"/>
              </a:solidFill>
              <a:latin typeface="Lexend"/>
              <a:ea typeface="Lexend"/>
              <a:cs typeface="Lexend"/>
              <a:sym typeface="Lexend"/>
            </a:endParaRPr>
          </a:p>
          <a:p>
            <a:pPr indent="-281940" lvl="0" marL="342900" rtl="0" algn="l">
              <a:spcBef>
                <a:spcPts val="1120"/>
              </a:spcBef>
              <a:spcAft>
                <a:spcPts val="0"/>
              </a:spcAft>
              <a:buClr>
                <a:schemeClr val="dk1"/>
              </a:buClr>
              <a:buSzPts val="2400"/>
              <a:buFont typeface="Lexend"/>
              <a:buChar char="▪"/>
            </a:pPr>
            <a:r>
              <a:rPr lang="en" sz="2400">
                <a:solidFill>
                  <a:schemeClr val="dk1"/>
                </a:solidFill>
                <a:latin typeface="Lexend"/>
                <a:ea typeface="Lexend"/>
                <a:cs typeface="Lexend"/>
                <a:sym typeface="Lexend"/>
              </a:rPr>
              <a:t>Representation: Sign-and-magnitude.</a:t>
            </a:r>
            <a:endParaRPr sz="2400">
              <a:solidFill>
                <a:schemeClr val="dk1"/>
              </a:solidFill>
              <a:latin typeface="Lexend"/>
              <a:ea typeface="Lexend"/>
              <a:cs typeface="Lexend"/>
              <a:sym typeface="Lexend"/>
            </a:endParaRPr>
          </a:p>
        </p:txBody>
      </p:sp>
      <p:grpSp>
        <p:nvGrpSpPr>
          <p:cNvPr id="212" name="Google Shape;212;p22"/>
          <p:cNvGrpSpPr/>
          <p:nvPr/>
        </p:nvGrpSpPr>
        <p:grpSpPr>
          <a:xfrm>
            <a:off x="50480" y="122879"/>
            <a:ext cx="277873" cy="68400"/>
            <a:chOff x="411700" y="2416840"/>
            <a:chExt cx="277873" cy="68400"/>
          </a:xfrm>
        </p:grpSpPr>
        <p:sp>
          <p:nvSpPr>
            <p:cNvPr id="213" name="Google Shape;213;p2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2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2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6" name="Google Shape;216;p2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Sign-and-Magnitude [Cont.]</a:t>
            </a:r>
            <a:endParaRPr sz="3600">
              <a:latin typeface="Lexend"/>
              <a:ea typeface="Lexend"/>
              <a:cs typeface="Lexend"/>
              <a:sym typeface="Lexend"/>
            </a:endParaRPr>
          </a:p>
        </p:txBody>
      </p:sp>
      <p:sp>
        <p:nvSpPr>
          <p:cNvPr id="217" name="Google Shape;217;p2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18" name="Google Shape;218;p2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3"/>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4" name="Google Shape;224;p2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25" name="Google Shape;225;p2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26" name="Google Shape;226;p23"/>
          <p:cNvSpPr txBox="1"/>
          <p:nvPr/>
        </p:nvSpPr>
        <p:spPr>
          <a:xfrm>
            <a:off x="351900" y="791050"/>
            <a:ext cx="8494200" cy="1293000"/>
          </a:xfrm>
          <a:prstGeom prst="rect">
            <a:avLst/>
          </a:prstGeom>
          <a:noFill/>
          <a:ln>
            <a:noFill/>
          </a:ln>
        </p:spPr>
        <p:txBody>
          <a:bodyPr anchorCtr="0" anchor="t" bIns="91425" lIns="91425" spcFirstLastPara="1" rIns="91425" wrap="square" tIns="91425">
            <a:spAutoFit/>
          </a:bodyPr>
          <a:lstStyle/>
          <a:p>
            <a:pPr indent="-256540" lvl="0" marL="342900" rtl="0" algn="l">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Given a number </a:t>
            </a:r>
            <a:r>
              <a:rPr i="1" lang="en" sz="2000">
                <a:solidFill>
                  <a:schemeClr val="dk1"/>
                </a:solidFill>
                <a:latin typeface="Lexend"/>
                <a:ea typeface="Lexend"/>
                <a:cs typeface="Lexend"/>
                <a:sym typeface="Lexend"/>
              </a:rPr>
              <a:t>x</a:t>
            </a:r>
            <a:r>
              <a:rPr lang="en" sz="2000">
                <a:solidFill>
                  <a:schemeClr val="dk1"/>
                </a:solidFill>
                <a:latin typeface="Lexend"/>
                <a:ea typeface="Lexend"/>
                <a:cs typeface="Lexend"/>
                <a:sym typeface="Lexend"/>
              </a:rPr>
              <a:t> which can be expressed as an   </a:t>
            </a:r>
            <a:r>
              <a:rPr i="1"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-bit binary number (</a:t>
            </a:r>
            <a:r>
              <a:rPr i="1" lang="en" sz="2000">
                <a:solidFill>
                  <a:schemeClr val="dk1"/>
                </a:solidFill>
                <a:latin typeface="Lexend"/>
                <a:ea typeface="Lexend"/>
                <a:cs typeface="Lexend"/>
                <a:sym typeface="Lexend"/>
              </a:rPr>
              <a:t>i.e. integer part has </a:t>
            </a:r>
            <a:r>
              <a:rPr i="1" lang="en" sz="2000">
                <a:solidFill>
                  <a:srgbClr val="FF0000"/>
                </a:solidFill>
                <a:latin typeface="Lexend"/>
                <a:ea typeface="Lexend"/>
                <a:cs typeface="Lexend"/>
                <a:sym typeface="Lexend"/>
              </a:rPr>
              <a:t>n digits</a:t>
            </a:r>
            <a:r>
              <a:rPr i="1" lang="en" sz="2000">
                <a:solidFill>
                  <a:schemeClr val="dk1"/>
                </a:solidFill>
                <a:latin typeface="Lexend"/>
                <a:ea typeface="Lexend"/>
                <a:cs typeface="Lexend"/>
                <a:sym typeface="Lexend"/>
              </a:rPr>
              <a:t> and fraction has </a:t>
            </a:r>
            <a:r>
              <a:rPr i="1" lang="en" sz="2000">
                <a:solidFill>
                  <a:srgbClr val="FF0000"/>
                </a:solidFill>
                <a:latin typeface="Lexend"/>
                <a:ea typeface="Lexend"/>
                <a:cs typeface="Lexend"/>
                <a:sym typeface="Lexend"/>
              </a:rPr>
              <a:t>m digit</a:t>
            </a:r>
            <a:r>
              <a:rPr lang="en" sz="2000">
                <a:solidFill>
                  <a:schemeClr val="dk1"/>
                </a:solidFill>
                <a:latin typeface="Lexend"/>
                <a:ea typeface="Lexend"/>
                <a:cs typeface="Lexend"/>
                <a:sym typeface="Lexend"/>
              </a:rPr>
              <a:t>), its negative value can be obtained in </a:t>
            </a:r>
            <a:r>
              <a:rPr lang="en" sz="2000">
                <a:solidFill>
                  <a:srgbClr val="0000FF"/>
                </a:solidFill>
                <a:latin typeface="Lexend"/>
                <a:ea typeface="Lexend"/>
                <a:cs typeface="Lexend"/>
                <a:sym typeface="Lexend"/>
              </a:rPr>
              <a:t>1s-complement</a:t>
            </a:r>
            <a:r>
              <a:rPr lang="en" sz="2000">
                <a:solidFill>
                  <a:schemeClr val="dk1"/>
                </a:solidFill>
                <a:latin typeface="Lexend"/>
                <a:ea typeface="Lexend"/>
                <a:cs typeface="Lexend"/>
                <a:sym typeface="Lexend"/>
              </a:rPr>
              <a:t> representation using:</a:t>
            </a:r>
            <a:endParaRPr sz="2000">
              <a:solidFill>
                <a:schemeClr val="dk1"/>
              </a:solidFill>
              <a:latin typeface="Lexend"/>
              <a:ea typeface="Lexend"/>
              <a:cs typeface="Lexend"/>
              <a:sym typeface="Lexend"/>
            </a:endParaRPr>
          </a:p>
        </p:txBody>
      </p:sp>
      <p:grpSp>
        <p:nvGrpSpPr>
          <p:cNvPr id="227" name="Google Shape;227;p23"/>
          <p:cNvGrpSpPr/>
          <p:nvPr/>
        </p:nvGrpSpPr>
        <p:grpSpPr>
          <a:xfrm>
            <a:off x="50480" y="122879"/>
            <a:ext cx="277873" cy="68400"/>
            <a:chOff x="411700" y="2416840"/>
            <a:chExt cx="277873" cy="68400"/>
          </a:xfrm>
        </p:grpSpPr>
        <p:sp>
          <p:nvSpPr>
            <p:cNvPr id="228" name="Google Shape;228;p2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9" name="Google Shape;229;p2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 name="Google Shape;230;p2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31" name="Google Shape;231;p2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1s Complement</a:t>
            </a:r>
            <a:endParaRPr sz="3600">
              <a:latin typeface="Lexend"/>
              <a:ea typeface="Lexend"/>
              <a:cs typeface="Lexend"/>
              <a:sym typeface="Lexend"/>
            </a:endParaRPr>
          </a:p>
        </p:txBody>
      </p:sp>
      <p:sp>
        <p:nvSpPr>
          <p:cNvPr id="232" name="Google Shape;232;p2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33" name="Google Shape;233;p2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234" name="Google Shape;234;p23"/>
          <p:cNvGraphicFramePr/>
          <p:nvPr/>
        </p:nvGraphicFramePr>
        <p:xfrm>
          <a:off x="917875" y="2084050"/>
          <a:ext cx="3000000" cy="3000000"/>
        </p:xfrm>
        <a:graphic>
          <a:graphicData uri="http://schemas.openxmlformats.org/drawingml/2006/table">
            <a:tbl>
              <a:tblPr>
                <a:noFill/>
                <a:tableStyleId>{D623827D-E9A9-4C25-9243-6ADB782674F1}</a:tableStyleId>
              </a:tblPr>
              <a:tblGrid>
                <a:gridCol w="960425"/>
                <a:gridCol w="1171600"/>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Decimal Digit</a:t>
                      </a:r>
                      <a:endParaRPr b="1">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1’s complement</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sz="1300">
                          <a:latin typeface="Roboto Mono Medium"/>
                          <a:ea typeface="Roboto Mono Medium"/>
                          <a:cs typeface="Roboto Mono Medium"/>
                          <a:sym typeface="Roboto Mono Medium"/>
                        </a:rPr>
                        <a:t>+7</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111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+6</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Mono Medium"/>
                          <a:ea typeface="Roboto Mono Medium"/>
                          <a:cs typeface="Roboto Mono Medium"/>
                          <a:sym typeface="Roboto Mono Medium"/>
                        </a:rPr>
                        <a:t>0110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+5</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Mono Medium"/>
                          <a:ea typeface="Roboto Mono Medium"/>
                          <a:cs typeface="Roboto Mono Medium"/>
                          <a:sym typeface="Roboto Mono Medium"/>
                        </a:rPr>
                        <a:t>0101</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+4</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Mono Medium"/>
                          <a:ea typeface="Roboto Mono Medium"/>
                          <a:cs typeface="Roboto Mono Medium"/>
                          <a:sym typeface="Roboto Mono Medium"/>
                        </a:rPr>
                        <a:t>0100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+3</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0011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+2</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0010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200" u="none">
                          <a:solidFill>
                            <a:srgbClr val="000000"/>
                          </a:solidFill>
                          <a:latin typeface="Roboto Mono Medium"/>
                          <a:ea typeface="Roboto Mono Medium"/>
                          <a:cs typeface="Roboto Mono Medium"/>
                          <a:sym typeface="Roboto Mono Medium"/>
                        </a:rPr>
                        <a:t>0</a:t>
                      </a:r>
                      <a:r>
                        <a:rPr lang="en" sz="1200">
                          <a:latin typeface="Roboto Mono Medium"/>
                          <a:ea typeface="Roboto Mono Medium"/>
                          <a:cs typeface="Roboto Mono Medium"/>
                          <a:sym typeface="Roboto Mono Medium"/>
                        </a:rPr>
                        <a:t>001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200" u="none">
                          <a:solidFill>
                            <a:srgbClr val="000000"/>
                          </a:solidFill>
                          <a:latin typeface="Roboto Mono Medium"/>
                          <a:ea typeface="Roboto Mono Medium"/>
                          <a:cs typeface="Roboto Mono Medium"/>
                          <a:sym typeface="Roboto Mono Medium"/>
                        </a:rPr>
                        <a:t>0</a:t>
                      </a:r>
                      <a:r>
                        <a:rPr lang="en" sz="1200">
                          <a:latin typeface="Roboto Mono Medium"/>
                          <a:ea typeface="Roboto Mono Medium"/>
                          <a:cs typeface="Roboto Mono Medium"/>
                          <a:sym typeface="Roboto Mono Medium"/>
                        </a:rPr>
                        <a:t>000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graphicFrame>
        <p:nvGraphicFramePr>
          <p:cNvPr id="235" name="Google Shape;235;p23"/>
          <p:cNvGraphicFramePr/>
          <p:nvPr/>
        </p:nvGraphicFramePr>
        <p:xfrm>
          <a:off x="5741750" y="2053588"/>
          <a:ext cx="3000000" cy="3000000"/>
        </p:xfrm>
        <a:graphic>
          <a:graphicData uri="http://schemas.openxmlformats.org/drawingml/2006/table">
            <a:tbl>
              <a:tblPr>
                <a:noFill/>
                <a:tableStyleId>{D623827D-E9A9-4C25-9243-6ADB782674F1}</a:tableStyleId>
              </a:tblPr>
              <a:tblGrid>
                <a:gridCol w="960425"/>
                <a:gridCol w="1171600"/>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300">
                          <a:latin typeface="Roboto Mono"/>
                          <a:ea typeface="Roboto Mono"/>
                          <a:cs typeface="Roboto Mono"/>
                          <a:sym typeface="Roboto Mono"/>
                        </a:rPr>
                        <a:t>Decimal Digit</a:t>
                      </a:r>
                      <a:endParaRPr b="1" sz="15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1’s complement</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sz="1300">
                          <a:latin typeface="Roboto Mono Medium"/>
                          <a:ea typeface="Roboto Mono Medium"/>
                          <a:cs typeface="Roboto Mono Medium"/>
                          <a:sym typeface="Roboto Mono Medium"/>
                        </a:rPr>
                        <a:t>-</a:t>
                      </a:r>
                      <a:r>
                        <a:rPr lang="en" sz="1300">
                          <a:latin typeface="Roboto Mono Medium"/>
                          <a:ea typeface="Roboto Mono Medium"/>
                          <a:cs typeface="Roboto Mono Medium"/>
                          <a:sym typeface="Roboto Mono Medium"/>
                        </a:rPr>
                        <a:t>7</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300">
                          <a:latin typeface="Roboto Mono Medium"/>
                          <a:ea typeface="Roboto Mono Medium"/>
                          <a:cs typeface="Roboto Mono Medium"/>
                          <a:sym typeface="Roboto Mono Medium"/>
                        </a:rPr>
                        <a:t>1000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a:t>
                      </a:r>
                      <a:r>
                        <a:rPr lang="en" sz="1300">
                          <a:solidFill>
                            <a:schemeClr val="dk1"/>
                          </a:solidFill>
                          <a:latin typeface="Roboto Mono Medium"/>
                          <a:ea typeface="Roboto Mono Medium"/>
                          <a:cs typeface="Roboto Mono Medium"/>
                          <a:sym typeface="Roboto Mono Medium"/>
                        </a:rPr>
                        <a:t>6</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1001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5</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1010</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4</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1011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3</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1100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2</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1101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1110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1111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4"/>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24"/>
          <p:cNvSpPr txBox="1"/>
          <p:nvPr/>
        </p:nvSpPr>
        <p:spPr>
          <a:xfrm>
            <a:off x="351900" y="791050"/>
            <a:ext cx="8494200" cy="2775600"/>
          </a:xfrm>
          <a:prstGeom prst="rect">
            <a:avLst/>
          </a:prstGeom>
          <a:noFill/>
          <a:ln>
            <a:noFill/>
          </a:ln>
        </p:spPr>
        <p:txBody>
          <a:bodyPr anchorCtr="0" anchor="t" bIns="91425" lIns="91425" spcFirstLastPara="1" rIns="91425" wrap="square" tIns="91425">
            <a:spAutoFit/>
          </a:bodyPr>
          <a:lstStyle/>
          <a:p>
            <a:pPr indent="0" lvl="1" marL="0" rtl="0" algn="l">
              <a:spcBef>
                <a:spcPts val="560"/>
              </a:spcBef>
              <a:spcAft>
                <a:spcPts val="0"/>
              </a:spcAft>
              <a:buNone/>
            </a:pPr>
            <a:r>
              <a:t/>
            </a:r>
            <a:endParaRPr sz="2600">
              <a:solidFill>
                <a:schemeClr val="dk1"/>
              </a:solidFill>
              <a:latin typeface="Lexend"/>
              <a:ea typeface="Lexend"/>
              <a:cs typeface="Lexend"/>
              <a:sym typeface="Lexend"/>
            </a:endParaRPr>
          </a:p>
          <a:p>
            <a:pPr indent="0" lvl="1" marL="0" rtl="0" algn="l">
              <a:spcBef>
                <a:spcPts val="560"/>
              </a:spcBef>
              <a:spcAft>
                <a:spcPts val="0"/>
              </a:spcAft>
              <a:buNone/>
            </a:pPr>
            <a:r>
              <a:rPr lang="en" sz="2600">
                <a:solidFill>
                  <a:schemeClr val="dk1"/>
                </a:solidFill>
                <a:latin typeface="Lexend"/>
                <a:ea typeface="Lexend"/>
                <a:cs typeface="Lexend"/>
                <a:sym typeface="Lexend"/>
              </a:rPr>
              <a:t>                  - ( </a:t>
            </a:r>
            <a:r>
              <a:rPr lang="en" sz="2600">
                <a:solidFill>
                  <a:schemeClr val="dk1"/>
                </a:solidFill>
                <a:latin typeface="Roboto Mono"/>
                <a:ea typeface="Roboto Mono"/>
                <a:cs typeface="Roboto Mono"/>
                <a:sym typeface="Roboto Mono"/>
              </a:rPr>
              <a:t>0 0 0 0 1 1 0 0</a:t>
            </a:r>
            <a:r>
              <a:rPr lang="en" sz="2600">
                <a:solidFill>
                  <a:schemeClr val="dk1"/>
                </a:solidFill>
                <a:latin typeface="Lexend"/>
                <a:ea typeface="Lexend"/>
                <a:cs typeface="Lexend"/>
                <a:sym typeface="Lexend"/>
              </a:rPr>
              <a:t> )</a:t>
            </a:r>
            <a:r>
              <a:rPr baseline="-25000" lang="en" sz="2600">
                <a:solidFill>
                  <a:schemeClr val="dk1"/>
                </a:solidFill>
                <a:latin typeface="Lexend"/>
                <a:ea typeface="Lexend"/>
                <a:cs typeface="Lexend"/>
                <a:sym typeface="Lexend"/>
              </a:rPr>
              <a:t>2</a:t>
            </a:r>
            <a:endParaRPr sz="2600">
              <a:solidFill>
                <a:schemeClr val="dk1"/>
              </a:solidFill>
              <a:latin typeface="Lexend"/>
              <a:ea typeface="Lexend"/>
              <a:cs typeface="Lexend"/>
              <a:sym typeface="Lexend"/>
            </a:endParaRPr>
          </a:p>
          <a:p>
            <a:pPr indent="0" lvl="1" marL="0" rtl="0" algn="l">
              <a:spcBef>
                <a:spcPts val="560"/>
              </a:spcBef>
              <a:spcAft>
                <a:spcPts val="0"/>
              </a:spcAft>
              <a:buNone/>
            </a:pPr>
            <a:r>
              <a:t/>
            </a:r>
            <a:endParaRPr sz="2600">
              <a:solidFill>
                <a:schemeClr val="dk1"/>
              </a:solidFill>
              <a:latin typeface="Lexend"/>
              <a:ea typeface="Lexend"/>
              <a:cs typeface="Lexend"/>
              <a:sym typeface="Lexend"/>
            </a:endParaRPr>
          </a:p>
          <a:p>
            <a:pPr indent="0" lvl="1" marL="0" rtl="0" algn="l">
              <a:spcBef>
                <a:spcPts val="560"/>
              </a:spcBef>
              <a:spcAft>
                <a:spcPts val="0"/>
              </a:spcAft>
              <a:buNone/>
            </a:pPr>
            <a:r>
              <a:rPr lang="en" sz="2600">
                <a:solidFill>
                  <a:schemeClr val="dk1"/>
                </a:solidFill>
                <a:latin typeface="Lexend"/>
                <a:ea typeface="Lexend"/>
                <a:cs typeface="Lexend"/>
                <a:sym typeface="Lexend"/>
              </a:rPr>
              <a:t>                                                         </a:t>
            </a:r>
            <a:r>
              <a:rPr lang="en" sz="1600">
                <a:solidFill>
                  <a:schemeClr val="dk1"/>
                </a:solidFill>
                <a:latin typeface="Lexend"/>
                <a:ea typeface="Lexend"/>
                <a:cs typeface="Lexend"/>
                <a:sym typeface="Lexend"/>
              </a:rPr>
              <a:t> Inverse</a:t>
            </a:r>
            <a:endParaRPr sz="1600">
              <a:solidFill>
                <a:schemeClr val="dk1"/>
              </a:solidFill>
              <a:latin typeface="Lexend"/>
              <a:ea typeface="Lexend"/>
              <a:cs typeface="Lexend"/>
              <a:sym typeface="Lexend"/>
            </a:endParaRPr>
          </a:p>
          <a:p>
            <a:pPr indent="0" lvl="1" marL="0" rtl="0" algn="l">
              <a:spcBef>
                <a:spcPts val="560"/>
              </a:spcBef>
              <a:spcAft>
                <a:spcPts val="0"/>
              </a:spcAft>
              <a:buNone/>
            </a:pPr>
            <a:r>
              <a:t/>
            </a:r>
            <a:endParaRPr sz="1500">
              <a:solidFill>
                <a:schemeClr val="dk1"/>
              </a:solidFill>
              <a:latin typeface="Lexend"/>
              <a:ea typeface="Lexend"/>
              <a:cs typeface="Lexend"/>
              <a:sym typeface="Lexend"/>
            </a:endParaRPr>
          </a:p>
          <a:p>
            <a:pPr indent="0" lvl="1" marL="0" rtl="0" algn="l">
              <a:spcBef>
                <a:spcPts val="560"/>
              </a:spcBef>
              <a:spcAft>
                <a:spcPts val="0"/>
              </a:spcAft>
              <a:buNone/>
            </a:pPr>
            <a:r>
              <a:rPr lang="en" sz="2600">
                <a:solidFill>
                  <a:schemeClr val="dk1"/>
                </a:solidFill>
                <a:latin typeface="Lexend"/>
                <a:ea typeface="Lexend"/>
                <a:cs typeface="Lexend"/>
                <a:sym typeface="Lexend"/>
              </a:rPr>
              <a:t>                    ( </a:t>
            </a:r>
            <a:r>
              <a:rPr lang="en" sz="2600">
                <a:solidFill>
                  <a:schemeClr val="dk1"/>
                </a:solidFill>
                <a:latin typeface="Roboto Mono"/>
                <a:ea typeface="Roboto Mono"/>
                <a:cs typeface="Roboto Mono"/>
                <a:sym typeface="Roboto Mono"/>
              </a:rPr>
              <a:t>1 1 1 1 0 0 1 1</a:t>
            </a:r>
            <a:r>
              <a:rPr lang="en" sz="2600">
                <a:solidFill>
                  <a:schemeClr val="dk1"/>
                </a:solidFill>
                <a:latin typeface="Lexend"/>
                <a:ea typeface="Lexend"/>
                <a:cs typeface="Lexend"/>
                <a:sym typeface="Lexend"/>
              </a:rPr>
              <a:t> )</a:t>
            </a:r>
            <a:r>
              <a:rPr baseline="-25000" lang="en" sz="2600">
                <a:solidFill>
                  <a:schemeClr val="dk1"/>
                </a:solidFill>
                <a:latin typeface="Lexend"/>
                <a:ea typeface="Lexend"/>
                <a:cs typeface="Lexend"/>
                <a:sym typeface="Lexend"/>
              </a:rPr>
              <a:t>1’s</a:t>
            </a:r>
            <a:endParaRPr baseline="-25000" sz="2600">
              <a:solidFill>
                <a:schemeClr val="dk1"/>
              </a:solidFill>
              <a:latin typeface="Lexend"/>
              <a:ea typeface="Lexend"/>
              <a:cs typeface="Lexend"/>
              <a:sym typeface="Lexend"/>
            </a:endParaRPr>
          </a:p>
        </p:txBody>
      </p:sp>
      <p:pic>
        <p:nvPicPr>
          <p:cNvPr id="242" name="Google Shape;242;p2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43" name="Google Shape;243;p2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244" name="Google Shape;244;p24"/>
          <p:cNvGrpSpPr/>
          <p:nvPr/>
        </p:nvGrpSpPr>
        <p:grpSpPr>
          <a:xfrm>
            <a:off x="50480" y="122879"/>
            <a:ext cx="277873" cy="68400"/>
            <a:chOff x="411700" y="2416840"/>
            <a:chExt cx="277873" cy="68400"/>
          </a:xfrm>
        </p:grpSpPr>
        <p:sp>
          <p:nvSpPr>
            <p:cNvPr id="245" name="Google Shape;245;p2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2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2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48" name="Google Shape;248;p2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1s Complement [Cont.]</a:t>
            </a:r>
            <a:endParaRPr sz="3600">
              <a:latin typeface="Lexend"/>
              <a:ea typeface="Lexend"/>
              <a:cs typeface="Lexend"/>
              <a:sym typeface="Lexend"/>
            </a:endParaRPr>
          </a:p>
        </p:txBody>
      </p:sp>
      <p:sp>
        <p:nvSpPr>
          <p:cNvPr id="249" name="Google Shape;249;p2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50" name="Google Shape;250;p2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cxnSp>
        <p:nvCxnSpPr>
          <p:cNvPr id="251" name="Google Shape;251;p24"/>
          <p:cNvCxnSpPr/>
          <p:nvPr/>
        </p:nvCxnSpPr>
        <p:spPr>
          <a:xfrm>
            <a:off x="263048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2" name="Google Shape;252;p24"/>
          <p:cNvCxnSpPr/>
          <p:nvPr/>
        </p:nvCxnSpPr>
        <p:spPr>
          <a:xfrm>
            <a:off x="2986466"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3" name="Google Shape;253;p24"/>
          <p:cNvCxnSpPr/>
          <p:nvPr/>
        </p:nvCxnSpPr>
        <p:spPr>
          <a:xfrm>
            <a:off x="340101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4" name="Google Shape;254;p24"/>
          <p:cNvCxnSpPr/>
          <p:nvPr/>
        </p:nvCxnSpPr>
        <p:spPr>
          <a:xfrm>
            <a:off x="379907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5" name="Google Shape;255;p24"/>
          <p:cNvCxnSpPr/>
          <p:nvPr/>
        </p:nvCxnSpPr>
        <p:spPr>
          <a:xfrm>
            <a:off x="423068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6" name="Google Shape;256;p24"/>
          <p:cNvCxnSpPr/>
          <p:nvPr/>
        </p:nvCxnSpPr>
        <p:spPr>
          <a:xfrm>
            <a:off x="461168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7" name="Google Shape;257;p24"/>
          <p:cNvCxnSpPr/>
          <p:nvPr/>
        </p:nvCxnSpPr>
        <p:spPr>
          <a:xfrm>
            <a:off x="499268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8" name="Google Shape;258;p24"/>
          <p:cNvCxnSpPr/>
          <p:nvPr/>
        </p:nvCxnSpPr>
        <p:spPr>
          <a:xfrm>
            <a:off x="539927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5"/>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25"/>
          <p:cNvSpPr txBox="1"/>
          <p:nvPr/>
        </p:nvSpPr>
        <p:spPr>
          <a:xfrm>
            <a:off x="351900" y="791050"/>
            <a:ext cx="8494200" cy="3331500"/>
          </a:xfrm>
          <a:prstGeom prst="rect">
            <a:avLst/>
          </a:prstGeom>
          <a:noFill/>
          <a:ln>
            <a:noFill/>
          </a:ln>
        </p:spPr>
        <p:txBody>
          <a:bodyPr anchorCtr="0" anchor="t" bIns="91425" lIns="91425" spcFirstLastPara="1" rIns="91425" wrap="square" tIns="91425">
            <a:spAutoFit/>
          </a:bodyPr>
          <a:lstStyle/>
          <a:p>
            <a:pPr indent="-281940" lvl="0" marL="342900" rtl="0" algn="l">
              <a:lnSpc>
                <a:spcPct val="80000"/>
              </a:lnSpc>
              <a:spcBef>
                <a:spcPts val="0"/>
              </a:spcBef>
              <a:spcAft>
                <a:spcPts val="0"/>
              </a:spcAft>
              <a:buClr>
                <a:schemeClr val="dk1"/>
              </a:buClr>
              <a:buSzPts val="2400"/>
              <a:buFont typeface="Lexend"/>
              <a:buChar char="▪"/>
            </a:pPr>
            <a:r>
              <a:rPr lang="en" sz="2400">
                <a:solidFill>
                  <a:schemeClr val="dk1"/>
                </a:solidFill>
                <a:latin typeface="Lexend"/>
                <a:ea typeface="Lexend"/>
                <a:cs typeface="Lexend"/>
                <a:sym typeface="Lexend"/>
              </a:rPr>
              <a:t>Essential technique: </a:t>
            </a:r>
            <a:r>
              <a:rPr lang="en" sz="2400">
                <a:solidFill>
                  <a:srgbClr val="0000FF"/>
                </a:solidFill>
                <a:latin typeface="Lexend"/>
                <a:ea typeface="Lexend"/>
                <a:cs typeface="Lexend"/>
                <a:sym typeface="Lexend"/>
              </a:rPr>
              <a:t>invert</a:t>
            </a:r>
            <a:r>
              <a:rPr lang="en" sz="2400">
                <a:solidFill>
                  <a:schemeClr val="dk1"/>
                </a:solidFill>
                <a:latin typeface="Lexend"/>
                <a:ea typeface="Lexend"/>
                <a:cs typeface="Lexend"/>
                <a:sym typeface="Lexend"/>
              </a:rPr>
              <a:t> all the bits.</a:t>
            </a:r>
            <a:endParaRPr sz="2400">
              <a:solidFill>
                <a:schemeClr val="dk1"/>
              </a:solidFill>
              <a:latin typeface="Lexend"/>
              <a:ea typeface="Lexend"/>
              <a:cs typeface="Lexend"/>
              <a:sym typeface="Lexend"/>
            </a:endParaRPr>
          </a:p>
          <a:p>
            <a:pPr indent="-342900" lvl="0" marL="342900" rtl="0" algn="l">
              <a:lnSpc>
                <a:spcPct val="80000"/>
              </a:lnSpc>
              <a:spcBef>
                <a:spcPts val="500"/>
              </a:spcBef>
              <a:spcAft>
                <a:spcPts val="0"/>
              </a:spcAft>
              <a:buClr>
                <a:schemeClr val="dk1"/>
              </a:buClr>
              <a:buSzPts val="2500"/>
              <a:buFont typeface="Arial"/>
              <a:buNone/>
            </a:pPr>
            <a:r>
              <a:rPr lang="en" sz="2400">
                <a:solidFill>
                  <a:schemeClr val="dk1"/>
                </a:solidFill>
                <a:latin typeface="Lexend"/>
                <a:ea typeface="Lexend"/>
                <a:cs typeface="Lexend"/>
                <a:sym typeface="Lexend"/>
              </a:rPr>
              <a:t>	Examples: 1s complement of   00000001 = (11111110)</a:t>
            </a:r>
            <a:r>
              <a:rPr baseline="-25000" lang="en" sz="2400">
                <a:solidFill>
                  <a:schemeClr val="dk1"/>
                </a:solidFill>
                <a:latin typeface="Lexend"/>
                <a:ea typeface="Lexend"/>
                <a:cs typeface="Lexend"/>
                <a:sym typeface="Lexend"/>
              </a:rPr>
              <a:t>1s</a:t>
            </a:r>
            <a:endParaRPr sz="2400">
              <a:solidFill>
                <a:schemeClr val="dk1"/>
              </a:solidFill>
              <a:latin typeface="Lexend"/>
              <a:ea typeface="Lexend"/>
              <a:cs typeface="Lexend"/>
              <a:sym typeface="Lexend"/>
            </a:endParaRPr>
          </a:p>
          <a:p>
            <a:pPr indent="-342900" lvl="0" marL="342900" rtl="0" algn="l">
              <a:lnSpc>
                <a:spcPct val="80000"/>
              </a:lnSpc>
              <a:spcBef>
                <a:spcPts val="560"/>
              </a:spcBef>
              <a:spcAft>
                <a:spcPts val="0"/>
              </a:spcAft>
              <a:buClr>
                <a:schemeClr val="dk1"/>
              </a:buClr>
              <a:buSzPts val="2500"/>
              <a:buFont typeface="Arial"/>
              <a:buNone/>
            </a:pPr>
            <a:r>
              <a:rPr lang="en" sz="2400">
                <a:solidFill>
                  <a:schemeClr val="dk1"/>
                </a:solidFill>
                <a:latin typeface="Lexend"/>
                <a:ea typeface="Lexend"/>
                <a:cs typeface="Lexend"/>
                <a:sym typeface="Lexend"/>
              </a:rPr>
              <a:t>                     1s complement of   01111111</a:t>
            </a:r>
            <a:r>
              <a:rPr baseline="-25000" lang="en" sz="2400">
                <a:solidFill>
                  <a:schemeClr val="dk1"/>
                </a:solidFill>
                <a:latin typeface="Lexend"/>
                <a:ea typeface="Lexend"/>
                <a:cs typeface="Lexend"/>
                <a:sym typeface="Lexend"/>
              </a:rPr>
              <a:t>  </a:t>
            </a:r>
            <a:r>
              <a:rPr lang="en" sz="2400">
                <a:solidFill>
                  <a:schemeClr val="dk1"/>
                </a:solidFill>
                <a:latin typeface="Lexend"/>
                <a:ea typeface="Lexend"/>
                <a:cs typeface="Lexend"/>
                <a:sym typeface="Lexend"/>
              </a:rPr>
              <a:t>= (10000000)</a:t>
            </a:r>
            <a:r>
              <a:rPr baseline="-25000" lang="en" sz="2400">
                <a:solidFill>
                  <a:schemeClr val="dk1"/>
                </a:solidFill>
                <a:latin typeface="Lexend"/>
                <a:ea typeface="Lexend"/>
                <a:cs typeface="Lexend"/>
                <a:sym typeface="Lexend"/>
              </a:rPr>
              <a:t>1s </a:t>
            </a:r>
            <a:endParaRPr sz="2400">
              <a:solidFill>
                <a:schemeClr val="dk1"/>
              </a:solidFill>
              <a:latin typeface="Lexend"/>
              <a:ea typeface="Lexend"/>
              <a:cs typeface="Lexend"/>
              <a:sym typeface="Lexend"/>
            </a:endParaRPr>
          </a:p>
          <a:p>
            <a:pPr indent="-281940" lvl="0" marL="342900" rtl="0" algn="l">
              <a:lnSpc>
                <a:spcPct val="80000"/>
              </a:lnSpc>
              <a:spcBef>
                <a:spcPts val="1120"/>
              </a:spcBef>
              <a:spcAft>
                <a:spcPts val="0"/>
              </a:spcAft>
              <a:buClr>
                <a:schemeClr val="dk1"/>
              </a:buClr>
              <a:buSzPts val="2400"/>
              <a:buFont typeface="Lexend"/>
              <a:buChar char="▪"/>
            </a:pPr>
            <a:r>
              <a:rPr lang="en" sz="2400">
                <a:solidFill>
                  <a:schemeClr val="dk1"/>
                </a:solidFill>
                <a:latin typeface="Lexend"/>
                <a:ea typeface="Lexend"/>
                <a:cs typeface="Lexend"/>
                <a:sym typeface="Lexend"/>
              </a:rPr>
              <a:t>Range [in 8 bits]: -(127)</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to +(127)</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129540" lvl="0" marL="342900" rtl="0" algn="l">
              <a:lnSpc>
                <a:spcPct val="80000"/>
              </a:lnSpc>
              <a:spcBef>
                <a:spcPts val="1120"/>
              </a:spcBef>
              <a:spcAft>
                <a:spcPts val="0"/>
              </a:spcAft>
              <a:buClr>
                <a:schemeClr val="dk1"/>
              </a:buClr>
              <a:buSzPts val="3360"/>
              <a:buFont typeface="Noto Sans Symbols"/>
              <a:buNone/>
            </a:pPr>
            <a:r>
              <a:t/>
            </a:r>
            <a:endParaRPr baseline="-25000" sz="2400">
              <a:solidFill>
                <a:srgbClr val="FF0000"/>
              </a:solidFill>
              <a:latin typeface="Lexend"/>
              <a:ea typeface="Lexend"/>
              <a:cs typeface="Lexend"/>
              <a:sym typeface="Lexend"/>
            </a:endParaRPr>
          </a:p>
          <a:p>
            <a:pPr indent="-281940" lvl="0" marL="342900" rtl="0" algn="l">
              <a:lnSpc>
                <a:spcPct val="80000"/>
              </a:lnSpc>
              <a:spcBef>
                <a:spcPts val="1120"/>
              </a:spcBef>
              <a:spcAft>
                <a:spcPts val="0"/>
              </a:spcAft>
              <a:buClr>
                <a:srgbClr val="FF0000"/>
              </a:buClr>
              <a:buSzPts val="2400"/>
              <a:buFont typeface="Lexend"/>
              <a:buChar char="▪"/>
            </a:pPr>
            <a:r>
              <a:rPr lang="en" sz="2400">
                <a:solidFill>
                  <a:srgbClr val="FF0000"/>
                </a:solidFill>
                <a:latin typeface="Lexend"/>
                <a:ea typeface="Lexend"/>
                <a:cs typeface="Lexend"/>
                <a:sym typeface="Lexend"/>
              </a:rPr>
              <a:t>General Formula=-(2</a:t>
            </a:r>
            <a:r>
              <a:rPr baseline="30000" lang="en" sz="2400">
                <a:solidFill>
                  <a:srgbClr val="FF0000"/>
                </a:solidFill>
                <a:latin typeface="Lexend"/>
                <a:ea typeface="Lexend"/>
                <a:cs typeface="Lexend"/>
                <a:sym typeface="Lexend"/>
              </a:rPr>
              <a:t>n-1</a:t>
            </a:r>
            <a:r>
              <a:rPr lang="en" sz="2400">
                <a:solidFill>
                  <a:srgbClr val="FF0000"/>
                </a:solidFill>
                <a:latin typeface="Lexend"/>
                <a:ea typeface="Lexend"/>
                <a:cs typeface="Lexend"/>
                <a:sym typeface="Lexend"/>
              </a:rPr>
              <a:t> -1)  to  + (2</a:t>
            </a:r>
            <a:r>
              <a:rPr baseline="30000" lang="en" sz="2400">
                <a:solidFill>
                  <a:srgbClr val="FF0000"/>
                </a:solidFill>
                <a:latin typeface="Lexend"/>
                <a:ea typeface="Lexend"/>
                <a:cs typeface="Lexend"/>
                <a:sym typeface="Lexend"/>
              </a:rPr>
              <a:t>n-1 </a:t>
            </a:r>
            <a:r>
              <a:rPr lang="en" sz="2400">
                <a:solidFill>
                  <a:srgbClr val="FF0000"/>
                </a:solidFill>
                <a:latin typeface="Lexend"/>
                <a:ea typeface="Lexend"/>
                <a:cs typeface="Lexend"/>
                <a:sym typeface="Lexend"/>
              </a:rPr>
              <a:t>-1)</a:t>
            </a:r>
            <a:endParaRPr baseline="-25000" sz="2400">
              <a:solidFill>
                <a:srgbClr val="FF0000"/>
              </a:solidFill>
              <a:latin typeface="Lexend"/>
              <a:ea typeface="Lexend"/>
              <a:cs typeface="Lexend"/>
              <a:sym typeface="Lexend"/>
            </a:endParaRPr>
          </a:p>
          <a:p>
            <a:pPr indent="-281940" lvl="0" marL="342900" rtl="0" algn="l">
              <a:lnSpc>
                <a:spcPct val="80000"/>
              </a:lnSpc>
              <a:spcBef>
                <a:spcPts val="1120"/>
              </a:spcBef>
              <a:spcAft>
                <a:spcPts val="0"/>
              </a:spcAft>
              <a:buClr>
                <a:schemeClr val="dk1"/>
              </a:buClr>
              <a:buSzPts val="2400"/>
              <a:buFont typeface="Lexend"/>
              <a:buChar char="▪"/>
            </a:pPr>
            <a:r>
              <a:rPr lang="en" sz="2400">
                <a:solidFill>
                  <a:schemeClr val="dk1"/>
                </a:solidFill>
                <a:latin typeface="Lexend"/>
                <a:ea typeface="Lexend"/>
                <a:cs typeface="Lexend"/>
                <a:sym typeface="Lexend"/>
              </a:rPr>
              <a:t>The most significant bit still represents the sign:</a:t>
            </a:r>
            <a:endParaRPr sz="2400">
              <a:solidFill>
                <a:schemeClr val="dk1"/>
              </a:solidFill>
              <a:latin typeface="Lexend"/>
              <a:ea typeface="Lexend"/>
              <a:cs typeface="Lexend"/>
              <a:sym typeface="Lexend"/>
            </a:endParaRPr>
          </a:p>
          <a:p>
            <a:pPr indent="-342900" lvl="0" marL="342900" rtl="0" algn="l">
              <a:lnSpc>
                <a:spcPct val="80000"/>
              </a:lnSpc>
              <a:spcBef>
                <a:spcPts val="560"/>
              </a:spcBef>
              <a:spcAft>
                <a:spcPts val="0"/>
              </a:spcAft>
              <a:buNone/>
            </a:pPr>
            <a:r>
              <a:rPr lang="en" sz="2400">
                <a:solidFill>
                  <a:schemeClr val="dk1"/>
                </a:solidFill>
                <a:latin typeface="Lexend"/>
                <a:ea typeface="Lexend"/>
                <a:cs typeface="Lexend"/>
                <a:sym typeface="Lexend"/>
              </a:rPr>
              <a:t>	                 0 = +ve; 1 = -ve.</a:t>
            </a:r>
            <a:endParaRPr sz="2400">
              <a:solidFill>
                <a:schemeClr val="dk1"/>
              </a:solidFill>
              <a:latin typeface="Lexend"/>
              <a:ea typeface="Lexend"/>
              <a:cs typeface="Lexend"/>
              <a:sym typeface="Lexend"/>
            </a:endParaRPr>
          </a:p>
        </p:txBody>
      </p:sp>
      <p:pic>
        <p:nvPicPr>
          <p:cNvPr id="265" name="Google Shape;265;p2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66" name="Google Shape;266;p2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267" name="Google Shape;267;p25"/>
          <p:cNvGrpSpPr/>
          <p:nvPr/>
        </p:nvGrpSpPr>
        <p:grpSpPr>
          <a:xfrm>
            <a:off x="50480" y="122879"/>
            <a:ext cx="277873" cy="68400"/>
            <a:chOff x="411700" y="2416840"/>
            <a:chExt cx="277873" cy="68400"/>
          </a:xfrm>
        </p:grpSpPr>
        <p:sp>
          <p:nvSpPr>
            <p:cNvPr id="268" name="Google Shape;268;p2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2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 name="Google Shape;270;p2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71" name="Google Shape;271;p2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1s Complement [Cont.]</a:t>
            </a:r>
            <a:endParaRPr sz="3600">
              <a:latin typeface="Lexend"/>
              <a:ea typeface="Lexend"/>
              <a:cs typeface="Lexend"/>
              <a:sym typeface="Lexend"/>
            </a:endParaRPr>
          </a:p>
        </p:txBody>
      </p:sp>
      <p:sp>
        <p:nvSpPr>
          <p:cNvPr id="272" name="Google Shape;272;p2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73" name="Google Shape;273;p2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274" name="Google Shape;274;p25"/>
          <p:cNvSpPr/>
          <p:nvPr/>
        </p:nvSpPr>
        <p:spPr>
          <a:xfrm>
            <a:off x="328350" y="4122550"/>
            <a:ext cx="8494200" cy="630300"/>
          </a:xfrm>
          <a:prstGeom prst="roundRect">
            <a:avLst>
              <a:gd fmla="val 50000" name="adj"/>
            </a:avLst>
          </a:prstGeom>
          <a:solidFill>
            <a:srgbClr val="DCDF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0000"/>
                </a:solidFill>
                <a:latin typeface="Lexend"/>
                <a:ea typeface="Lexend"/>
                <a:cs typeface="Lexend"/>
                <a:sym typeface="Lexend"/>
              </a:rPr>
              <a:t>Note: Range for n bit no. is –(2</a:t>
            </a:r>
            <a:r>
              <a:rPr b="1" baseline="30000" lang="en" sz="2200">
                <a:solidFill>
                  <a:srgbClr val="FF0000"/>
                </a:solidFill>
                <a:latin typeface="Lexend"/>
                <a:ea typeface="Lexend"/>
                <a:cs typeface="Lexend"/>
                <a:sym typeface="Lexend"/>
              </a:rPr>
              <a:t>(n-1)</a:t>
            </a:r>
            <a:r>
              <a:rPr b="1" lang="en" sz="2200">
                <a:solidFill>
                  <a:srgbClr val="FF0000"/>
                </a:solidFill>
                <a:latin typeface="Lexend"/>
                <a:ea typeface="Lexend"/>
                <a:cs typeface="Lexend"/>
                <a:sym typeface="Lexend"/>
              </a:rPr>
              <a:t>-1) to +(2</a:t>
            </a:r>
            <a:r>
              <a:rPr b="1" baseline="30000" lang="en" sz="2200">
                <a:solidFill>
                  <a:srgbClr val="FF0000"/>
                </a:solidFill>
                <a:latin typeface="Lexend"/>
                <a:ea typeface="Lexend"/>
                <a:cs typeface="Lexend"/>
                <a:sym typeface="Lexend"/>
              </a:rPr>
              <a:t>(n-1)</a:t>
            </a:r>
            <a:r>
              <a:rPr b="1" lang="en" sz="2200">
                <a:solidFill>
                  <a:srgbClr val="FF0000"/>
                </a:solidFill>
                <a:latin typeface="Lexend"/>
                <a:ea typeface="Lexend"/>
                <a:cs typeface="Lexend"/>
                <a:sym typeface="Lexend"/>
              </a:rPr>
              <a:t>-1)</a:t>
            </a:r>
            <a:endParaRPr sz="2200">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6"/>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0" name="Google Shape;280;p26"/>
          <p:cNvPicPr preferRelativeResize="0"/>
          <p:nvPr/>
        </p:nvPicPr>
        <p:blipFill rotWithShape="1">
          <a:blip r:embed="rId3">
            <a:alphaModFix/>
          </a:blip>
          <a:srcRect b="10185" l="0" r="0" t="0"/>
          <a:stretch/>
        </p:blipFill>
        <p:spPr>
          <a:xfrm>
            <a:off x="0" y="886975"/>
            <a:ext cx="1817651"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281" name="Google Shape;281;p26"/>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282" name="Google Shape;282;p2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83" name="Google Shape;283;p26"/>
          <p:cNvSpPr txBox="1"/>
          <p:nvPr/>
        </p:nvSpPr>
        <p:spPr>
          <a:xfrm>
            <a:off x="351900" y="791050"/>
            <a:ext cx="84942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Example: (assuming 8-bit binary numbers)</a:t>
            </a:r>
            <a:endParaRPr sz="2400">
              <a:solidFill>
                <a:schemeClr val="dk1"/>
              </a:solidFill>
              <a:latin typeface="Lexend"/>
              <a:ea typeface="Lexend"/>
              <a:cs typeface="Lexend"/>
              <a:sym typeface="Lexend"/>
            </a:endParaRPr>
          </a:p>
          <a:p>
            <a:pPr indent="-342900" lvl="0" marL="34290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(14)</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1s</a:t>
            </a:r>
            <a:endParaRPr sz="2400">
              <a:solidFill>
                <a:schemeClr val="dk1"/>
              </a:solidFill>
              <a:latin typeface="Lexend"/>
              <a:ea typeface="Lexend"/>
              <a:cs typeface="Lexend"/>
              <a:sym typeface="Lexend"/>
            </a:endParaRPr>
          </a:p>
          <a:p>
            <a:pPr indent="0" lvl="0" marL="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-(14)</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(11110001)</a:t>
            </a:r>
            <a:r>
              <a:rPr baseline="-25000" lang="en" sz="2400">
                <a:solidFill>
                  <a:schemeClr val="dk1"/>
                </a:solidFill>
                <a:latin typeface="Lexend"/>
                <a:ea typeface="Lexend"/>
                <a:cs typeface="Lexend"/>
                <a:sym typeface="Lexend"/>
              </a:rPr>
              <a:t>1s</a:t>
            </a:r>
            <a:r>
              <a:rPr lang="en" sz="2400">
                <a:solidFill>
                  <a:schemeClr val="dk1"/>
                </a:solidFill>
                <a:latin typeface="Lexend"/>
                <a:ea typeface="Lexend"/>
                <a:cs typeface="Lexend"/>
                <a:sym typeface="Lexend"/>
              </a:rPr>
              <a:t> </a:t>
            </a:r>
            <a:endParaRPr sz="2400">
              <a:solidFill>
                <a:schemeClr val="dk1"/>
              </a:solidFill>
              <a:latin typeface="Lexend"/>
              <a:ea typeface="Lexend"/>
              <a:cs typeface="Lexend"/>
              <a:sym typeface="Lexend"/>
            </a:endParaRPr>
          </a:p>
          <a:p>
            <a:pPr indent="0" lvl="0" marL="0" rtl="0" algn="l">
              <a:spcBef>
                <a:spcPts val="640"/>
              </a:spcBef>
              <a:spcAft>
                <a:spcPts val="0"/>
              </a:spcAft>
              <a:buNone/>
            </a:pPr>
            <a:r>
              <a:rPr lang="en" sz="2400">
                <a:solidFill>
                  <a:schemeClr val="dk1"/>
                </a:solidFill>
                <a:latin typeface="Lexend"/>
                <a:ea typeface="Lexend"/>
                <a:cs typeface="Lexend"/>
                <a:sym typeface="Lexend"/>
              </a:rPr>
              <a:t>      -(80)</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 ? )</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 ? )</a:t>
            </a:r>
            <a:r>
              <a:rPr baseline="-25000" lang="en" sz="2400">
                <a:solidFill>
                  <a:schemeClr val="dk1"/>
                </a:solidFill>
                <a:latin typeface="Lexend"/>
                <a:ea typeface="Lexend"/>
                <a:cs typeface="Lexend"/>
                <a:sym typeface="Lexend"/>
              </a:rPr>
              <a:t>1s</a:t>
            </a:r>
            <a:r>
              <a:rPr lang="en" sz="2400">
                <a:solidFill>
                  <a:schemeClr val="dk1"/>
                </a:solidFill>
                <a:latin typeface="Lexend"/>
                <a:ea typeface="Lexend"/>
                <a:cs typeface="Lexend"/>
                <a:sym typeface="Lexend"/>
              </a:rPr>
              <a:t> </a:t>
            </a:r>
            <a:endParaRPr sz="2400">
              <a:solidFill>
                <a:schemeClr val="dk1"/>
              </a:solidFill>
              <a:latin typeface="Lexend Light"/>
              <a:ea typeface="Lexend Light"/>
              <a:cs typeface="Lexend Light"/>
              <a:sym typeface="Lexend Light"/>
            </a:endParaRPr>
          </a:p>
        </p:txBody>
      </p:sp>
      <p:grpSp>
        <p:nvGrpSpPr>
          <p:cNvPr id="284" name="Google Shape;284;p26"/>
          <p:cNvGrpSpPr/>
          <p:nvPr/>
        </p:nvGrpSpPr>
        <p:grpSpPr>
          <a:xfrm>
            <a:off x="50480" y="122879"/>
            <a:ext cx="277873" cy="68400"/>
            <a:chOff x="411700" y="2416840"/>
            <a:chExt cx="277873" cy="68400"/>
          </a:xfrm>
        </p:grpSpPr>
        <p:sp>
          <p:nvSpPr>
            <p:cNvPr id="285" name="Google Shape;285;p2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6" name="Google Shape;286;p2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7" name="Google Shape;287;p2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88" name="Google Shape;288;p2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1s Complement</a:t>
            </a:r>
            <a:endParaRPr sz="3600">
              <a:latin typeface="Lexend"/>
              <a:ea typeface="Lexend"/>
              <a:cs typeface="Lexend"/>
              <a:sym typeface="Lexend"/>
            </a:endParaRPr>
          </a:p>
        </p:txBody>
      </p:sp>
      <p:sp>
        <p:nvSpPr>
          <p:cNvPr id="289" name="Google Shape;289;p2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90" name="Google Shape;290;p2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7"/>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27"/>
          <p:cNvSpPr txBox="1"/>
          <p:nvPr/>
        </p:nvSpPr>
        <p:spPr>
          <a:xfrm>
            <a:off x="351900" y="791050"/>
            <a:ext cx="8494200" cy="4079100"/>
          </a:xfrm>
          <a:prstGeom prst="rect">
            <a:avLst/>
          </a:prstGeom>
          <a:noFill/>
          <a:ln>
            <a:noFill/>
          </a:ln>
        </p:spPr>
        <p:txBody>
          <a:bodyPr anchorCtr="0" anchor="t" bIns="91425" lIns="91425" spcFirstLastPara="1" rIns="91425" wrap="square" tIns="91425">
            <a:spAutoFit/>
          </a:bodyPr>
          <a:lstStyle/>
          <a:p>
            <a:pPr indent="-256540" lvl="0" marL="342900" rtl="0" algn="l">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Given a number </a:t>
            </a:r>
            <a:r>
              <a:rPr i="1" lang="en" sz="2000">
                <a:solidFill>
                  <a:schemeClr val="dk1"/>
                </a:solidFill>
                <a:latin typeface="Lexend"/>
                <a:ea typeface="Lexend"/>
                <a:cs typeface="Lexend"/>
                <a:sym typeface="Lexend"/>
              </a:rPr>
              <a:t>x</a:t>
            </a:r>
            <a:r>
              <a:rPr lang="en" sz="2000">
                <a:solidFill>
                  <a:schemeClr val="dk1"/>
                </a:solidFill>
                <a:latin typeface="Lexend"/>
                <a:ea typeface="Lexend"/>
                <a:cs typeface="Lexend"/>
                <a:sym typeface="Lexend"/>
              </a:rPr>
              <a:t> which can be expressed as an </a:t>
            </a:r>
            <a:r>
              <a:rPr i="1"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-bit (</a:t>
            </a:r>
            <a:r>
              <a:rPr i="1" lang="en" sz="2000">
                <a:solidFill>
                  <a:schemeClr val="dk1"/>
                </a:solidFill>
                <a:latin typeface="Lexend"/>
                <a:ea typeface="Lexend"/>
                <a:cs typeface="Lexend"/>
                <a:sym typeface="Lexend"/>
              </a:rPr>
              <a:t>i.e. integer part has </a:t>
            </a:r>
            <a:r>
              <a:rPr i="1" lang="en" sz="2000">
                <a:solidFill>
                  <a:srgbClr val="FF0000"/>
                </a:solidFill>
                <a:latin typeface="Lexend"/>
                <a:ea typeface="Lexend"/>
                <a:cs typeface="Lexend"/>
                <a:sym typeface="Lexend"/>
              </a:rPr>
              <a:t>n digits </a:t>
            </a:r>
            <a:r>
              <a:rPr i="1" lang="en" sz="2000">
                <a:solidFill>
                  <a:schemeClr val="dk1"/>
                </a:solidFill>
                <a:latin typeface="Lexend"/>
                <a:ea typeface="Lexend"/>
                <a:cs typeface="Lexend"/>
                <a:sym typeface="Lexend"/>
              </a:rPr>
              <a:t>and fraction has </a:t>
            </a:r>
            <a:r>
              <a:rPr i="1" lang="en" sz="2000">
                <a:solidFill>
                  <a:srgbClr val="FF0000"/>
                </a:solidFill>
                <a:latin typeface="Lexend"/>
                <a:ea typeface="Lexend"/>
                <a:cs typeface="Lexend"/>
                <a:sym typeface="Lexend"/>
              </a:rPr>
              <a:t>m digit</a:t>
            </a:r>
            <a:r>
              <a:rPr lang="en" sz="2000">
                <a:solidFill>
                  <a:schemeClr val="dk1"/>
                </a:solidFill>
                <a:latin typeface="Lexend"/>
                <a:ea typeface="Lexend"/>
                <a:cs typeface="Lexend"/>
                <a:sym typeface="Lexend"/>
              </a:rPr>
              <a:t>) number, its negative number can be obtained in </a:t>
            </a:r>
            <a:r>
              <a:rPr lang="en" sz="2000">
                <a:solidFill>
                  <a:srgbClr val="0000FF"/>
                </a:solidFill>
                <a:latin typeface="Lexend"/>
                <a:ea typeface="Lexend"/>
                <a:cs typeface="Lexend"/>
                <a:sym typeface="Lexend"/>
              </a:rPr>
              <a:t>2s-complement</a:t>
            </a:r>
            <a:r>
              <a:rPr lang="en" sz="2000">
                <a:solidFill>
                  <a:schemeClr val="dk1"/>
                </a:solidFill>
                <a:latin typeface="Lexend"/>
                <a:ea typeface="Lexend"/>
                <a:cs typeface="Lexend"/>
                <a:sym typeface="Lexend"/>
              </a:rPr>
              <a:t> representation using:</a:t>
            </a:r>
            <a:endParaRPr sz="2000">
              <a:solidFill>
                <a:schemeClr val="dk1"/>
              </a:solidFill>
              <a:latin typeface="Lexend"/>
              <a:ea typeface="Lexend"/>
              <a:cs typeface="Lexend"/>
              <a:sym typeface="Lexend"/>
            </a:endParaRPr>
          </a:p>
          <a:p>
            <a:pPr indent="-342900" lvl="0" marL="342900" rtl="0" algn="l">
              <a:spcBef>
                <a:spcPts val="560"/>
              </a:spcBef>
              <a:spcAft>
                <a:spcPts val="0"/>
              </a:spcAft>
              <a:buClr>
                <a:schemeClr val="dk1"/>
              </a:buClr>
              <a:buSzPts val="2800"/>
              <a:buFont typeface="Arial"/>
              <a:buNone/>
            </a:pPr>
            <a:r>
              <a:rPr b="1" lang="en" sz="2000">
                <a:solidFill>
                  <a:schemeClr val="dk1"/>
                </a:solidFill>
                <a:latin typeface="Lexend"/>
                <a:ea typeface="Lexend"/>
                <a:cs typeface="Lexend"/>
                <a:sym typeface="Lexend"/>
              </a:rPr>
              <a:t>	            	</a:t>
            </a:r>
            <a:r>
              <a:rPr b="1" lang="en" sz="2000">
                <a:solidFill>
                  <a:srgbClr val="CC0000"/>
                </a:solidFill>
                <a:latin typeface="Lexend"/>
                <a:ea typeface="Lexend"/>
                <a:cs typeface="Lexend"/>
                <a:sym typeface="Lexend"/>
              </a:rPr>
              <a:t>- </a:t>
            </a:r>
            <a:r>
              <a:rPr b="1" i="1" lang="en" sz="2000">
                <a:solidFill>
                  <a:srgbClr val="CC0000"/>
                </a:solidFill>
                <a:latin typeface="Lexend"/>
                <a:ea typeface="Lexend"/>
                <a:cs typeface="Lexend"/>
                <a:sym typeface="Lexend"/>
              </a:rPr>
              <a:t>x</a:t>
            </a:r>
            <a:r>
              <a:rPr b="1" lang="en" sz="2000">
                <a:solidFill>
                  <a:srgbClr val="CC0000"/>
                </a:solidFill>
                <a:latin typeface="Lexend"/>
                <a:ea typeface="Lexend"/>
                <a:cs typeface="Lexend"/>
                <a:sym typeface="Lexend"/>
              </a:rPr>
              <a:t> = 2</a:t>
            </a:r>
            <a:r>
              <a:rPr b="1" baseline="30000" i="1" lang="en" sz="2000">
                <a:solidFill>
                  <a:srgbClr val="CC0000"/>
                </a:solidFill>
                <a:latin typeface="Lexend"/>
                <a:ea typeface="Lexend"/>
                <a:cs typeface="Lexend"/>
                <a:sym typeface="Lexend"/>
              </a:rPr>
              <a:t>n</a:t>
            </a:r>
            <a:r>
              <a:rPr b="1" lang="en" sz="2000">
                <a:solidFill>
                  <a:srgbClr val="CC0000"/>
                </a:solidFill>
                <a:latin typeface="Lexend"/>
                <a:ea typeface="Lexend"/>
                <a:cs typeface="Lexend"/>
                <a:sym typeface="Lexend"/>
              </a:rPr>
              <a:t> - </a:t>
            </a:r>
            <a:r>
              <a:rPr b="1" i="1" lang="en" sz="2000">
                <a:solidFill>
                  <a:srgbClr val="CC0000"/>
                </a:solidFill>
                <a:latin typeface="Lexend"/>
                <a:ea typeface="Lexend"/>
                <a:cs typeface="Lexend"/>
                <a:sym typeface="Lexend"/>
              </a:rPr>
              <a:t>x</a:t>
            </a:r>
            <a:r>
              <a:rPr lang="en" sz="2000">
                <a:solidFill>
                  <a:srgbClr val="CC3399"/>
                </a:solidFill>
                <a:latin typeface="Lexend"/>
                <a:ea typeface="Lexend"/>
                <a:cs typeface="Lexend"/>
                <a:sym typeface="Lexend"/>
              </a:rPr>
              <a:t> </a:t>
            </a:r>
            <a:endParaRPr sz="2000">
              <a:solidFill>
                <a:schemeClr val="dk1"/>
              </a:solidFill>
              <a:latin typeface="Lexend"/>
              <a:ea typeface="Lexend"/>
              <a:cs typeface="Lexend"/>
              <a:sym typeface="Lexend"/>
            </a:endParaRPr>
          </a:p>
          <a:p>
            <a:pPr indent="-342900" lvl="0" marL="342900" rtl="0" algn="l">
              <a:spcBef>
                <a:spcPts val="1400"/>
              </a:spcBef>
              <a:spcAft>
                <a:spcPts val="0"/>
              </a:spcAft>
              <a:buClr>
                <a:schemeClr val="dk1"/>
              </a:buClr>
              <a:buSzPts val="2800"/>
              <a:buFont typeface="Arial"/>
              <a:buNone/>
            </a:pPr>
            <a:r>
              <a:rPr lang="en" sz="2000">
                <a:solidFill>
                  <a:schemeClr val="dk1"/>
                </a:solidFill>
                <a:latin typeface="Lexend"/>
                <a:ea typeface="Lexend"/>
                <a:cs typeface="Lexend"/>
                <a:sym typeface="Lexend"/>
              </a:rPr>
              <a:t>	Example: With an 8-bit number 00001100, its negative value in 2s complement is thus:</a:t>
            </a:r>
            <a:endParaRPr sz="2000">
              <a:solidFill>
                <a:schemeClr val="dk1"/>
              </a:solidFill>
              <a:latin typeface="Lexend"/>
              <a:ea typeface="Lexend"/>
              <a:cs typeface="Lexend"/>
              <a:sym typeface="Lexend"/>
            </a:endParaRPr>
          </a:p>
          <a:p>
            <a:pPr indent="-342900" lvl="0" marL="342900" rtl="0" algn="l">
              <a:spcBef>
                <a:spcPts val="500"/>
              </a:spcBef>
              <a:spcAft>
                <a:spcPts val="0"/>
              </a:spcAft>
              <a:buClr>
                <a:schemeClr val="dk1"/>
              </a:buClr>
              <a:buSzPts val="2500"/>
              <a:buFont typeface="Arial"/>
              <a:buNone/>
            </a:pPr>
            <a:r>
              <a:rPr lang="en" sz="2000">
                <a:solidFill>
                  <a:schemeClr val="dk1"/>
                </a:solidFill>
                <a:latin typeface="Lexend"/>
                <a:ea typeface="Lexend"/>
                <a:cs typeface="Lexend"/>
                <a:sym typeface="Lexend"/>
              </a:rPr>
              <a:t>		      -(00001100)</a:t>
            </a:r>
            <a:r>
              <a:rPr baseline="-25000" lang="en" sz="2000">
                <a:solidFill>
                  <a:schemeClr val="dk1"/>
                </a:solidFill>
                <a:latin typeface="Lexend"/>
                <a:ea typeface="Lexend"/>
                <a:cs typeface="Lexend"/>
                <a:sym typeface="Lexend"/>
              </a:rPr>
              <a:t>2</a:t>
            </a:r>
            <a:r>
              <a:rPr lang="en" sz="2000">
                <a:solidFill>
                  <a:schemeClr val="dk1"/>
                </a:solidFill>
                <a:latin typeface="Lexend"/>
                <a:ea typeface="Lexend"/>
                <a:cs typeface="Lexend"/>
                <a:sym typeface="Lexend"/>
              </a:rPr>
              <a:t> = - (12)</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500"/>
              </a:spcBef>
              <a:spcAft>
                <a:spcPts val="0"/>
              </a:spcAft>
              <a:buClr>
                <a:schemeClr val="dk1"/>
              </a:buClr>
              <a:buSzPts val="2500"/>
              <a:buFont typeface="Arial"/>
              <a:buNone/>
            </a:pPr>
            <a:r>
              <a:rPr lang="en" sz="2000">
                <a:solidFill>
                  <a:schemeClr val="dk1"/>
                </a:solidFill>
                <a:latin typeface="Lexend"/>
                <a:ea typeface="Lexend"/>
                <a:cs typeface="Lexend"/>
                <a:sym typeface="Lexend"/>
              </a:rPr>
              <a:t>		                             = (2</a:t>
            </a:r>
            <a:r>
              <a:rPr baseline="30000" lang="en" sz="2000">
                <a:solidFill>
                  <a:schemeClr val="dk1"/>
                </a:solidFill>
                <a:latin typeface="Lexend"/>
                <a:ea typeface="Lexend"/>
                <a:cs typeface="Lexend"/>
                <a:sym typeface="Lexend"/>
              </a:rPr>
              <a:t>8</a:t>
            </a:r>
            <a:r>
              <a:rPr lang="en" sz="2000">
                <a:solidFill>
                  <a:schemeClr val="dk1"/>
                </a:solidFill>
                <a:latin typeface="Lexend"/>
                <a:ea typeface="Lexend"/>
                <a:cs typeface="Lexend"/>
                <a:sym typeface="Lexend"/>
              </a:rPr>
              <a:t> - 12)</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500"/>
              </a:spcBef>
              <a:spcAft>
                <a:spcPts val="0"/>
              </a:spcAft>
              <a:buClr>
                <a:schemeClr val="dk1"/>
              </a:buClr>
              <a:buSzPts val="2500"/>
              <a:buFont typeface="Arial"/>
              <a:buNone/>
            </a:pPr>
            <a:r>
              <a:rPr lang="en" sz="2000">
                <a:solidFill>
                  <a:schemeClr val="dk1"/>
                </a:solidFill>
                <a:latin typeface="Lexend"/>
                <a:ea typeface="Lexend"/>
                <a:cs typeface="Lexend"/>
                <a:sym typeface="Lexend"/>
              </a:rPr>
              <a:t>		                             = (244)</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500"/>
              </a:spcBef>
              <a:spcAft>
                <a:spcPts val="0"/>
              </a:spcAft>
              <a:buNone/>
            </a:pPr>
            <a:r>
              <a:rPr lang="en" sz="2000">
                <a:solidFill>
                  <a:schemeClr val="dk1"/>
                </a:solidFill>
                <a:latin typeface="Lexend"/>
                <a:ea typeface="Lexend"/>
                <a:cs typeface="Lexend"/>
                <a:sym typeface="Lexend"/>
              </a:rPr>
              <a:t>		                             = </a:t>
            </a:r>
            <a:r>
              <a:rPr b="1" lang="en" sz="2000">
                <a:solidFill>
                  <a:schemeClr val="dk1"/>
                </a:solidFill>
                <a:latin typeface="Lexend"/>
                <a:ea typeface="Lexend"/>
                <a:cs typeface="Lexend"/>
                <a:sym typeface="Lexend"/>
              </a:rPr>
              <a:t>(11110100)</a:t>
            </a:r>
            <a:r>
              <a:rPr b="1" baseline="-25000" lang="en" sz="2000">
                <a:solidFill>
                  <a:schemeClr val="dk1"/>
                </a:solidFill>
                <a:latin typeface="Lexend"/>
                <a:ea typeface="Lexend"/>
                <a:cs typeface="Lexend"/>
                <a:sym typeface="Lexend"/>
              </a:rPr>
              <a:t>2s</a:t>
            </a:r>
            <a:endParaRPr sz="2000">
              <a:solidFill>
                <a:schemeClr val="dk1"/>
              </a:solidFill>
              <a:latin typeface="Lexend"/>
              <a:ea typeface="Lexend"/>
              <a:cs typeface="Lexend"/>
              <a:sym typeface="Lexend"/>
            </a:endParaRPr>
          </a:p>
        </p:txBody>
      </p:sp>
      <p:pic>
        <p:nvPicPr>
          <p:cNvPr id="297" name="Google Shape;297;p2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98" name="Google Shape;298;p2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299" name="Google Shape;299;p27"/>
          <p:cNvGrpSpPr/>
          <p:nvPr/>
        </p:nvGrpSpPr>
        <p:grpSpPr>
          <a:xfrm>
            <a:off x="50480" y="122879"/>
            <a:ext cx="277873" cy="68400"/>
            <a:chOff x="411700" y="2416840"/>
            <a:chExt cx="277873" cy="68400"/>
          </a:xfrm>
        </p:grpSpPr>
        <p:sp>
          <p:nvSpPr>
            <p:cNvPr id="300" name="Google Shape;300;p2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2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2" name="Google Shape;302;p2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03" name="Google Shape;303;p2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2s Complement</a:t>
            </a:r>
            <a:endParaRPr sz="3600">
              <a:latin typeface="Lexend"/>
              <a:ea typeface="Lexend"/>
              <a:cs typeface="Lexend"/>
              <a:sym typeface="Lexend"/>
            </a:endParaRPr>
          </a:p>
        </p:txBody>
      </p:sp>
      <p:sp>
        <p:nvSpPr>
          <p:cNvPr id="304" name="Google Shape;304;p2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05" name="Google Shape;305;p2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8"/>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11" name="Google Shape;311;p28"/>
          <p:cNvPicPr preferRelativeResize="0"/>
          <p:nvPr/>
        </p:nvPicPr>
        <p:blipFill rotWithShape="1">
          <a:blip r:embed="rId3">
            <a:alphaModFix/>
          </a:blip>
          <a:srcRect b="10185" l="0" r="0" t="0"/>
          <a:stretch/>
        </p:blipFill>
        <p:spPr>
          <a:xfrm>
            <a:off x="0" y="810775"/>
            <a:ext cx="2082077"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12" name="Google Shape;312;p28"/>
          <p:cNvPicPr preferRelativeResize="0"/>
          <p:nvPr/>
        </p:nvPicPr>
        <p:blipFill rotWithShape="1">
          <a:blip r:embed="rId3">
            <a:alphaModFix/>
          </a:blip>
          <a:srcRect b="10185" l="0" r="0" t="0"/>
          <a:stretch/>
        </p:blipFill>
        <p:spPr>
          <a:xfrm>
            <a:off x="0" y="3658625"/>
            <a:ext cx="2082077"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sp>
        <p:nvSpPr>
          <p:cNvPr id="313" name="Google Shape;313;p28"/>
          <p:cNvSpPr txBox="1"/>
          <p:nvPr/>
        </p:nvSpPr>
        <p:spPr>
          <a:xfrm>
            <a:off x="351900" y="791050"/>
            <a:ext cx="8494200" cy="3945600"/>
          </a:xfrm>
          <a:prstGeom prst="rect">
            <a:avLst/>
          </a:prstGeom>
          <a:noFill/>
          <a:ln>
            <a:noFill/>
          </a:ln>
        </p:spPr>
        <p:txBody>
          <a:bodyPr anchorCtr="0" anchor="t" bIns="91425" lIns="91425" spcFirstLastPara="1" rIns="91425" wrap="square" tIns="91425">
            <a:spAutoFit/>
          </a:bodyPr>
          <a:lstStyle/>
          <a:p>
            <a:pPr indent="-287020" lvl="0" marL="342900" rtl="0" algn="l">
              <a:lnSpc>
                <a:spcPct val="90000"/>
              </a:lnSpc>
              <a:spcBef>
                <a:spcPts val="0"/>
              </a:spcBef>
              <a:spcAft>
                <a:spcPts val="0"/>
              </a:spcAft>
              <a:buClr>
                <a:schemeClr val="dk1"/>
              </a:buClr>
              <a:buSzPts val="2000"/>
              <a:buChar char="•"/>
            </a:pPr>
            <a:r>
              <a:rPr b="1" lang="en" sz="2000">
                <a:solidFill>
                  <a:schemeClr val="dk1"/>
                </a:solidFill>
                <a:latin typeface="Lexend"/>
                <a:ea typeface="Lexend"/>
                <a:cs typeface="Lexend"/>
                <a:sym typeface="Lexend"/>
              </a:rPr>
              <a:t>Method 1:</a:t>
            </a:r>
            <a:r>
              <a:rPr lang="en" sz="2000">
                <a:solidFill>
                  <a:schemeClr val="dk1"/>
                </a:solidFill>
                <a:latin typeface="Lexend"/>
                <a:ea typeface="Lexend"/>
                <a:cs typeface="Lexend"/>
                <a:sym typeface="Lexend"/>
              </a:rPr>
              <a:t> Essential technique: </a:t>
            </a:r>
            <a:r>
              <a:rPr lang="en" sz="2000">
                <a:solidFill>
                  <a:srgbClr val="0000FF"/>
                </a:solidFill>
                <a:latin typeface="Lexend"/>
                <a:ea typeface="Lexend"/>
                <a:cs typeface="Lexend"/>
                <a:sym typeface="Lexend"/>
              </a:rPr>
              <a:t>invert</a:t>
            </a:r>
            <a:r>
              <a:rPr lang="en" sz="2000">
                <a:solidFill>
                  <a:schemeClr val="dk1"/>
                </a:solidFill>
                <a:latin typeface="Lexend"/>
                <a:ea typeface="Lexend"/>
                <a:cs typeface="Lexend"/>
                <a:sym typeface="Lexend"/>
              </a:rPr>
              <a:t> all the bits and </a:t>
            </a:r>
            <a:r>
              <a:rPr lang="en" sz="2000">
                <a:solidFill>
                  <a:srgbClr val="0000FF"/>
                </a:solidFill>
                <a:latin typeface="Lexend"/>
                <a:ea typeface="Lexend"/>
                <a:cs typeface="Lexend"/>
                <a:sym typeface="Lexend"/>
              </a:rPr>
              <a:t>add 1</a:t>
            </a:r>
            <a:r>
              <a:rPr lang="en" sz="2000">
                <a:solidFill>
                  <a:schemeClr val="dk1"/>
                </a:solidFill>
                <a:latin typeface="Lexend"/>
                <a:ea typeface="Lexend"/>
                <a:cs typeface="Lexend"/>
                <a:sym typeface="Lexend"/>
              </a:rPr>
              <a:t>.</a:t>
            </a:r>
            <a:br>
              <a:rPr lang="en" sz="2000">
                <a:solidFill>
                  <a:schemeClr val="dk1"/>
                </a:solidFill>
                <a:latin typeface="Lexend"/>
                <a:ea typeface="Lexend"/>
                <a:cs typeface="Lexend"/>
                <a:sym typeface="Lexend"/>
              </a:rPr>
            </a:br>
            <a:r>
              <a:rPr lang="en" sz="2000">
                <a:solidFill>
                  <a:schemeClr val="dk1"/>
                </a:solidFill>
                <a:latin typeface="Lexend"/>
                <a:ea typeface="Lexend"/>
                <a:cs typeface="Lexend"/>
                <a:sym typeface="Lexend"/>
              </a:rPr>
              <a:t>Examples:</a:t>
            </a:r>
            <a:br>
              <a:rPr lang="en" sz="2000">
                <a:solidFill>
                  <a:schemeClr val="dk1"/>
                </a:solidFill>
                <a:latin typeface="Lexend"/>
                <a:ea typeface="Lexend"/>
                <a:cs typeface="Lexend"/>
                <a:sym typeface="Lexend"/>
              </a:rPr>
            </a:br>
            <a:r>
              <a:rPr lang="en" sz="2000">
                <a:solidFill>
                  <a:schemeClr val="dk1"/>
                </a:solidFill>
                <a:latin typeface="Lexend"/>
                <a:ea typeface="Lexend"/>
                <a:cs typeface="Lexend"/>
                <a:sym typeface="Lexend"/>
              </a:rPr>
              <a:t>		2s complement of</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Font typeface="Arial"/>
              <a:buNone/>
            </a:pPr>
            <a:r>
              <a:rPr lang="en" sz="2000">
                <a:solidFill>
                  <a:schemeClr val="dk1"/>
                </a:solidFill>
                <a:latin typeface="Lexend"/>
                <a:ea typeface="Lexend"/>
                <a:cs typeface="Lexend"/>
                <a:sym typeface="Lexend"/>
              </a:rPr>
              <a:t>		(00000001)</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 (11111110)</a:t>
            </a:r>
            <a:r>
              <a:rPr baseline="-25000" lang="en" sz="2000">
                <a:solidFill>
                  <a:schemeClr val="dk1"/>
                </a:solidFill>
                <a:latin typeface="Lexend"/>
                <a:ea typeface="Lexend"/>
                <a:cs typeface="Lexend"/>
                <a:sym typeface="Lexend"/>
              </a:rPr>
              <a:t>1s</a:t>
            </a:r>
            <a:r>
              <a:rPr lang="en" sz="2000">
                <a:solidFill>
                  <a:schemeClr val="dk1"/>
                </a:solidFill>
                <a:latin typeface="Lexend"/>
                <a:ea typeface="Lexend"/>
                <a:cs typeface="Lexend"/>
                <a:sym typeface="Lexend"/>
              </a:rPr>
              <a:t>   (invert i.e 1’s complement)</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Font typeface="Arial"/>
              <a:buNone/>
            </a:pPr>
            <a:r>
              <a:rPr lang="en" sz="2000">
                <a:solidFill>
                  <a:schemeClr val="dk1"/>
                </a:solidFill>
                <a:latin typeface="Lexend"/>
                <a:ea typeface="Lexend"/>
                <a:cs typeface="Lexend"/>
                <a:sym typeface="Lexend"/>
              </a:rPr>
              <a:t>                            	= (11111111)</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(add 1)</a:t>
            </a:r>
            <a:endParaRPr sz="2000">
              <a:solidFill>
                <a:schemeClr val="dk1"/>
              </a:solidFill>
              <a:latin typeface="Lexend"/>
              <a:ea typeface="Lexend"/>
              <a:cs typeface="Lexend"/>
              <a:sym typeface="Lexend"/>
            </a:endParaRPr>
          </a:p>
          <a:p>
            <a:pPr indent="-342900" lvl="0" marL="342900" rtl="0" algn="l">
              <a:lnSpc>
                <a:spcPct val="90000"/>
              </a:lnSpc>
              <a:spcBef>
                <a:spcPts val="1000"/>
              </a:spcBef>
              <a:spcAft>
                <a:spcPts val="0"/>
              </a:spcAft>
              <a:buClr>
                <a:schemeClr val="dk1"/>
              </a:buClr>
              <a:buSzPts val="2000"/>
              <a:buFont typeface="Arial"/>
              <a:buNone/>
            </a:pPr>
            <a:r>
              <a:rPr lang="en" sz="2000">
                <a:solidFill>
                  <a:schemeClr val="dk1"/>
                </a:solidFill>
                <a:latin typeface="Lexend"/>
                <a:ea typeface="Lexend"/>
                <a:cs typeface="Lexend"/>
                <a:sym typeface="Lexend"/>
              </a:rPr>
              <a:t>    		2s complement of</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Font typeface="Arial"/>
              <a:buNone/>
            </a:pPr>
            <a:r>
              <a:rPr lang="en" sz="2000">
                <a:solidFill>
                  <a:schemeClr val="dk1"/>
                </a:solidFill>
                <a:latin typeface="Lexend"/>
                <a:ea typeface="Lexend"/>
                <a:cs typeface="Lexend"/>
                <a:sym typeface="Lexend"/>
              </a:rPr>
              <a:t>		(01111110)</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a:t>
            </a:r>
            <a:r>
              <a:rPr lang="en" sz="2000">
                <a:solidFill>
                  <a:schemeClr val="dk1"/>
                </a:solidFill>
                <a:latin typeface="Lexend"/>
                <a:ea typeface="Lexend"/>
                <a:cs typeface="Lexend"/>
                <a:sym typeface="Lexend"/>
              </a:rPr>
              <a:t>	</a:t>
            </a:r>
            <a:r>
              <a:rPr lang="en" sz="2000">
                <a:solidFill>
                  <a:schemeClr val="dk1"/>
                </a:solidFill>
                <a:latin typeface="Lexend"/>
                <a:ea typeface="Lexend"/>
                <a:cs typeface="Lexend"/>
                <a:sym typeface="Lexend"/>
              </a:rPr>
              <a:t>= (10000001)</a:t>
            </a:r>
            <a:r>
              <a:rPr baseline="-25000" lang="en" sz="2000">
                <a:solidFill>
                  <a:schemeClr val="dk1"/>
                </a:solidFill>
                <a:latin typeface="Lexend"/>
                <a:ea typeface="Lexend"/>
                <a:cs typeface="Lexend"/>
                <a:sym typeface="Lexend"/>
              </a:rPr>
              <a:t>1s</a:t>
            </a:r>
            <a:r>
              <a:rPr lang="en" sz="2000">
                <a:solidFill>
                  <a:schemeClr val="dk1"/>
                </a:solidFill>
                <a:latin typeface="Lexend"/>
                <a:ea typeface="Lexend"/>
                <a:cs typeface="Lexend"/>
                <a:sym typeface="Lexend"/>
              </a:rPr>
              <a:t>   (invert i.e 1’s complement)</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Font typeface="Arial"/>
              <a:buNone/>
            </a:pPr>
            <a:r>
              <a:rPr lang="en" sz="2000">
                <a:solidFill>
                  <a:schemeClr val="dk1"/>
                </a:solidFill>
                <a:latin typeface="Lexend"/>
                <a:ea typeface="Lexend"/>
                <a:cs typeface="Lexend"/>
                <a:sym typeface="Lexend"/>
              </a:rPr>
              <a:t>                            	= (10000010)</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(add 1)</a:t>
            </a:r>
            <a:br>
              <a:rPr lang="en" sz="2000">
                <a:solidFill>
                  <a:schemeClr val="dk1"/>
                </a:solidFill>
                <a:latin typeface="Lexend"/>
                <a:ea typeface="Lexend"/>
                <a:cs typeface="Lexend"/>
                <a:sym typeface="Lexend"/>
              </a:rPr>
            </a:b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Char char="•"/>
            </a:pPr>
            <a:r>
              <a:rPr b="1" lang="en" sz="2000">
                <a:solidFill>
                  <a:schemeClr val="dk1"/>
                </a:solidFill>
                <a:latin typeface="Lexend"/>
                <a:ea typeface="Lexend"/>
                <a:cs typeface="Lexend"/>
                <a:sym typeface="Lexend"/>
              </a:rPr>
              <a:t>Method 2: </a:t>
            </a:r>
            <a:r>
              <a:rPr lang="en" sz="2000">
                <a:solidFill>
                  <a:schemeClr val="dk1"/>
                </a:solidFill>
                <a:latin typeface="Lexend"/>
                <a:ea typeface="Lexend"/>
                <a:cs typeface="Lexend"/>
                <a:sym typeface="Lexend"/>
              </a:rPr>
              <a:t>Keep unchanged till 1</a:t>
            </a:r>
            <a:r>
              <a:rPr baseline="30000" lang="en" sz="2000">
                <a:solidFill>
                  <a:schemeClr val="dk1"/>
                </a:solidFill>
                <a:latin typeface="Lexend"/>
                <a:ea typeface="Lexend"/>
                <a:cs typeface="Lexend"/>
                <a:sym typeface="Lexend"/>
              </a:rPr>
              <a:t>st</a:t>
            </a:r>
            <a:r>
              <a:rPr lang="en" sz="2000">
                <a:solidFill>
                  <a:schemeClr val="dk1"/>
                </a:solidFill>
                <a:latin typeface="Lexend"/>
                <a:ea typeface="Lexend"/>
                <a:cs typeface="Lexend"/>
                <a:sym typeface="Lexend"/>
              </a:rPr>
              <a:t> occurrence of 1 from LSB and invert remaining 1’s into 0’s and 0’s into 1’s till MSB</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None/>
            </a:pPr>
            <a:r>
              <a:rPr lang="en" sz="2000">
                <a:solidFill>
                  <a:schemeClr val="dk1"/>
                </a:solidFill>
                <a:latin typeface="Lexend"/>
                <a:ea typeface="Lexend"/>
                <a:cs typeface="Lexend"/>
                <a:sym typeface="Lexend"/>
              </a:rPr>
              <a:t>	 (01111110)</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 (10000010)</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a:t>
            </a:r>
            <a:endParaRPr sz="2000">
              <a:solidFill>
                <a:schemeClr val="dk1"/>
              </a:solidFill>
              <a:latin typeface="Lexend"/>
              <a:ea typeface="Lexend"/>
              <a:cs typeface="Lexend"/>
              <a:sym typeface="Lexend"/>
            </a:endParaRPr>
          </a:p>
        </p:txBody>
      </p:sp>
      <p:pic>
        <p:nvPicPr>
          <p:cNvPr id="314" name="Google Shape;314;p28"/>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315" name="Google Shape;315;p2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316" name="Google Shape;316;p28"/>
          <p:cNvGrpSpPr/>
          <p:nvPr/>
        </p:nvGrpSpPr>
        <p:grpSpPr>
          <a:xfrm>
            <a:off x="50480" y="122879"/>
            <a:ext cx="277873" cy="68400"/>
            <a:chOff x="411700" y="2416840"/>
            <a:chExt cx="277873" cy="68400"/>
          </a:xfrm>
        </p:grpSpPr>
        <p:sp>
          <p:nvSpPr>
            <p:cNvPr id="317" name="Google Shape;317;p2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2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p2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20" name="Google Shape;320;p2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2s Complement [cont.]</a:t>
            </a:r>
            <a:endParaRPr sz="3600">
              <a:latin typeface="Lexend"/>
              <a:ea typeface="Lexend"/>
              <a:cs typeface="Lexend"/>
              <a:sym typeface="Lexend"/>
            </a:endParaRPr>
          </a:p>
        </p:txBody>
      </p:sp>
      <p:sp>
        <p:nvSpPr>
          <p:cNvPr id="321" name="Google Shape;321;p2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22" name="Google Shape;322;p2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323" name="Google Shape;323;p28"/>
          <p:cNvSpPr/>
          <p:nvPr/>
        </p:nvSpPr>
        <p:spPr>
          <a:xfrm flipH="1">
            <a:off x="7825674" y="1204375"/>
            <a:ext cx="1318326" cy="766847"/>
          </a:xfrm>
          <a:custGeom>
            <a:rect b="b" l="l" r="r" t="t"/>
            <a:pathLst>
              <a:path extrusionOk="0" h="949656" w="1775523">
                <a:moveTo>
                  <a:pt x="1439418" y="0"/>
                </a:moveTo>
                <a:lnTo>
                  <a:pt x="336233" y="0"/>
                </a:lnTo>
                <a:cubicBezTo>
                  <a:pt x="151321" y="0"/>
                  <a:pt x="0" y="151321"/>
                  <a:pt x="0" y="336233"/>
                </a:cubicBezTo>
                <a:lnTo>
                  <a:pt x="0" y="336233"/>
                </a:lnTo>
                <a:cubicBezTo>
                  <a:pt x="0" y="521145"/>
                  <a:pt x="151321" y="672465"/>
                  <a:pt x="336233" y="672465"/>
                </a:cubicBezTo>
                <a:lnTo>
                  <a:pt x="1208913" y="672465"/>
                </a:lnTo>
                <a:cubicBezTo>
                  <a:pt x="1243330" y="724091"/>
                  <a:pt x="1406017" y="956183"/>
                  <a:pt x="1544828" y="949516"/>
                </a:cubicBezTo>
                <a:lnTo>
                  <a:pt x="1545019" y="949516"/>
                </a:lnTo>
                <a:cubicBezTo>
                  <a:pt x="1551940" y="949516"/>
                  <a:pt x="1555750" y="941515"/>
                  <a:pt x="1551305" y="936181"/>
                </a:cubicBezTo>
                <a:cubicBezTo>
                  <a:pt x="1540701" y="923481"/>
                  <a:pt x="1529144" y="904431"/>
                  <a:pt x="1523365" y="893763"/>
                </a:cubicBezTo>
                <a:cubicBezTo>
                  <a:pt x="1516825" y="881761"/>
                  <a:pt x="1463992" y="766191"/>
                  <a:pt x="1473073" y="670751"/>
                </a:cubicBezTo>
                <a:cubicBezTo>
                  <a:pt x="1642301" y="653669"/>
                  <a:pt x="1775523" y="509778"/>
                  <a:pt x="1775523" y="336233"/>
                </a:cubicBezTo>
                <a:lnTo>
                  <a:pt x="1775523" y="336233"/>
                </a:lnTo>
                <a:cubicBezTo>
                  <a:pt x="1775523" y="151321"/>
                  <a:pt x="1624203" y="0"/>
                  <a:pt x="1439291" y="0"/>
                </a:cubicBezTo>
                <a:close/>
              </a:path>
            </a:pathLst>
          </a:custGeom>
          <a:solidFill>
            <a:srgbClr val="119BFE"/>
          </a:solid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 sz="1600">
                <a:solidFill>
                  <a:schemeClr val="lt1"/>
                </a:solidFill>
                <a:latin typeface="Lexend"/>
                <a:ea typeface="Lexend"/>
                <a:cs typeface="Lexend"/>
                <a:sym typeface="Lexend"/>
              </a:rPr>
              <a:t>Official Method</a:t>
            </a:r>
            <a:endParaRPr sz="1600">
              <a:solidFill>
                <a:schemeClr val="lt1"/>
              </a:solidFill>
              <a:latin typeface="Lexend"/>
              <a:ea typeface="Lexend"/>
              <a:cs typeface="Lexend"/>
              <a:sym typeface="Lexend"/>
            </a:endParaRPr>
          </a:p>
        </p:txBody>
      </p:sp>
      <p:sp>
        <p:nvSpPr>
          <p:cNvPr id="324" name="Google Shape;324;p28"/>
          <p:cNvSpPr/>
          <p:nvPr/>
        </p:nvSpPr>
        <p:spPr>
          <a:xfrm flipH="1">
            <a:off x="7825674" y="2977450"/>
            <a:ext cx="1318326" cy="766847"/>
          </a:xfrm>
          <a:custGeom>
            <a:rect b="b" l="l" r="r" t="t"/>
            <a:pathLst>
              <a:path extrusionOk="0" h="949656" w="1775523">
                <a:moveTo>
                  <a:pt x="1439418" y="0"/>
                </a:moveTo>
                <a:lnTo>
                  <a:pt x="336233" y="0"/>
                </a:lnTo>
                <a:cubicBezTo>
                  <a:pt x="151321" y="0"/>
                  <a:pt x="0" y="151321"/>
                  <a:pt x="0" y="336233"/>
                </a:cubicBezTo>
                <a:lnTo>
                  <a:pt x="0" y="336233"/>
                </a:lnTo>
                <a:cubicBezTo>
                  <a:pt x="0" y="521145"/>
                  <a:pt x="151321" y="672465"/>
                  <a:pt x="336233" y="672465"/>
                </a:cubicBezTo>
                <a:lnTo>
                  <a:pt x="1208913" y="672465"/>
                </a:lnTo>
                <a:cubicBezTo>
                  <a:pt x="1243330" y="724091"/>
                  <a:pt x="1406017" y="956183"/>
                  <a:pt x="1544828" y="949516"/>
                </a:cubicBezTo>
                <a:lnTo>
                  <a:pt x="1545019" y="949516"/>
                </a:lnTo>
                <a:cubicBezTo>
                  <a:pt x="1551940" y="949516"/>
                  <a:pt x="1555750" y="941515"/>
                  <a:pt x="1551305" y="936181"/>
                </a:cubicBezTo>
                <a:cubicBezTo>
                  <a:pt x="1540701" y="923481"/>
                  <a:pt x="1529144" y="904431"/>
                  <a:pt x="1523365" y="893763"/>
                </a:cubicBezTo>
                <a:cubicBezTo>
                  <a:pt x="1516825" y="881761"/>
                  <a:pt x="1463992" y="766191"/>
                  <a:pt x="1473073" y="670751"/>
                </a:cubicBezTo>
                <a:cubicBezTo>
                  <a:pt x="1642301" y="653669"/>
                  <a:pt x="1775523" y="509778"/>
                  <a:pt x="1775523" y="336233"/>
                </a:cubicBezTo>
                <a:lnTo>
                  <a:pt x="1775523" y="336233"/>
                </a:lnTo>
                <a:cubicBezTo>
                  <a:pt x="1775523" y="151321"/>
                  <a:pt x="1624203" y="0"/>
                  <a:pt x="1439291" y="0"/>
                </a:cubicBezTo>
                <a:close/>
              </a:path>
            </a:pathLst>
          </a:custGeom>
          <a:solidFill>
            <a:srgbClr val="FF6B4D"/>
          </a:solid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 sz="1600">
                <a:solidFill>
                  <a:schemeClr val="lt1"/>
                </a:solidFill>
                <a:latin typeface="Lexend"/>
                <a:ea typeface="Lexend"/>
                <a:cs typeface="Lexend"/>
                <a:sym typeface="Lexend"/>
              </a:rPr>
              <a:t>Uno</a:t>
            </a:r>
            <a:r>
              <a:rPr lang="en" sz="1600">
                <a:solidFill>
                  <a:schemeClr val="lt1"/>
                </a:solidFill>
                <a:latin typeface="Lexend"/>
                <a:ea typeface="Lexend"/>
                <a:cs typeface="Lexend"/>
                <a:sym typeface="Lexend"/>
              </a:rPr>
              <a:t>fficial Method</a:t>
            </a:r>
            <a:endParaRPr sz="1600">
              <a:solidFill>
                <a:schemeClr val="lt1"/>
              </a:solidFill>
              <a:latin typeface="Lexend"/>
              <a:ea typeface="Lexend"/>
              <a:cs typeface="Lexend"/>
              <a:sym typeface="Lexen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9"/>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0" name="Google Shape;330;p29"/>
          <p:cNvSpPr txBox="1"/>
          <p:nvPr/>
        </p:nvSpPr>
        <p:spPr>
          <a:xfrm>
            <a:off x="351900" y="791050"/>
            <a:ext cx="8494200" cy="315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latin typeface="Lexend"/>
                <a:ea typeface="Lexend"/>
                <a:cs typeface="Lexend"/>
                <a:sym typeface="Lexend"/>
              </a:rPr>
              <a:t>Range in 8 bits: -(128)</a:t>
            </a:r>
            <a:r>
              <a:rPr baseline="-25000" lang="en" sz="2200">
                <a:solidFill>
                  <a:schemeClr val="dk1"/>
                </a:solidFill>
                <a:latin typeface="Lexend"/>
                <a:ea typeface="Lexend"/>
                <a:cs typeface="Lexend"/>
                <a:sym typeface="Lexend"/>
              </a:rPr>
              <a:t>10</a:t>
            </a:r>
            <a:r>
              <a:rPr lang="en" sz="2200">
                <a:solidFill>
                  <a:schemeClr val="dk1"/>
                </a:solidFill>
                <a:latin typeface="Lexend"/>
                <a:ea typeface="Lexend"/>
                <a:cs typeface="Lexend"/>
                <a:sym typeface="Lexend"/>
              </a:rPr>
              <a:t>to +(127)</a:t>
            </a:r>
            <a:r>
              <a:rPr baseline="-25000" lang="en" sz="2200">
                <a:solidFill>
                  <a:schemeClr val="dk1"/>
                </a:solidFill>
                <a:latin typeface="Lexend"/>
                <a:ea typeface="Lexend"/>
                <a:cs typeface="Lexend"/>
                <a:sym typeface="Lexend"/>
              </a:rPr>
              <a:t>10</a:t>
            </a:r>
            <a:endParaRPr sz="2200">
              <a:solidFill>
                <a:schemeClr val="dk1"/>
              </a:solidFill>
              <a:latin typeface="Lexend"/>
              <a:ea typeface="Lexend"/>
              <a:cs typeface="Lexend"/>
              <a:sym typeface="Lexend"/>
            </a:endParaRPr>
          </a:p>
          <a:p>
            <a:pPr indent="-129540" lvl="0" marL="342900" rtl="0" algn="l">
              <a:spcBef>
                <a:spcPts val="1120"/>
              </a:spcBef>
              <a:spcAft>
                <a:spcPts val="0"/>
              </a:spcAft>
              <a:buClr>
                <a:schemeClr val="dk1"/>
              </a:buClr>
              <a:buSzPts val="3360"/>
              <a:buFont typeface="Noto Sans Symbols"/>
              <a:buNone/>
            </a:pPr>
            <a:r>
              <a:t/>
            </a:r>
            <a:endParaRPr baseline="-25000" sz="2200">
              <a:solidFill>
                <a:schemeClr val="dk1"/>
              </a:solidFill>
              <a:latin typeface="Lexend"/>
              <a:ea typeface="Lexend"/>
              <a:cs typeface="Lexend"/>
              <a:sym typeface="Lexend"/>
            </a:endParaRPr>
          </a:p>
          <a:p>
            <a:pPr indent="0" lvl="0" marL="0" rtl="0" algn="l">
              <a:spcBef>
                <a:spcPts val="1120"/>
              </a:spcBef>
              <a:spcAft>
                <a:spcPts val="0"/>
              </a:spcAft>
              <a:buNone/>
            </a:pPr>
            <a:r>
              <a:rPr lang="en" sz="2200">
                <a:solidFill>
                  <a:srgbClr val="FF0000"/>
                </a:solidFill>
                <a:latin typeface="Lexend"/>
                <a:ea typeface="Lexend"/>
                <a:cs typeface="Lexend"/>
                <a:sym typeface="Lexend"/>
              </a:rPr>
              <a:t>General Formula= -(2</a:t>
            </a:r>
            <a:r>
              <a:rPr baseline="30000" lang="en" sz="2200">
                <a:solidFill>
                  <a:srgbClr val="FF0000"/>
                </a:solidFill>
                <a:latin typeface="Lexend"/>
                <a:ea typeface="Lexend"/>
                <a:cs typeface="Lexend"/>
                <a:sym typeface="Lexend"/>
              </a:rPr>
              <a:t>n-1</a:t>
            </a:r>
            <a:r>
              <a:rPr lang="en" sz="2200">
                <a:solidFill>
                  <a:srgbClr val="FF0000"/>
                </a:solidFill>
                <a:latin typeface="Lexend"/>
                <a:ea typeface="Lexend"/>
                <a:cs typeface="Lexend"/>
                <a:sym typeface="Lexend"/>
              </a:rPr>
              <a:t>)  to  + (2</a:t>
            </a:r>
            <a:r>
              <a:rPr baseline="30000" lang="en" sz="2200">
                <a:solidFill>
                  <a:srgbClr val="FF0000"/>
                </a:solidFill>
                <a:latin typeface="Lexend"/>
                <a:ea typeface="Lexend"/>
                <a:cs typeface="Lexend"/>
                <a:sym typeface="Lexend"/>
              </a:rPr>
              <a:t>n-1 </a:t>
            </a:r>
            <a:r>
              <a:rPr lang="en" sz="2200">
                <a:solidFill>
                  <a:srgbClr val="FF0000"/>
                </a:solidFill>
                <a:latin typeface="Lexend"/>
                <a:ea typeface="Lexend"/>
                <a:cs typeface="Lexend"/>
                <a:sym typeface="Lexend"/>
              </a:rPr>
              <a:t>-1)</a:t>
            </a:r>
            <a:endParaRPr sz="2200">
              <a:solidFill>
                <a:srgbClr val="FF0000"/>
              </a:solidFill>
              <a:latin typeface="Lexend"/>
              <a:ea typeface="Lexend"/>
              <a:cs typeface="Lexend"/>
              <a:sym typeface="Lexend"/>
            </a:endParaRPr>
          </a:p>
          <a:p>
            <a:pPr indent="0" lvl="0" marL="0" rtl="0" algn="l">
              <a:spcBef>
                <a:spcPts val="1120"/>
              </a:spcBef>
              <a:spcAft>
                <a:spcPts val="0"/>
              </a:spcAft>
              <a:buNone/>
            </a:pPr>
            <a:r>
              <a:rPr lang="en" sz="2200">
                <a:solidFill>
                  <a:schemeClr val="dk1"/>
                </a:solidFill>
                <a:latin typeface="Lexend"/>
                <a:ea typeface="Lexend"/>
                <a:cs typeface="Lexend"/>
                <a:sym typeface="Lexend"/>
              </a:rPr>
              <a:t>The most significant bit still represents the sign:</a:t>
            </a:r>
            <a:endParaRPr sz="2200">
              <a:solidFill>
                <a:schemeClr val="dk1"/>
              </a:solidFill>
              <a:latin typeface="Lexend"/>
              <a:ea typeface="Lexend"/>
              <a:cs typeface="Lexend"/>
              <a:sym typeface="Lexend"/>
            </a:endParaRPr>
          </a:p>
          <a:p>
            <a:pPr indent="-342900" lvl="0" marL="342900" rtl="0" algn="l">
              <a:spcBef>
                <a:spcPts val="560"/>
              </a:spcBef>
              <a:spcAft>
                <a:spcPts val="0"/>
              </a:spcAft>
              <a:buClr>
                <a:schemeClr val="dk1"/>
              </a:buClr>
              <a:buSzPts val="2800"/>
              <a:buFont typeface="Arial"/>
              <a:buNone/>
            </a:pPr>
            <a:r>
              <a:rPr lang="en" sz="2200">
                <a:solidFill>
                  <a:schemeClr val="dk1"/>
                </a:solidFill>
                <a:latin typeface="Lexend"/>
                <a:ea typeface="Lexend"/>
                <a:cs typeface="Lexend"/>
                <a:sym typeface="Lexend"/>
              </a:rPr>
              <a:t>		            0 = +ve; 1 = -ve.</a:t>
            </a:r>
            <a:endParaRPr sz="2200">
              <a:solidFill>
                <a:schemeClr val="dk1"/>
              </a:solidFill>
              <a:latin typeface="Lexend"/>
              <a:ea typeface="Lexend"/>
              <a:cs typeface="Lexend"/>
              <a:sym typeface="Lexend"/>
            </a:endParaRPr>
          </a:p>
          <a:p>
            <a:pPr indent="-107950" lvl="0" marL="342900" rtl="0" algn="l">
              <a:spcBef>
                <a:spcPts val="740"/>
              </a:spcBef>
              <a:spcAft>
                <a:spcPts val="0"/>
              </a:spcAft>
              <a:buClr>
                <a:schemeClr val="dk1"/>
              </a:buClr>
              <a:buSzPts val="3700"/>
              <a:buFont typeface="Arial"/>
              <a:buNone/>
            </a:pPr>
            <a:r>
              <a:t/>
            </a:r>
            <a:endParaRPr sz="2200">
              <a:solidFill>
                <a:schemeClr val="dk1"/>
              </a:solidFill>
              <a:latin typeface="Lexend"/>
              <a:ea typeface="Lexend"/>
              <a:cs typeface="Lexend"/>
              <a:sym typeface="Lexend"/>
            </a:endParaRPr>
          </a:p>
          <a:p>
            <a:pPr indent="-342900" lvl="0" marL="342900" rtl="0" algn="l">
              <a:lnSpc>
                <a:spcPct val="80000"/>
              </a:lnSpc>
              <a:spcBef>
                <a:spcPts val="560"/>
              </a:spcBef>
              <a:spcAft>
                <a:spcPts val="0"/>
              </a:spcAft>
              <a:buNone/>
            </a:pPr>
            <a:r>
              <a:t/>
            </a:r>
            <a:endParaRPr sz="2200">
              <a:solidFill>
                <a:schemeClr val="dk1"/>
              </a:solidFill>
              <a:latin typeface="Lexend"/>
              <a:ea typeface="Lexend"/>
              <a:cs typeface="Lexend"/>
              <a:sym typeface="Lexend"/>
            </a:endParaRPr>
          </a:p>
        </p:txBody>
      </p:sp>
      <p:pic>
        <p:nvPicPr>
          <p:cNvPr id="331" name="Google Shape;331;p2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32" name="Google Shape;332;p2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333" name="Google Shape;333;p29"/>
          <p:cNvGrpSpPr/>
          <p:nvPr/>
        </p:nvGrpSpPr>
        <p:grpSpPr>
          <a:xfrm>
            <a:off x="50480" y="122879"/>
            <a:ext cx="277873" cy="68400"/>
            <a:chOff x="411700" y="2416840"/>
            <a:chExt cx="277873" cy="68400"/>
          </a:xfrm>
        </p:grpSpPr>
        <p:sp>
          <p:nvSpPr>
            <p:cNvPr id="334" name="Google Shape;334;p2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5" name="Google Shape;335;p2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6" name="Google Shape;336;p2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37" name="Google Shape;337;p2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2</a:t>
            </a:r>
            <a:r>
              <a:rPr lang="en" sz="3600">
                <a:latin typeface="Lexend"/>
                <a:ea typeface="Lexend"/>
                <a:cs typeface="Lexend"/>
                <a:sym typeface="Lexend"/>
              </a:rPr>
              <a:t>s Complement [Cont.]</a:t>
            </a:r>
            <a:endParaRPr sz="3600">
              <a:latin typeface="Lexend"/>
              <a:ea typeface="Lexend"/>
              <a:cs typeface="Lexend"/>
              <a:sym typeface="Lexend"/>
            </a:endParaRPr>
          </a:p>
        </p:txBody>
      </p:sp>
      <p:sp>
        <p:nvSpPr>
          <p:cNvPr id="338" name="Google Shape;338;p2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39" name="Google Shape;339;p2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340" name="Google Shape;340;p29"/>
          <p:cNvSpPr/>
          <p:nvPr/>
        </p:nvSpPr>
        <p:spPr>
          <a:xfrm>
            <a:off x="328350" y="4122550"/>
            <a:ext cx="8494200" cy="630300"/>
          </a:xfrm>
          <a:prstGeom prst="roundRect">
            <a:avLst>
              <a:gd fmla="val 50000" name="adj"/>
            </a:avLst>
          </a:prstGeom>
          <a:solidFill>
            <a:srgbClr val="DCDF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0000"/>
                </a:solidFill>
                <a:latin typeface="Lexend"/>
                <a:ea typeface="Lexend"/>
                <a:cs typeface="Lexend"/>
                <a:sym typeface="Lexend"/>
              </a:rPr>
              <a:t>Note: Range for n bit no. is -2</a:t>
            </a:r>
            <a:r>
              <a:rPr b="1" baseline="30000" lang="en" sz="2200">
                <a:solidFill>
                  <a:srgbClr val="FF0000"/>
                </a:solidFill>
                <a:latin typeface="Lexend"/>
                <a:ea typeface="Lexend"/>
                <a:cs typeface="Lexend"/>
                <a:sym typeface="Lexend"/>
              </a:rPr>
              <a:t>(n-1)</a:t>
            </a:r>
            <a:r>
              <a:rPr b="1" lang="en" sz="2200">
                <a:solidFill>
                  <a:srgbClr val="FF0000"/>
                </a:solidFill>
                <a:latin typeface="Lexend"/>
                <a:ea typeface="Lexend"/>
                <a:cs typeface="Lexend"/>
                <a:sym typeface="Lexend"/>
              </a:rPr>
              <a:t> to +2</a:t>
            </a:r>
            <a:r>
              <a:rPr b="1" baseline="30000" lang="en" sz="2200">
                <a:solidFill>
                  <a:srgbClr val="FF0000"/>
                </a:solidFill>
                <a:latin typeface="Lexend"/>
                <a:ea typeface="Lexend"/>
                <a:cs typeface="Lexend"/>
                <a:sym typeface="Lexend"/>
              </a:rPr>
              <a:t>(n-1)</a:t>
            </a:r>
            <a:r>
              <a:rPr b="1" lang="en" sz="2200">
                <a:solidFill>
                  <a:srgbClr val="FF0000"/>
                </a:solidFill>
                <a:latin typeface="Lexend"/>
                <a:ea typeface="Lexend"/>
                <a:cs typeface="Lexend"/>
                <a:sym typeface="Lexend"/>
              </a:rPr>
              <a:t>-1 </a:t>
            </a:r>
            <a:endParaRPr b="1" sz="2200">
              <a:solidFill>
                <a:srgbClr val="FF0000"/>
              </a:solidFill>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0"/>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6" name="Google Shape;346;p30"/>
          <p:cNvPicPr preferRelativeResize="0"/>
          <p:nvPr/>
        </p:nvPicPr>
        <p:blipFill rotWithShape="1">
          <a:blip r:embed="rId3">
            <a:alphaModFix/>
          </a:blip>
          <a:srcRect b="10185" l="0" r="0" t="0"/>
          <a:stretch/>
        </p:blipFill>
        <p:spPr>
          <a:xfrm>
            <a:off x="0" y="886975"/>
            <a:ext cx="1817651"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47" name="Google Shape;347;p30"/>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348" name="Google Shape;348;p3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49" name="Google Shape;349;p30"/>
          <p:cNvSpPr txBox="1"/>
          <p:nvPr/>
        </p:nvSpPr>
        <p:spPr>
          <a:xfrm>
            <a:off x="351900" y="791050"/>
            <a:ext cx="8494200" cy="280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Example: (assuming 8-bit binary numbers)</a:t>
            </a:r>
            <a:endParaRPr sz="2400">
              <a:solidFill>
                <a:schemeClr val="dk1"/>
              </a:solidFill>
              <a:latin typeface="Lexend"/>
              <a:ea typeface="Lexend"/>
              <a:cs typeface="Lexend"/>
              <a:sym typeface="Lexend"/>
            </a:endParaRPr>
          </a:p>
          <a:p>
            <a:pPr indent="-342900" lvl="0" marL="34290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(14)</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2s</a:t>
            </a:r>
            <a:endParaRPr sz="2400">
              <a:solidFill>
                <a:schemeClr val="dk1"/>
              </a:solidFill>
              <a:latin typeface="Lexend"/>
              <a:ea typeface="Lexend"/>
              <a:cs typeface="Lexend"/>
              <a:sym typeface="Lexend"/>
            </a:endParaRPr>
          </a:p>
          <a:p>
            <a:pPr indent="-342900" lvl="0" marL="34290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a:t>
            </a:r>
            <a:r>
              <a:rPr lang="en" sz="2400">
                <a:solidFill>
                  <a:schemeClr val="dk1"/>
                </a:solidFill>
                <a:latin typeface="Lexend"/>
                <a:ea typeface="Lexend"/>
                <a:cs typeface="Lexend"/>
                <a:sym typeface="Lexend"/>
              </a:rPr>
              <a:t>-(14)</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(11110010)</a:t>
            </a:r>
            <a:r>
              <a:rPr baseline="-25000" lang="en" sz="2400">
                <a:solidFill>
                  <a:schemeClr val="dk1"/>
                </a:solidFill>
                <a:latin typeface="Lexend"/>
                <a:ea typeface="Lexend"/>
                <a:cs typeface="Lexend"/>
                <a:sym typeface="Lexend"/>
              </a:rPr>
              <a:t>2s</a:t>
            </a:r>
            <a:r>
              <a:rPr lang="en" sz="2400">
                <a:solidFill>
                  <a:schemeClr val="dk1"/>
                </a:solidFill>
                <a:latin typeface="Lexend"/>
                <a:ea typeface="Lexend"/>
                <a:cs typeface="Lexend"/>
                <a:sym typeface="Lexend"/>
              </a:rPr>
              <a:t> </a:t>
            </a:r>
            <a:endParaRPr sz="2400">
              <a:solidFill>
                <a:schemeClr val="dk1"/>
              </a:solidFill>
              <a:latin typeface="Lexend"/>
              <a:ea typeface="Lexend"/>
              <a:cs typeface="Lexend"/>
              <a:sym typeface="Lexend"/>
            </a:endParaRPr>
          </a:p>
          <a:p>
            <a:pPr indent="-342900" lvl="0" marL="34290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-(80)</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 ? )</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 ? )</a:t>
            </a:r>
            <a:r>
              <a:rPr baseline="-25000" lang="en" sz="2400">
                <a:solidFill>
                  <a:schemeClr val="dk1"/>
                </a:solidFill>
                <a:latin typeface="Lexend"/>
                <a:ea typeface="Lexend"/>
                <a:cs typeface="Lexend"/>
                <a:sym typeface="Lexend"/>
              </a:rPr>
              <a:t>2s</a:t>
            </a:r>
            <a:r>
              <a:rPr lang="en" sz="2400">
                <a:solidFill>
                  <a:schemeClr val="dk1"/>
                </a:solidFill>
                <a:latin typeface="Lexend"/>
                <a:ea typeface="Lexend"/>
                <a:cs typeface="Lexend"/>
                <a:sym typeface="Lexend"/>
              </a:rPr>
              <a:t> </a:t>
            </a:r>
            <a:endParaRPr sz="2400">
              <a:solidFill>
                <a:schemeClr val="dk1"/>
              </a:solidFill>
              <a:latin typeface="Lexend"/>
              <a:ea typeface="Lexend"/>
              <a:cs typeface="Lexend"/>
              <a:sym typeface="Lexend"/>
            </a:endParaRPr>
          </a:p>
          <a:p>
            <a:pPr indent="-342900" lvl="0" marL="342900" rtl="0" algn="l">
              <a:spcBef>
                <a:spcPts val="560"/>
              </a:spcBef>
              <a:spcAft>
                <a:spcPts val="0"/>
              </a:spcAft>
              <a:buClr>
                <a:schemeClr val="dk1"/>
              </a:buClr>
              <a:buSzPts val="2800"/>
              <a:buFont typeface="Arial"/>
              <a:buNone/>
            </a:pPr>
            <a:r>
              <a:t/>
            </a:r>
            <a:endParaRPr sz="2400">
              <a:solidFill>
                <a:schemeClr val="dk1"/>
              </a:solidFill>
              <a:latin typeface="Lexend"/>
              <a:ea typeface="Lexend"/>
              <a:cs typeface="Lexend"/>
              <a:sym typeface="Lexend"/>
            </a:endParaRPr>
          </a:p>
          <a:p>
            <a:pPr indent="0" lvl="0" marL="0" rtl="0" algn="l">
              <a:spcBef>
                <a:spcPts val="640"/>
              </a:spcBef>
              <a:spcAft>
                <a:spcPts val="0"/>
              </a:spcAft>
              <a:buNone/>
            </a:pPr>
            <a:r>
              <a:t/>
            </a:r>
            <a:endParaRPr sz="2400">
              <a:solidFill>
                <a:schemeClr val="dk1"/>
              </a:solidFill>
              <a:latin typeface="Lexend"/>
              <a:ea typeface="Lexend"/>
              <a:cs typeface="Lexend"/>
              <a:sym typeface="Lexend"/>
            </a:endParaRPr>
          </a:p>
        </p:txBody>
      </p:sp>
      <p:grpSp>
        <p:nvGrpSpPr>
          <p:cNvPr id="350" name="Google Shape;350;p30"/>
          <p:cNvGrpSpPr/>
          <p:nvPr/>
        </p:nvGrpSpPr>
        <p:grpSpPr>
          <a:xfrm>
            <a:off x="50480" y="122879"/>
            <a:ext cx="277873" cy="68400"/>
            <a:chOff x="411700" y="2416840"/>
            <a:chExt cx="277873" cy="68400"/>
          </a:xfrm>
        </p:grpSpPr>
        <p:sp>
          <p:nvSpPr>
            <p:cNvPr id="351" name="Google Shape;351;p3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2" name="Google Shape;352;p3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3" name="Google Shape;353;p3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54" name="Google Shape;354;p30"/>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2</a:t>
            </a:r>
            <a:r>
              <a:rPr lang="en" sz="3600">
                <a:latin typeface="Lexend"/>
                <a:ea typeface="Lexend"/>
                <a:cs typeface="Lexend"/>
                <a:sym typeface="Lexend"/>
              </a:rPr>
              <a:t>s Complement</a:t>
            </a:r>
            <a:endParaRPr sz="3600">
              <a:latin typeface="Lexend"/>
              <a:ea typeface="Lexend"/>
              <a:cs typeface="Lexend"/>
              <a:sym typeface="Lexend"/>
            </a:endParaRPr>
          </a:p>
        </p:txBody>
      </p:sp>
      <p:sp>
        <p:nvSpPr>
          <p:cNvPr id="355" name="Google Shape;355;p3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56" name="Google Shape;356;p3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1"/>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62" name="Google Shape;362;p31"/>
          <p:cNvPicPr preferRelativeResize="0"/>
          <p:nvPr/>
        </p:nvPicPr>
        <p:blipFill rotWithShape="1">
          <a:blip r:embed="rId3">
            <a:alphaModFix/>
          </a:blip>
          <a:srcRect b="10185" l="0" r="0" t="0"/>
          <a:stretch/>
        </p:blipFill>
        <p:spPr>
          <a:xfrm>
            <a:off x="0" y="886975"/>
            <a:ext cx="1817651"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63" name="Google Shape;363;p31"/>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364" name="Google Shape;364;p3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65" name="Google Shape;365;p31"/>
          <p:cNvSpPr txBox="1"/>
          <p:nvPr/>
        </p:nvSpPr>
        <p:spPr>
          <a:xfrm>
            <a:off x="351900" y="791050"/>
            <a:ext cx="8494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Example: 4-bit signed number (</a:t>
            </a:r>
            <a:r>
              <a:rPr i="1" lang="en" sz="2400">
                <a:solidFill>
                  <a:srgbClr val="0000FF"/>
                </a:solidFill>
                <a:latin typeface="Lexend"/>
                <a:ea typeface="Lexend"/>
                <a:cs typeface="Lexend"/>
                <a:sym typeface="Lexend"/>
              </a:rPr>
              <a:t>Positive Values</a:t>
            </a:r>
            <a:r>
              <a:rPr lang="en" sz="2400">
                <a:solidFill>
                  <a:schemeClr val="dk1"/>
                </a:solidFill>
                <a:latin typeface="Lexend"/>
                <a:ea typeface="Lexend"/>
                <a:cs typeface="Lexend"/>
                <a:sym typeface="Lexend"/>
              </a:rPr>
              <a:t>)</a:t>
            </a:r>
            <a:endParaRPr sz="2400">
              <a:solidFill>
                <a:schemeClr val="dk1"/>
              </a:solidFill>
              <a:latin typeface="Lexend"/>
              <a:ea typeface="Lexend"/>
              <a:cs typeface="Lexend"/>
              <a:sym typeface="Lexend"/>
            </a:endParaRPr>
          </a:p>
        </p:txBody>
      </p:sp>
      <p:grpSp>
        <p:nvGrpSpPr>
          <p:cNvPr id="366" name="Google Shape;366;p31"/>
          <p:cNvGrpSpPr/>
          <p:nvPr/>
        </p:nvGrpSpPr>
        <p:grpSpPr>
          <a:xfrm>
            <a:off x="50480" y="122879"/>
            <a:ext cx="277873" cy="68400"/>
            <a:chOff x="411700" y="2416840"/>
            <a:chExt cx="277873" cy="68400"/>
          </a:xfrm>
        </p:grpSpPr>
        <p:sp>
          <p:nvSpPr>
            <p:cNvPr id="367" name="Google Shape;367;p3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8" name="Google Shape;368;p3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9" name="Google Shape;369;p3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70" name="Google Shape;370;p3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Comparisons</a:t>
            </a:r>
            <a:r>
              <a:rPr lang="en" sz="3600">
                <a:latin typeface="Lexend"/>
                <a:ea typeface="Lexend"/>
                <a:cs typeface="Lexend"/>
                <a:sym typeface="Lexend"/>
              </a:rPr>
              <a:t> of three methods</a:t>
            </a:r>
            <a:endParaRPr sz="3600">
              <a:latin typeface="Lexend"/>
              <a:ea typeface="Lexend"/>
              <a:cs typeface="Lexend"/>
              <a:sym typeface="Lexend"/>
            </a:endParaRPr>
          </a:p>
        </p:txBody>
      </p:sp>
      <p:sp>
        <p:nvSpPr>
          <p:cNvPr id="371" name="Google Shape;371;p3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72" name="Google Shape;372;p3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373" name="Google Shape;373;p31"/>
          <p:cNvGraphicFramePr/>
          <p:nvPr/>
        </p:nvGraphicFramePr>
        <p:xfrm>
          <a:off x="2102850" y="1480038"/>
          <a:ext cx="3000000" cy="3000000"/>
        </p:xfrm>
        <a:graphic>
          <a:graphicData uri="http://schemas.openxmlformats.org/drawingml/2006/table">
            <a:tbl>
              <a:tblPr>
                <a:noFill/>
                <a:tableStyleId>{D623827D-E9A9-4C25-9243-6ADB782674F1}</a:tableStyleId>
              </a:tblPr>
              <a:tblGrid>
                <a:gridCol w="1059825"/>
                <a:gridCol w="1292825"/>
                <a:gridCol w="1292825"/>
                <a:gridCol w="1292825"/>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Values</a:t>
                      </a:r>
                      <a:endParaRPr b="1">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S</a:t>
                      </a:r>
                      <a:r>
                        <a:rPr b="1" lang="en" sz="1200">
                          <a:latin typeface="Roboto Mono"/>
                          <a:ea typeface="Roboto Mono"/>
                          <a:cs typeface="Roboto Mono"/>
                          <a:sym typeface="Roboto Mono"/>
                        </a:rPr>
                        <a:t>ign and Magnitude</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200">
                          <a:latin typeface="Roboto Mono"/>
                          <a:ea typeface="Roboto Mono"/>
                          <a:cs typeface="Roboto Mono"/>
                          <a:sym typeface="Roboto Mono"/>
                        </a:rPr>
                        <a:t>1’s Complement</a:t>
                      </a:r>
                      <a:endParaRPr b="1" sz="12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200">
                          <a:latin typeface="Roboto Mono"/>
                          <a:ea typeface="Roboto Mono"/>
                          <a:cs typeface="Roboto Mono"/>
                          <a:sym typeface="Roboto Mono"/>
                        </a:rPr>
                        <a:t>2’s Complement</a:t>
                      </a:r>
                      <a:endParaRPr b="1" sz="12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+7</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u="none">
                          <a:solidFill>
                            <a:srgbClr val="000000"/>
                          </a:solidFill>
                          <a:latin typeface="Roboto Mono Medium"/>
                          <a:ea typeface="Roboto Mono Medium"/>
                          <a:cs typeface="Roboto Mono Medium"/>
                          <a:sym typeface="Roboto Mono Medium"/>
                        </a:rPr>
                        <a:t>0</a:t>
                      </a:r>
                      <a:r>
                        <a:rPr lang="en">
                          <a:latin typeface="Roboto Mono Medium"/>
                          <a:ea typeface="Roboto Mono Medium"/>
                          <a:cs typeface="Roboto Mono Medium"/>
                          <a:sym typeface="Roboto Mono Medium"/>
                        </a:rPr>
                        <a:t>111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u="none">
                          <a:solidFill>
                            <a:srgbClr val="000000"/>
                          </a:solidFill>
                          <a:latin typeface="Roboto Mono Medium"/>
                          <a:ea typeface="Roboto Mono Medium"/>
                          <a:cs typeface="Roboto Mono Medium"/>
                          <a:sym typeface="Roboto Mono Medium"/>
                        </a:rPr>
                        <a:t>0</a:t>
                      </a:r>
                      <a:r>
                        <a:rPr lang="en">
                          <a:latin typeface="Roboto Mono Medium"/>
                          <a:ea typeface="Roboto Mono Medium"/>
                          <a:cs typeface="Roboto Mono Medium"/>
                          <a:sym typeface="Roboto Mono Medium"/>
                        </a:rPr>
                        <a:t>111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u="none">
                          <a:solidFill>
                            <a:srgbClr val="000000"/>
                          </a:solidFill>
                          <a:latin typeface="Roboto Mono Medium"/>
                          <a:ea typeface="Roboto Mono Medium"/>
                          <a:cs typeface="Roboto Mono Medium"/>
                          <a:sym typeface="Roboto Mono Medium"/>
                        </a:rPr>
                        <a:t>0</a:t>
                      </a:r>
                      <a:r>
                        <a:rPr lang="en">
                          <a:latin typeface="Roboto Mono Medium"/>
                          <a:ea typeface="Roboto Mono Medium"/>
                          <a:cs typeface="Roboto Mono Medium"/>
                          <a:sym typeface="Roboto Mono Medium"/>
                        </a:rPr>
                        <a:t>111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+6</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0110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0110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+5</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0101</a:t>
                      </a:r>
                      <a:endParaRPr sz="13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0101</a:t>
                      </a:r>
                      <a:endParaRPr sz="13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0101</a:t>
                      </a:r>
                      <a:endParaRPr sz="13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+4</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+3</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+2</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
        <p:nvSpPr>
          <p:cNvPr id="374" name="Google Shape;374;p31"/>
          <p:cNvSpPr/>
          <p:nvPr/>
        </p:nvSpPr>
        <p:spPr>
          <a:xfrm>
            <a:off x="328350" y="4415650"/>
            <a:ext cx="8494200" cy="337200"/>
          </a:xfrm>
          <a:prstGeom prst="roundRect">
            <a:avLst>
              <a:gd fmla="val 50000" name="adj"/>
            </a:avLst>
          </a:prstGeom>
          <a:solidFill>
            <a:srgbClr val="DCDF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0000"/>
                </a:solidFill>
                <a:latin typeface="Lexend"/>
                <a:ea typeface="Lexend"/>
                <a:cs typeface="Lexend"/>
                <a:sym typeface="Lexend"/>
              </a:rPr>
              <a:t>Note: </a:t>
            </a:r>
            <a:r>
              <a:rPr b="1" lang="en" sz="1800">
                <a:solidFill>
                  <a:srgbClr val="FF0000"/>
                </a:solidFill>
                <a:latin typeface="Lexend"/>
                <a:ea typeface="Lexend"/>
                <a:cs typeface="Lexend"/>
                <a:sym typeface="Lexend"/>
              </a:rPr>
              <a:t>Signed magnitude cannot be used for arithmetic calculations</a:t>
            </a:r>
            <a:endParaRPr b="1" sz="1800">
              <a:solidFill>
                <a:srgbClr val="FF0000"/>
              </a:solidFill>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2"/>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0" name="Google Shape;380;p32"/>
          <p:cNvSpPr/>
          <p:nvPr/>
        </p:nvSpPr>
        <p:spPr>
          <a:xfrm>
            <a:off x="328350" y="4568050"/>
            <a:ext cx="8494200" cy="337200"/>
          </a:xfrm>
          <a:prstGeom prst="roundRect">
            <a:avLst>
              <a:gd fmla="val 50000" name="adj"/>
            </a:avLst>
          </a:prstGeom>
          <a:solidFill>
            <a:srgbClr val="DCDF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0000"/>
                </a:solidFill>
                <a:latin typeface="Lexend"/>
                <a:ea typeface="Lexend"/>
                <a:cs typeface="Lexend"/>
                <a:sym typeface="Lexend"/>
              </a:rPr>
              <a:t>Note: Signed magnitude cannot be used for arithmetic calculations</a:t>
            </a:r>
            <a:endParaRPr b="1" sz="1800">
              <a:solidFill>
                <a:srgbClr val="FF0000"/>
              </a:solidFill>
              <a:latin typeface="Lexend"/>
              <a:ea typeface="Lexend"/>
              <a:cs typeface="Lexend"/>
              <a:sym typeface="Lexend"/>
            </a:endParaRPr>
          </a:p>
        </p:txBody>
      </p:sp>
      <p:pic>
        <p:nvPicPr>
          <p:cNvPr id="381" name="Google Shape;381;p32"/>
          <p:cNvPicPr preferRelativeResize="0"/>
          <p:nvPr/>
        </p:nvPicPr>
        <p:blipFill rotWithShape="1">
          <a:blip r:embed="rId3">
            <a:alphaModFix/>
          </a:blip>
          <a:srcRect b="10185" l="0" r="0" t="0"/>
          <a:stretch/>
        </p:blipFill>
        <p:spPr>
          <a:xfrm>
            <a:off x="0" y="886975"/>
            <a:ext cx="1817651"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82" name="Google Shape;382;p32"/>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383" name="Google Shape;383;p3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84" name="Google Shape;384;p32"/>
          <p:cNvSpPr txBox="1"/>
          <p:nvPr/>
        </p:nvSpPr>
        <p:spPr>
          <a:xfrm>
            <a:off x="351900" y="791050"/>
            <a:ext cx="8494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Example: 4-bit signed number (</a:t>
            </a:r>
            <a:r>
              <a:rPr i="1" lang="en" sz="2400">
                <a:solidFill>
                  <a:srgbClr val="0000FF"/>
                </a:solidFill>
                <a:latin typeface="Lexend"/>
                <a:ea typeface="Lexend"/>
                <a:cs typeface="Lexend"/>
                <a:sym typeface="Lexend"/>
              </a:rPr>
              <a:t>Negative</a:t>
            </a:r>
            <a:r>
              <a:rPr i="1" lang="en" sz="2400">
                <a:solidFill>
                  <a:srgbClr val="0000FF"/>
                </a:solidFill>
                <a:latin typeface="Lexend"/>
                <a:ea typeface="Lexend"/>
                <a:cs typeface="Lexend"/>
                <a:sym typeface="Lexend"/>
              </a:rPr>
              <a:t> Values</a:t>
            </a:r>
            <a:r>
              <a:rPr lang="en" sz="2400">
                <a:solidFill>
                  <a:schemeClr val="dk1"/>
                </a:solidFill>
                <a:latin typeface="Lexend"/>
                <a:ea typeface="Lexend"/>
                <a:cs typeface="Lexend"/>
                <a:sym typeface="Lexend"/>
              </a:rPr>
              <a:t>)</a:t>
            </a:r>
            <a:endParaRPr sz="2400">
              <a:solidFill>
                <a:schemeClr val="dk1"/>
              </a:solidFill>
              <a:latin typeface="Lexend"/>
              <a:ea typeface="Lexend"/>
              <a:cs typeface="Lexend"/>
              <a:sym typeface="Lexend"/>
            </a:endParaRPr>
          </a:p>
        </p:txBody>
      </p:sp>
      <p:grpSp>
        <p:nvGrpSpPr>
          <p:cNvPr id="385" name="Google Shape;385;p32"/>
          <p:cNvGrpSpPr/>
          <p:nvPr/>
        </p:nvGrpSpPr>
        <p:grpSpPr>
          <a:xfrm>
            <a:off x="50480" y="122879"/>
            <a:ext cx="277873" cy="68400"/>
            <a:chOff x="411700" y="2416840"/>
            <a:chExt cx="277873" cy="68400"/>
          </a:xfrm>
        </p:grpSpPr>
        <p:sp>
          <p:nvSpPr>
            <p:cNvPr id="386" name="Google Shape;386;p3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7" name="Google Shape;387;p3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8" name="Google Shape;388;p3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89" name="Google Shape;389;p3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Comparisons of three methods</a:t>
            </a:r>
            <a:endParaRPr sz="3600">
              <a:latin typeface="Lexend"/>
              <a:ea typeface="Lexend"/>
              <a:cs typeface="Lexend"/>
              <a:sym typeface="Lexend"/>
            </a:endParaRPr>
          </a:p>
        </p:txBody>
      </p:sp>
      <p:sp>
        <p:nvSpPr>
          <p:cNvPr id="390" name="Google Shape;390;p3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91" name="Google Shape;391;p3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392" name="Google Shape;392;p32"/>
          <p:cNvGraphicFramePr/>
          <p:nvPr/>
        </p:nvGraphicFramePr>
        <p:xfrm>
          <a:off x="2102850" y="1336167"/>
          <a:ext cx="3000000" cy="3000000"/>
        </p:xfrm>
        <a:graphic>
          <a:graphicData uri="http://schemas.openxmlformats.org/drawingml/2006/table">
            <a:tbl>
              <a:tblPr>
                <a:noFill/>
                <a:tableStyleId>{D623827D-E9A9-4C25-9243-6ADB782674F1}</a:tableStyleId>
              </a:tblPr>
              <a:tblGrid>
                <a:gridCol w="1059825"/>
                <a:gridCol w="1292825"/>
                <a:gridCol w="1292825"/>
                <a:gridCol w="1292825"/>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Values</a:t>
                      </a:r>
                      <a:endParaRPr b="1">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Sign and Magnitude</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200">
                          <a:latin typeface="Roboto Mono"/>
                          <a:ea typeface="Roboto Mono"/>
                          <a:cs typeface="Roboto Mono"/>
                          <a:sym typeface="Roboto Mono"/>
                        </a:rPr>
                        <a:t>1’s Complement</a:t>
                      </a:r>
                      <a:endParaRPr b="1" sz="12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200">
                          <a:latin typeface="Roboto Mono"/>
                          <a:ea typeface="Roboto Mono"/>
                          <a:cs typeface="Roboto Mono"/>
                          <a:sym typeface="Roboto Mono"/>
                        </a:rPr>
                        <a:t>2’s Complement</a:t>
                      </a:r>
                      <a:endParaRPr b="1" sz="12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1000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1111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0000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1001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1110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1111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-2</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1010</a:t>
                      </a:r>
                      <a:endParaRPr sz="13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1101</a:t>
                      </a:r>
                      <a:endParaRPr sz="13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1110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-3</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1100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1101</a:t>
                      </a:r>
                      <a:endParaRPr sz="13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-4</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1100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1100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-5</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1101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-6</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1110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1001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3832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-7</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1111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1000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1001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38325">
                <a:tc>
                  <a:txBody>
                    <a:bodyPr/>
                    <a:lstStyle/>
                    <a:p>
                      <a:pPr indent="0" lvl="0" marL="0" rtl="0" algn="ctr">
                        <a:spcBef>
                          <a:spcPts val="0"/>
                        </a:spcBef>
                        <a:spcAft>
                          <a:spcPts val="0"/>
                        </a:spcAft>
                        <a:buNone/>
                      </a:pPr>
                      <a:r>
                        <a:rPr lang="en">
                          <a:solidFill>
                            <a:schemeClr val="dk1"/>
                          </a:solidFill>
                          <a:latin typeface="Roboto Mono Medium"/>
                          <a:ea typeface="Roboto Mono Medium"/>
                          <a:cs typeface="Roboto Mono Medium"/>
                          <a:sym typeface="Roboto Mono Medium"/>
                        </a:rPr>
                        <a:t>-8</a:t>
                      </a:r>
                      <a:endParaRPr>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Roboto Mono Medium"/>
                          <a:ea typeface="Roboto Mono Medium"/>
                          <a:cs typeface="Roboto Mono Medium"/>
                          <a:sym typeface="Roboto Mono Medium"/>
                        </a:rPr>
                        <a:t>-</a:t>
                      </a:r>
                      <a:endParaRPr i="0" sz="13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Roboto Mono Medium"/>
                          <a:ea typeface="Roboto Mono Medium"/>
                          <a:cs typeface="Roboto Mono Medium"/>
                          <a:sym typeface="Roboto Mono Medium"/>
                        </a:rPr>
                        <a:t>-</a:t>
                      </a:r>
                      <a:endParaRPr i="0" sz="13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1000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3"/>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98" name="Google Shape;398;p33"/>
          <p:cNvPicPr preferRelativeResize="0"/>
          <p:nvPr/>
        </p:nvPicPr>
        <p:blipFill rotWithShape="1">
          <a:blip r:embed="rId3">
            <a:alphaModFix/>
          </a:blip>
          <a:srcRect b="10185" l="0" r="0" t="0"/>
          <a:stretch/>
        </p:blipFill>
        <p:spPr>
          <a:xfrm>
            <a:off x="0" y="3335710"/>
            <a:ext cx="681250"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99" name="Google Shape;399;p33"/>
          <p:cNvPicPr preferRelativeResize="0"/>
          <p:nvPr/>
        </p:nvPicPr>
        <p:blipFill rotWithShape="1">
          <a:blip r:embed="rId3">
            <a:alphaModFix/>
          </a:blip>
          <a:srcRect b="10185" l="0" r="0" t="0"/>
          <a:stretch/>
        </p:blipFill>
        <p:spPr>
          <a:xfrm>
            <a:off x="0" y="4258640"/>
            <a:ext cx="681250"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00" name="Google Shape;400;p33"/>
          <p:cNvPicPr preferRelativeResize="0"/>
          <p:nvPr/>
        </p:nvPicPr>
        <p:blipFill rotWithShape="1">
          <a:blip r:embed="rId3">
            <a:alphaModFix/>
          </a:blip>
          <a:srcRect b="10185" l="0" r="0" t="0"/>
          <a:stretch/>
        </p:blipFill>
        <p:spPr>
          <a:xfrm>
            <a:off x="0" y="2142099"/>
            <a:ext cx="681250"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01" name="Google Shape;401;p33"/>
          <p:cNvPicPr preferRelativeResize="0"/>
          <p:nvPr/>
        </p:nvPicPr>
        <p:blipFill>
          <a:blip r:embed="rId4">
            <a:alphaModFix/>
          </a:blip>
          <a:stretch>
            <a:fillRect/>
          </a:stretch>
        </p:blipFill>
        <p:spPr>
          <a:xfrm>
            <a:off x="8507451" y="76200"/>
            <a:ext cx="560349" cy="514126"/>
          </a:xfrm>
          <a:prstGeom prst="rect">
            <a:avLst/>
          </a:prstGeom>
          <a:noFill/>
          <a:ln>
            <a:noFill/>
          </a:ln>
        </p:spPr>
      </p:pic>
      <p:pic>
        <p:nvPicPr>
          <p:cNvPr id="402" name="Google Shape;402;p33"/>
          <p:cNvPicPr preferRelativeResize="0"/>
          <p:nvPr/>
        </p:nvPicPr>
        <p:blipFill rotWithShape="1">
          <a:blip r:embed="rId3">
            <a:alphaModFix/>
          </a:blip>
          <a:srcRect b="10185" l="0" r="0" t="0"/>
          <a:stretch/>
        </p:blipFill>
        <p:spPr>
          <a:xfrm>
            <a:off x="0" y="804050"/>
            <a:ext cx="681250"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sp>
        <p:nvSpPr>
          <p:cNvPr id="403" name="Google Shape;403;p3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04" name="Google Shape;404;p33"/>
          <p:cNvSpPr txBox="1"/>
          <p:nvPr/>
        </p:nvSpPr>
        <p:spPr>
          <a:xfrm>
            <a:off x="351900" y="791050"/>
            <a:ext cx="8494200" cy="4236900"/>
          </a:xfrm>
          <a:prstGeom prst="rect">
            <a:avLst/>
          </a:prstGeom>
          <a:noFill/>
          <a:ln>
            <a:noFill/>
          </a:ln>
        </p:spPr>
        <p:txBody>
          <a:bodyPr anchorCtr="0" anchor="t" bIns="91425" lIns="91425" spcFirstLastPara="1" rIns="91425" wrap="square" tIns="91425">
            <a:spAutoFit/>
          </a:bodyPr>
          <a:lstStyle/>
          <a:p>
            <a:pPr indent="-342900" lvl="0" marL="342900" rtl="0" algn="just">
              <a:lnSpc>
                <a:spcPct val="90000"/>
              </a:lnSpc>
              <a:spcBef>
                <a:spcPts val="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1. For 2’s complement binary numbers, the range of values for 5-bit numbers is</a:t>
            </a:r>
            <a:endParaRPr sz="1800">
              <a:solidFill>
                <a:schemeClr val="dk1"/>
              </a:solidFill>
              <a:latin typeface="Lexend"/>
              <a:ea typeface="Lexend"/>
              <a:cs typeface="Lexend"/>
              <a:sym typeface="Lexend"/>
            </a:endParaRPr>
          </a:p>
          <a:p>
            <a:pPr indent="-342900" lvl="0" marL="342900" rtl="0" algn="l">
              <a:lnSpc>
                <a:spcPct val="90000"/>
              </a:lnSpc>
              <a:spcBef>
                <a:spcPts val="90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	a. 0 to 31              b. -8 to +7            c. -8 to +8   </a:t>
            </a:r>
            <a:endParaRPr sz="1800">
              <a:solidFill>
                <a:schemeClr val="dk1"/>
              </a:solidFill>
              <a:latin typeface="Lexend"/>
              <a:ea typeface="Lexend"/>
              <a:cs typeface="Lexend"/>
              <a:sym typeface="Lexend"/>
            </a:endParaRPr>
          </a:p>
          <a:p>
            <a:pPr indent="-342900" lvl="0" marL="342900" rtl="0" algn="l">
              <a:lnSpc>
                <a:spcPct val="90000"/>
              </a:lnSpc>
              <a:spcBef>
                <a:spcPts val="90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	d. -15 to +15        e. -16 to +15</a:t>
            </a:r>
            <a:endParaRPr sz="1800">
              <a:solidFill>
                <a:schemeClr val="dk1"/>
              </a:solidFill>
              <a:latin typeface="Lexend"/>
              <a:ea typeface="Lexend"/>
              <a:cs typeface="Lexend"/>
              <a:sym typeface="Lexend"/>
            </a:endParaRPr>
          </a:p>
          <a:p>
            <a:pPr indent="-342900" lvl="0" marL="342900" rtl="0" algn="l">
              <a:lnSpc>
                <a:spcPct val="90000"/>
              </a:lnSpc>
              <a:spcBef>
                <a:spcPts val="90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2. In a 6-bit 2’s complement binary number system, what is the decimal value represented by (100100)</a:t>
            </a:r>
            <a:r>
              <a:rPr baseline="-25000" lang="en" sz="1800">
                <a:solidFill>
                  <a:schemeClr val="dk1"/>
                </a:solidFill>
                <a:latin typeface="Lexend"/>
                <a:ea typeface="Lexend"/>
                <a:cs typeface="Lexend"/>
                <a:sym typeface="Lexend"/>
              </a:rPr>
              <a:t>2s</a:t>
            </a:r>
            <a:r>
              <a:rPr lang="en"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p>
            <a:pPr indent="-342900" lvl="0" marL="342900" rtl="0" algn="l">
              <a:lnSpc>
                <a:spcPct val="90000"/>
              </a:lnSpc>
              <a:spcBef>
                <a:spcPts val="90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  	a. -4        b. 36        c. -36       d. -27      e. -28 </a:t>
            </a:r>
            <a:endParaRPr sz="1800">
              <a:solidFill>
                <a:schemeClr val="dk1"/>
              </a:solidFill>
              <a:latin typeface="Lexend Light"/>
              <a:ea typeface="Lexend Light"/>
              <a:cs typeface="Lexend Light"/>
              <a:sym typeface="Lexend Light"/>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l">
              <a:spcBef>
                <a:spcPts val="360"/>
              </a:spcBef>
              <a:spcAft>
                <a:spcPts val="0"/>
              </a:spcAft>
              <a:buClr>
                <a:schemeClr val="dk1"/>
              </a:buClr>
              <a:buSzPts val="1800"/>
              <a:buFont typeface="Arial"/>
              <a:buNone/>
            </a:pPr>
            <a:r>
              <a:rPr lang="en" sz="1800">
                <a:solidFill>
                  <a:schemeClr val="dk1"/>
                </a:solidFill>
                <a:latin typeface="Lexend"/>
                <a:ea typeface="Lexend"/>
                <a:cs typeface="Lexend"/>
                <a:sym typeface="Lexend"/>
              </a:rPr>
              <a:t>3. Following numbers are in 1’s complement system. Turn them to their no. negative representation</a:t>
            </a:r>
            <a:endParaRPr sz="1800">
              <a:solidFill>
                <a:schemeClr val="dk1"/>
              </a:solidFill>
              <a:latin typeface="Lexend"/>
              <a:ea typeface="Lexend"/>
              <a:cs typeface="Lexend"/>
              <a:sym typeface="Lexend"/>
            </a:endParaRPr>
          </a:p>
          <a:p>
            <a:pPr indent="0" lvl="0" marL="457200" rtl="0" algn="l">
              <a:spcBef>
                <a:spcPts val="360"/>
              </a:spcBef>
              <a:spcAft>
                <a:spcPts val="0"/>
              </a:spcAft>
              <a:buNone/>
            </a:pPr>
            <a:r>
              <a:rPr lang="en" sz="1800">
                <a:solidFill>
                  <a:schemeClr val="dk1"/>
                </a:solidFill>
                <a:latin typeface="Lexend"/>
                <a:ea typeface="Lexend"/>
                <a:cs typeface="Lexend"/>
                <a:sym typeface="Lexend"/>
              </a:rPr>
              <a:t>A. </a:t>
            </a:r>
            <a:r>
              <a:rPr lang="en" sz="1800">
                <a:solidFill>
                  <a:schemeClr val="dk1"/>
                </a:solidFill>
                <a:latin typeface="Lexend"/>
                <a:ea typeface="Lexend"/>
                <a:cs typeface="Lexend"/>
                <a:sym typeface="Lexend"/>
              </a:rPr>
              <a:t>1010101    </a:t>
            </a:r>
            <a:r>
              <a:rPr lang="en" sz="1800">
                <a:solidFill>
                  <a:schemeClr val="dk1"/>
                </a:solidFill>
                <a:latin typeface="Lexend"/>
                <a:ea typeface="Lexend"/>
                <a:cs typeface="Lexend"/>
                <a:sym typeface="Lexend"/>
              </a:rPr>
              <a:t>       </a:t>
            </a:r>
            <a:r>
              <a:rPr lang="en" sz="1800">
                <a:solidFill>
                  <a:schemeClr val="dk1"/>
                </a:solidFill>
                <a:latin typeface="Lexend"/>
                <a:ea typeface="Lexend"/>
                <a:cs typeface="Lexend"/>
                <a:sym typeface="Lexend"/>
              </a:rPr>
              <a:t>B. 0111000</a:t>
            </a:r>
            <a:r>
              <a:rPr lang="en" sz="1800">
                <a:solidFill>
                  <a:schemeClr val="dk1"/>
                </a:solidFill>
                <a:latin typeface="Lexend"/>
                <a:ea typeface="Lexend"/>
                <a:cs typeface="Lexend"/>
                <a:sym typeface="Lexend"/>
              </a:rPr>
              <a:t>           </a:t>
            </a:r>
            <a:r>
              <a:rPr lang="en" sz="1800">
                <a:solidFill>
                  <a:schemeClr val="dk1"/>
                </a:solidFill>
                <a:latin typeface="Lexend"/>
                <a:ea typeface="Lexend"/>
                <a:cs typeface="Lexend"/>
                <a:sym typeface="Lexend"/>
              </a:rPr>
              <a:t>C. 0000001</a:t>
            </a:r>
            <a:r>
              <a:rPr lang="en" sz="1800">
                <a:solidFill>
                  <a:schemeClr val="dk1"/>
                </a:solidFill>
                <a:latin typeface="Lexend"/>
                <a:ea typeface="Lexend"/>
                <a:cs typeface="Lexend"/>
                <a:sym typeface="Lexend"/>
              </a:rPr>
              <a:t>           </a:t>
            </a:r>
            <a:r>
              <a:rPr lang="en" sz="1800">
                <a:solidFill>
                  <a:schemeClr val="dk1"/>
                </a:solidFill>
                <a:latin typeface="Lexend"/>
                <a:ea typeface="Lexend"/>
                <a:cs typeface="Lexend"/>
                <a:sym typeface="Lexend"/>
              </a:rPr>
              <a:t>D. 00000</a:t>
            </a:r>
            <a:endParaRPr sz="1800">
              <a:solidFill>
                <a:schemeClr val="dk1"/>
              </a:solidFill>
              <a:latin typeface="Lexend"/>
              <a:ea typeface="Lexend"/>
              <a:cs typeface="Lexend"/>
              <a:sym typeface="Lexend"/>
            </a:endParaRPr>
          </a:p>
          <a:p>
            <a:pPr indent="0" lvl="0" marL="0" rtl="0" algn="l">
              <a:spcBef>
                <a:spcPts val="360"/>
              </a:spcBef>
              <a:spcAft>
                <a:spcPts val="0"/>
              </a:spcAft>
              <a:buClr>
                <a:schemeClr val="dk1"/>
              </a:buClr>
              <a:buSzPts val="1800"/>
              <a:buFont typeface="Arial"/>
              <a:buNone/>
            </a:pPr>
            <a:r>
              <a:rPr lang="en" sz="1800">
                <a:solidFill>
                  <a:schemeClr val="dk1"/>
                </a:solidFill>
                <a:latin typeface="Lexend"/>
                <a:ea typeface="Lexend"/>
                <a:cs typeface="Lexend"/>
                <a:sym typeface="Lexend"/>
              </a:rPr>
              <a:t>4. Now perform 2’s complement</a:t>
            </a:r>
            <a:endParaRPr sz="1800">
              <a:solidFill>
                <a:schemeClr val="dk1"/>
              </a:solidFill>
              <a:latin typeface="Lexend"/>
              <a:ea typeface="Lexend"/>
              <a:cs typeface="Lexend"/>
              <a:sym typeface="Lexend"/>
            </a:endParaRPr>
          </a:p>
          <a:p>
            <a:pPr indent="0" lvl="1" marL="0" rtl="0" algn="l">
              <a:lnSpc>
                <a:spcPct val="90000"/>
              </a:lnSpc>
              <a:spcBef>
                <a:spcPts val="560"/>
              </a:spcBef>
              <a:spcAft>
                <a:spcPts val="0"/>
              </a:spcAft>
              <a:buNone/>
            </a:pPr>
            <a:r>
              <a:t/>
            </a:r>
            <a:endParaRPr sz="1800">
              <a:solidFill>
                <a:schemeClr val="dk1"/>
              </a:solidFill>
              <a:latin typeface="Lexend Light"/>
              <a:ea typeface="Lexend Light"/>
              <a:cs typeface="Lexend Light"/>
              <a:sym typeface="Lexend Light"/>
            </a:endParaRPr>
          </a:p>
        </p:txBody>
      </p:sp>
      <p:grpSp>
        <p:nvGrpSpPr>
          <p:cNvPr id="405" name="Google Shape;405;p33"/>
          <p:cNvGrpSpPr/>
          <p:nvPr/>
        </p:nvGrpSpPr>
        <p:grpSpPr>
          <a:xfrm>
            <a:off x="50480" y="122879"/>
            <a:ext cx="277873" cy="68400"/>
            <a:chOff x="411700" y="2416840"/>
            <a:chExt cx="277873" cy="68400"/>
          </a:xfrm>
        </p:grpSpPr>
        <p:sp>
          <p:nvSpPr>
            <p:cNvPr id="406" name="Google Shape;406;p3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7" name="Google Shape;407;p3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8" name="Google Shape;408;p3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09" name="Google Shape;409;p3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Exercise</a:t>
            </a:r>
            <a:endParaRPr sz="3600">
              <a:latin typeface="Lexend"/>
              <a:ea typeface="Lexend"/>
              <a:cs typeface="Lexend"/>
              <a:sym typeface="Lexend"/>
            </a:endParaRPr>
          </a:p>
        </p:txBody>
      </p:sp>
      <p:sp>
        <p:nvSpPr>
          <p:cNvPr id="410" name="Google Shape;410;p3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11" name="Google Shape;411;p3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4"/>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7" name="Google Shape;417;p34"/>
          <p:cNvSpPr txBox="1"/>
          <p:nvPr/>
        </p:nvSpPr>
        <p:spPr>
          <a:xfrm>
            <a:off x="351900" y="791050"/>
            <a:ext cx="8494200" cy="1929300"/>
          </a:xfrm>
          <a:prstGeom prst="rect">
            <a:avLst/>
          </a:prstGeom>
          <a:noFill/>
          <a:ln>
            <a:noFill/>
          </a:ln>
        </p:spPr>
        <p:txBody>
          <a:bodyPr anchorCtr="0" anchor="t" bIns="91425" lIns="91425" spcFirstLastPara="1" rIns="91425" wrap="square" tIns="91425">
            <a:spAutoFit/>
          </a:bodyPr>
          <a:lstStyle/>
          <a:p>
            <a:pPr indent="-342900" lvl="0" marL="342900" rtl="0" algn="l">
              <a:spcBef>
                <a:spcPts val="500"/>
              </a:spcBef>
              <a:spcAft>
                <a:spcPts val="0"/>
              </a:spcAft>
              <a:buClr>
                <a:schemeClr val="dk1"/>
              </a:buClr>
              <a:buSzPts val="1100"/>
              <a:buFont typeface="Arial"/>
              <a:buNone/>
            </a:pPr>
            <a:r>
              <a:rPr lang="en" sz="2000">
                <a:solidFill>
                  <a:schemeClr val="dk1"/>
                </a:solidFill>
                <a:latin typeface="Lexend"/>
                <a:ea typeface="Lexend"/>
                <a:cs typeface="Lexend"/>
                <a:sym typeface="Lexend"/>
              </a:rPr>
              <a:t>Binary Arithmetic Operations for Unsigned numbers</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rgbClr val="0000FF"/>
              </a:solidFill>
              <a:latin typeface="Lexend"/>
              <a:ea typeface="Lexend"/>
              <a:cs typeface="Lexend"/>
              <a:sym typeface="Lexend"/>
            </a:endParaRPr>
          </a:p>
          <a:p>
            <a:pPr indent="0" lvl="0" marL="0" rtl="0" algn="l">
              <a:spcBef>
                <a:spcPts val="0"/>
              </a:spcBef>
              <a:spcAft>
                <a:spcPts val="0"/>
              </a:spcAft>
              <a:buNone/>
            </a:pPr>
            <a:r>
              <a:rPr lang="en" sz="2000">
                <a:solidFill>
                  <a:srgbClr val="0000FF"/>
                </a:solidFill>
                <a:latin typeface="Lexend"/>
                <a:ea typeface="Lexend"/>
                <a:cs typeface="Lexend"/>
                <a:sym typeface="Lexend"/>
              </a:rPr>
              <a:t>ADDITION</a:t>
            </a:r>
            <a:endParaRPr sz="2000">
              <a:solidFill>
                <a:schemeClr val="dk1"/>
              </a:solidFill>
              <a:latin typeface="Lexend"/>
              <a:ea typeface="Lexend"/>
              <a:cs typeface="Lexend"/>
              <a:sym typeface="Lexend"/>
            </a:endParaRPr>
          </a:p>
          <a:p>
            <a:pPr indent="-226059" lvl="0" marL="342900" rtl="0" algn="l">
              <a:spcBef>
                <a:spcPts val="1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Like decimal numbers, two numbers can be added by adding each pair of digits together with carry propagation.</a:t>
            </a:r>
            <a:endParaRPr sz="2000">
              <a:solidFill>
                <a:schemeClr val="dk1"/>
              </a:solidFill>
              <a:latin typeface="Lexend"/>
              <a:ea typeface="Lexend"/>
              <a:cs typeface="Lexend"/>
              <a:sym typeface="Lexend"/>
            </a:endParaRPr>
          </a:p>
        </p:txBody>
      </p:sp>
      <p:pic>
        <p:nvPicPr>
          <p:cNvPr id="418" name="Google Shape;418;p3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19" name="Google Shape;419;p3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420" name="Google Shape;420;p34"/>
          <p:cNvGrpSpPr/>
          <p:nvPr/>
        </p:nvGrpSpPr>
        <p:grpSpPr>
          <a:xfrm>
            <a:off x="50480" y="122879"/>
            <a:ext cx="277873" cy="68400"/>
            <a:chOff x="411700" y="2416840"/>
            <a:chExt cx="277873" cy="68400"/>
          </a:xfrm>
        </p:grpSpPr>
        <p:sp>
          <p:nvSpPr>
            <p:cNvPr id="421" name="Google Shape;421;p3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2" name="Google Shape;422;p3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3" name="Google Shape;423;p3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24" name="Google Shape;424;p34"/>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latin typeface="Lexend"/>
                <a:ea typeface="Lexend"/>
                <a:cs typeface="Lexend"/>
                <a:sym typeface="Lexend"/>
              </a:rPr>
              <a:t>UNSIGNED NO. </a:t>
            </a:r>
            <a:r>
              <a:rPr lang="en" sz="3000">
                <a:latin typeface="Lexend"/>
                <a:ea typeface="Lexend"/>
                <a:cs typeface="Lexend"/>
                <a:sym typeface="Lexend"/>
              </a:rPr>
              <a:t>ARITHMETIC</a:t>
            </a:r>
            <a:r>
              <a:rPr lang="en" sz="3000">
                <a:latin typeface="Lexend"/>
                <a:ea typeface="Lexend"/>
                <a:cs typeface="Lexend"/>
                <a:sym typeface="Lexend"/>
              </a:rPr>
              <a:t> OPERATION!</a:t>
            </a:r>
            <a:endParaRPr sz="3000">
              <a:latin typeface="Lexend"/>
              <a:ea typeface="Lexend"/>
              <a:cs typeface="Lexend"/>
              <a:sym typeface="Lexend"/>
            </a:endParaRPr>
          </a:p>
        </p:txBody>
      </p:sp>
      <p:sp>
        <p:nvSpPr>
          <p:cNvPr id="425" name="Google Shape;425;p3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26" name="Google Shape;426;p3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427" name="Google Shape;427;p34"/>
          <p:cNvPicPr preferRelativeResize="0"/>
          <p:nvPr/>
        </p:nvPicPr>
        <p:blipFill rotWithShape="1">
          <a:blip r:embed="rId4">
            <a:alphaModFix/>
          </a:blip>
          <a:srcRect b="0" l="0" r="0" t="0"/>
          <a:stretch/>
        </p:blipFill>
        <p:spPr>
          <a:xfrm>
            <a:off x="1600200" y="2895600"/>
            <a:ext cx="1812926" cy="1217611"/>
          </a:xfrm>
          <a:prstGeom prst="rect">
            <a:avLst/>
          </a:prstGeom>
          <a:noFill/>
          <a:ln>
            <a:noFill/>
          </a:ln>
        </p:spPr>
      </p:pic>
      <p:pic>
        <p:nvPicPr>
          <p:cNvPr id="428" name="Google Shape;428;p34"/>
          <p:cNvPicPr preferRelativeResize="0"/>
          <p:nvPr/>
        </p:nvPicPr>
        <p:blipFill rotWithShape="1">
          <a:blip r:embed="rId5">
            <a:alphaModFix/>
          </a:blip>
          <a:srcRect b="0" l="0" r="0" t="0"/>
          <a:stretch/>
        </p:blipFill>
        <p:spPr>
          <a:xfrm>
            <a:off x="4800600" y="2895600"/>
            <a:ext cx="2098675" cy="1219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5"/>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4" name="Google Shape;434;p35"/>
          <p:cNvSpPr txBox="1"/>
          <p:nvPr/>
        </p:nvSpPr>
        <p:spPr>
          <a:xfrm>
            <a:off x="351900" y="791050"/>
            <a:ext cx="8494200" cy="1929300"/>
          </a:xfrm>
          <a:prstGeom prst="rect">
            <a:avLst/>
          </a:prstGeom>
          <a:noFill/>
          <a:ln>
            <a:noFill/>
          </a:ln>
        </p:spPr>
        <p:txBody>
          <a:bodyPr anchorCtr="0" anchor="t" bIns="91425" lIns="91425" spcFirstLastPara="1" rIns="91425" wrap="square" tIns="91425">
            <a:spAutoFit/>
          </a:bodyPr>
          <a:lstStyle/>
          <a:p>
            <a:pPr indent="-342900" lvl="0" marL="342900" rtl="0" algn="l">
              <a:spcBef>
                <a:spcPts val="500"/>
              </a:spcBef>
              <a:spcAft>
                <a:spcPts val="0"/>
              </a:spcAft>
              <a:buNone/>
            </a:pPr>
            <a:r>
              <a:rPr lang="en" sz="2000">
                <a:solidFill>
                  <a:schemeClr val="dk1"/>
                </a:solidFill>
                <a:latin typeface="Lexend"/>
                <a:ea typeface="Lexend"/>
                <a:cs typeface="Lexend"/>
                <a:sym typeface="Lexend"/>
              </a:rPr>
              <a:t>Binary Arithmetic Operations for Unsigned numbers</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rgbClr val="0000FF"/>
              </a:solidFill>
              <a:latin typeface="Lexend"/>
              <a:ea typeface="Lexend"/>
              <a:cs typeface="Lexend"/>
              <a:sym typeface="Lexend"/>
            </a:endParaRPr>
          </a:p>
          <a:p>
            <a:pPr indent="0" lvl="0" marL="0" rtl="0" algn="l">
              <a:spcBef>
                <a:spcPts val="0"/>
              </a:spcBef>
              <a:spcAft>
                <a:spcPts val="0"/>
              </a:spcAft>
              <a:buNone/>
            </a:pPr>
            <a:r>
              <a:rPr lang="en" sz="2000">
                <a:solidFill>
                  <a:srgbClr val="0000FF"/>
                </a:solidFill>
                <a:latin typeface="Lexend"/>
                <a:ea typeface="Lexend"/>
                <a:cs typeface="Lexend"/>
                <a:sym typeface="Lexend"/>
              </a:rPr>
              <a:t>SUBTRACTION</a:t>
            </a:r>
            <a:endParaRPr sz="2000">
              <a:solidFill>
                <a:schemeClr val="dk1"/>
              </a:solidFill>
              <a:latin typeface="Lexend"/>
              <a:ea typeface="Lexend"/>
              <a:cs typeface="Lexend"/>
              <a:sym typeface="Lexend"/>
            </a:endParaRPr>
          </a:p>
          <a:p>
            <a:pPr indent="-226059" lvl="0" marL="342900" rtl="0" algn="l">
              <a:spcBef>
                <a:spcPts val="1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Two numbers can be subtracted by subtracting each pair of digits together with borrowing, where needed.</a:t>
            </a:r>
            <a:endParaRPr sz="2000">
              <a:solidFill>
                <a:schemeClr val="dk1"/>
              </a:solidFill>
              <a:latin typeface="Lexend"/>
              <a:ea typeface="Lexend"/>
              <a:cs typeface="Lexend"/>
              <a:sym typeface="Lexend"/>
            </a:endParaRPr>
          </a:p>
        </p:txBody>
      </p:sp>
      <p:pic>
        <p:nvPicPr>
          <p:cNvPr id="435" name="Google Shape;435;p3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36" name="Google Shape;436;p3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437" name="Google Shape;437;p35"/>
          <p:cNvGrpSpPr/>
          <p:nvPr/>
        </p:nvGrpSpPr>
        <p:grpSpPr>
          <a:xfrm>
            <a:off x="50480" y="122879"/>
            <a:ext cx="277873" cy="68400"/>
            <a:chOff x="411700" y="2416840"/>
            <a:chExt cx="277873" cy="68400"/>
          </a:xfrm>
        </p:grpSpPr>
        <p:sp>
          <p:nvSpPr>
            <p:cNvPr id="438" name="Google Shape;438;p3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 name="Google Shape;439;p3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0" name="Google Shape;440;p3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41" name="Google Shape;441;p35"/>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latin typeface="Lexend"/>
                <a:ea typeface="Lexend"/>
                <a:cs typeface="Lexend"/>
                <a:sym typeface="Lexend"/>
              </a:rPr>
              <a:t>UNSIGNED NO. ARITHMETIC OPERATION!</a:t>
            </a:r>
            <a:endParaRPr sz="3000">
              <a:latin typeface="Lexend"/>
              <a:ea typeface="Lexend"/>
              <a:cs typeface="Lexend"/>
              <a:sym typeface="Lexend"/>
            </a:endParaRPr>
          </a:p>
        </p:txBody>
      </p:sp>
      <p:sp>
        <p:nvSpPr>
          <p:cNvPr id="442" name="Google Shape;442;p3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43" name="Google Shape;443;p3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444" name="Google Shape;444;p35"/>
          <p:cNvPicPr preferRelativeResize="0"/>
          <p:nvPr/>
        </p:nvPicPr>
        <p:blipFill rotWithShape="1">
          <a:blip r:embed="rId4">
            <a:alphaModFix/>
          </a:blip>
          <a:srcRect b="0" l="0" r="0" t="0"/>
          <a:stretch/>
        </p:blipFill>
        <p:spPr>
          <a:xfrm>
            <a:off x="2629700" y="2999100"/>
            <a:ext cx="1565276" cy="1217612"/>
          </a:xfrm>
          <a:prstGeom prst="rect">
            <a:avLst/>
          </a:prstGeom>
          <a:noFill/>
          <a:ln>
            <a:noFill/>
          </a:ln>
        </p:spPr>
      </p:pic>
      <p:pic>
        <p:nvPicPr>
          <p:cNvPr id="445" name="Google Shape;445;p35"/>
          <p:cNvPicPr preferRelativeResize="0"/>
          <p:nvPr/>
        </p:nvPicPr>
        <p:blipFill rotWithShape="1">
          <a:blip r:embed="rId5">
            <a:alphaModFix/>
          </a:blip>
          <a:srcRect b="0" l="0" r="0" t="0"/>
          <a:stretch/>
        </p:blipFill>
        <p:spPr>
          <a:xfrm>
            <a:off x="4763300" y="2999100"/>
            <a:ext cx="1751011" cy="121761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36"/>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51" name="Google Shape;451;p3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52" name="Google Shape;452;p3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53" name="Google Shape;453;p36"/>
          <p:cNvSpPr txBox="1"/>
          <p:nvPr/>
        </p:nvSpPr>
        <p:spPr>
          <a:xfrm>
            <a:off x="351900" y="791050"/>
            <a:ext cx="8494200" cy="1867500"/>
          </a:xfrm>
          <a:prstGeom prst="rect">
            <a:avLst/>
          </a:prstGeom>
          <a:noFill/>
          <a:ln>
            <a:noFill/>
          </a:ln>
        </p:spPr>
        <p:txBody>
          <a:bodyPr anchorCtr="0" anchor="t" bIns="91425" lIns="91425" spcFirstLastPara="1" rIns="91425" wrap="square" tIns="91425">
            <a:spAutoFit/>
          </a:bodyPr>
          <a:lstStyle/>
          <a:p>
            <a:pPr indent="0" lvl="0" marL="0" rtl="0" algn="l">
              <a:spcBef>
                <a:spcPts val="560"/>
              </a:spcBef>
              <a:spcAft>
                <a:spcPts val="0"/>
              </a:spcAft>
              <a:buNone/>
            </a:pPr>
            <a:r>
              <a:t/>
            </a:r>
            <a:endParaRPr sz="2000">
              <a:solidFill>
                <a:schemeClr val="dk1"/>
              </a:solidFill>
              <a:latin typeface="Lexend"/>
              <a:ea typeface="Lexend"/>
              <a:cs typeface="Lexend"/>
              <a:sym typeface="Lexend"/>
            </a:endParaRPr>
          </a:p>
          <a:p>
            <a:pPr indent="0" lvl="0" marL="0" rtl="0" algn="l">
              <a:spcBef>
                <a:spcPts val="560"/>
              </a:spcBef>
              <a:spcAft>
                <a:spcPts val="0"/>
              </a:spcAft>
              <a:buClr>
                <a:schemeClr val="dk1"/>
              </a:buClr>
              <a:buSzPts val="1100"/>
              <a:buFont typeface="Arial"/>
              <a:buNone/>
            </a:pPr>
            <a:r>
              <a:rPr lang="en" sz="2000">
                <a:solidFill>
                  <a:schemeClr val="dk1"/>
                </a:solidFill>
                <a:latin typeface="Lexend"/>
                <a:ea typeface="Lexend"/>
                <a:cs typeface="Lexend"/>
                <a:sym typeface="Lexend"/>
              </a:rPr>
              <a:t>Arithmetic Overflow happens in signed arithmetic when the result is too big or too small to fit in the available bits, causing wrong answers and mistakes in the sign of the number.</a:t>
            </a:r>
            <a:endParaRPr sz="2000">
              <a:solidFill>
                <a:schemeClr val="dk1"/>
              </a:solidFill>
              <a:latin typeface="Lexend"/>
              <a:ea typeface="Lexend"/>
              <a:cs typeface="Lexend"/>
              <a:sym typeface="Lexend"/>
            </a:endParaRPr>
          </a:p>
          <a:p>
            <a:pPr indent="-285750" lvl="1" marL="742950" rtl="0" algn="l">
              <a:spcBef>
                <a:spcPts val="560"/>
              </a:spcBef>
              <a:spcAft>
                <a:spcPts val="0"/>
              </a:spcAft>
              <a:buNone/>
            </a:pPr>
            <a:r>
              <a:t/>
            </a:r>
            <a:endParaRPr sz="2000">
              <a:solidFill>
                <a:schemeClr val="dk1"/>
              </a:solidFill>
              <a:latin typeface="Lexend"/>
              <a:ea typeface="Lexend"/>
              <a:cs typeface="Lexend"/>
              <a:sym typeface="Lexend"/>
            </a:endParaRPr>
          </a:p>
        </p:txBody>
      </p:sp>
      <p:grpSp>
        <p:nvGrpSpPr>
          <p:cNvPr id="454" name="Google Shape;454;p36"/>
          <p:cNvGrpSpPr/>
          <p:nvPr/>
        </p:nvGrpSpPr>
        <p:grpSpPr>
          <a:xfrm>
            <a:off x="50480" y="122879"/>
            <a:ext cx="277873" cy="68400"/>
            <a:chOff x="411700" y="2416840"/>
            <a:chExt cx="277873" cy="68400"/>
          </a:xfrm>
        </p:grpSpPr>
        <p:sp>
          <p:nvSpPr>
            <p:cNvPr id="455" name="Google Shape;455;p3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6" name="Google Shape;456;p3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7" name="Google Shape;457;p3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58" name="Google Shape;458;p3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Overflow</a:t>
            </a:r>
            <a:endParaRPr sz="3600">
              <a:latin typeface="Lexend"/>
              <a:ea typeface="Lexend"/>
              <a:cs typeface="Lexend"/>
              <a:sym typeface="Lexend"/>
            </a:endParaRPr>
          </a:p>
        </p:txBody>
      </p:sp>
      <p:sp>
        <p:nvSpPr>
          <p:cNvPr id="459" name="Google Shape;459;p3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60" name="Google Shape;460;p3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37"/>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66" name="Google Shape;466;p37"/>
          <p:cNvPicPr preferRelativeResize="0"/>
          <p:nvPr/>
        </p:nvPicPr>
        <p:blipFill rotWithShape="1">
          <a:blip r:embed="rId3">
            <a:alphaModFix/>
          </a:blip>
          <a:srcRect b="10185" l="0" r="0" t="0"/>
          <a:stretch/>
        </p:blipFill>
        <p:spPr>
          <a:xfrm>
            <a:off x="0" y="847175"/>
            <a:ext cx="1391176"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67" name="Google Shape;467;p37"/>
          <p:cNvPicPr preferRelativeResize="0"/>
          <p:nvPr/>
        </p:nvPicPr>
        <p:blipFill rotWithShape="1">
          <a:blip r:embed="rId3">
            <a:alphaModFix/>
          </a:blip>
          <a:srcRect b="10185" l="0" r="0" t="0"/>
          <a:stretch/>
        </p:blipFill>
        <p:spPr>
          <a:xfrm>
            <a:off x="0" y="2534925"/>
            <a:ext cx="1391176"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68" name="Google Shape;468;p37"/>
          <p:cNvPicPr preferRelativeResize="0"/>
          <p:nvPr/>
        </p:nvPicPr>
        <p:blipFill rotWithShape="1">
          <a:blip r:embed="rId3">
            <a:alphaModFix/>
          </a:blip>
          <a:srcRect b="10185" l="0" r="0" t="0"/>
          <a:stretch/>
        </p:blipFill>
        <p:spPr>
          <a:xfrm>
            <a:off x="0" y="3199125"/>
            <a:ext cx="1391176"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69" name="Google Shape;469;p37"/>
          <p:cNvPicPr preferRelativeResize="0"/>
          <p:nvPr/>
        </p:nvPicPr>
        <p:blipFill rotWithShape="1">
          <a:blip r:embed="rId3">
            <a:alphaModFix/>
          </a:blip>
          <a:srcRect b="10185" l="0" r="0" t="0"/>
          <a:stretch/>
        </p:blipFill>
        <p:spPr>
          <a:xfrm>
            <a:off x="0" y="3863325"/>
            <a:ext cx="1391176"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70" name="Google Shape;470;p37"/>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471" name="Google Shape;471;p3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72" name="Google Shape;472;p37"/>
          <p:cNvSpPr txBox="1"/>
          <p:nvPr/>
        </p:nvSpPr>
        <p:spPr>
          <a:xfrm>
            <a:off x="351900" y="791050"/>
            <a:ext cx="8494200" cy="424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Rule-1: Add two same signed numbers</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if (result also has the same sign):</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No Overflow;</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else:</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Overflow; </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Rule-2: Sub two same signed Numbers:</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Never Overflow;</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Rule-3: Add two different signed Numbers:</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Never Overflow;</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Rule-4: Sub two different numbers:</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Case-1: +A - (-B) = +A + (+B) =&gt; Follow Rule-1</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 sz="2200">
                <a:solidFill>
                  <a:schemeClr val="dk1"/>
                </a:solidFill>
                <a:latin typeface="Lexend"/>
                <a:ea typeface="Lexend"/>
                <a:cs typeface="Lexend"/>
                <a:sym typeface="Lexend"/>
              </a:rPr>
              <a:t>             Case-2: -A - (+B) = -A  + (-B) =&gt; Follow Rule-1</a:t>
            </a:r>
            <a:endParaRPr sz="2200">
              <a:solidFill>
                <a:schemeClr val="dk1"/>
              </a:solidFill>
              <a:latin typeface="Lexend"/>
              <a:ea typeface="Lexend"/>
              <a:cs typeface="Lexend"/>
              <a:sym typeface="Lexend"/>
            </a:endParaRPr>
          </a:p>
        </p:txBody>
      </p:sp>
      <p:grpSp>
        <p:nvGrpSpPr>
          <p:cNvPr id="473" name="Google Shape;473;p37"/>
          <p:cNvGrpSpPr/>
          <p:nvPr/>
        </p:nvGrpSpPr>
        <p:grpSpPr>
          <a:xfrm>
            <a:off x="50480" y="122879"/>
            <a:ext cx="277873" cy="68400"/>
            <a:chOff x="411700" y="2416840"/>
            <a:chExt cx="277873" cy="68400"/>
          </a:xfrm>
        </p:grpSpPr>
        <p:sp>
          <p:nvSpPr>
            <p:cNvPr id="474" name="Google Shape;474;p3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 name="Google Shape;475;p3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6" name="Google Shape;476;p3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77" name="Google Shape;477;p3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Overflow Detection Rules</a:t>
            </a:r>
            <a:endParaRPr sz="3600">
              <a:latin typeface="Lexend"/>
              <a:ea typeface="Lexend"/>
              <a:cs typeface="Lexend"/>
              <a:sym typeface="Lexend"/>
            </a:endParaRPr>
          </a:p>
        </p:txBody>
      </p:sp>
      <p:sp>
        <p:nvSpPr>
          <p:cNvPr id="478" name="Google Shape;478;p3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79" name="Google Shape;479;p3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pic>
        <p:nvPicPr>
          <p:cNvPr id="484" name="Google Shape;484;p3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85" name="Google Shape;485;p3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86" name="Google Shape;486;p3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87" name="Google Shape;487;p3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488" name="Google Shape;488;p38"/>
          <p:cNvGrpSpPr/>
          <p:nvPr/>
        </p:nvGrpSpPr>
        <p:grpSpPr>
          <a:xfrm>
            <a:off x="56303" y="1249009"/>
            <a:ext cx="7861259" cy="1727813"/>
            <a:chOff x="5351018" y="4955476"/>
            <a:chExt cx="4003085" cy="885422"/>
          </a:xfrm>
        </p:grpSpPr>
        <p:sp>
          <p:nvSpPr>
            <p:cNvPr id="489" name="Google Shape;489;p38"/>
            <p:cNvSpPr/>
            <p:nvPr/>
          </p:nvSpPr>
          <p:spPr>
            <a:xfrm>
              <a:off x="5411982" y="5018979"/>
              <a:ext cx="3885217" cy="761341"/>
            </a:xfrm>
            <a:custGeom>
              <a:rect b="b" l="l" r="r" t="t"/>
              <a:pathLst>
                <a:path extrusionOk="0" h="1253236" w="2932239">
                  <a:moveTo>
                    <a:pt x="0" y="0"/>
                  </a:moveTo>
                  <a:lnTo>
                    <a:pt x="2932240" y="0"/>
                  </a:lnTo>
                  <a:lnTo>
                    <a:pt x="2932240" y="1253236"/>
                  </a:lnTo>
                  <a:lnTo>
                    <a:pt x="0" y="1253236"/>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490" name="Google Shape;490;p38"/>
            <p:cNvSpPr/>
            <p:nvPr/>
          </p:nvSpPr>
          <p:spPr>
            <a:xfrm>
              <a:off x="5351018" y="4955476"/>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491" name="Google Shape;491;p38"/>
            <p:cNvSpPr/>
            <p:nvPr/>
          </p:nvSpPr>
          <p:spPr>
            <a:xfrm>
              <a:off x="5351018" y="5713898"/>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492" name="Google Shape;492;p38"/>
            <p:cNvSpPr/>
            <p:nvPr/>
          </p:nvSpPr>
          <p:spPr>
            <a:xfrm>
              <a:off x="9232183" y="4955476"/>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493" name="Google Shape;493;p38"/>
            <p:cNvSpPr/>
            <p:nvPr/>
          </p:nvSpPr>
          <p:spPr>
            <a:xfrm>
              <a:off x="9232183" y="5713898"/>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grpSp>
      <p:sp>
        <p:nvSpPr>
          <p:cNvPr id="494" name="Google Shape;494;p38"/>
          <p:cNvSpPr/>
          <p:nvPr/>
        </p:nvSpPr>
        <p:spPr>
          <a:xfrm>
            <a:off x="5982866" y="2652611"/>
            <a:ext cx="263412" cy="324213"/>
          </a:xfrm>
          <a:custGeom>
            <a:rect b="b" l="l" r="r" t="t"/>
            <a:pathLst>
              <a:path extrusionOk="0" h="19170" w="15575">
                <a:moveTo>
                  <a:pt x="0" y="0"/>
                </a:moveTo>
                <a:lnTo>
                  <a:pt x="3354" y="19170"/>
                </a:lnTo>
                <a:lnTo>
                  <a:pt x="7668" y="11502"/>
                </a:lnTo>
                <a:lnTo>
                  <a:pt x="15575" y="8866"/>
                </a:lnTo>
                <a:close/>
              </a:path>
            </a:pathLst>
          </a:custGeom>
          <a:solidFill>
            <a:srgbClr val="F4F2F2"/>
          </a:solidFill>
          <a:ln cap="flat" cmpd="sng" w="9525">
            <a:solidFill>
              <a:srgbClr val="28C840"/>
            </a:solidFill>
            <a:prstDash val="solid"/>
            <a:round/>
            <a:headEnd len="med" w="med" type="none"/>
            <a:tailEnd len="med" w="med" type="none"/>
          </a:ln>
        </p:spPr>
      </p:sp>
      <p:sp>
        <p:nvSpPr>
          <p:cNvPr id="495" name="Google Shape;495;p38"/>
          <p:cNvSpPr txBox="1"/>
          <p:nvPr/>
        </p:nvSpPr>
        <p:spPr>
          <a:xfrm>
            <a:off x="208725" y="344175"/>
            <a:ext cx="8501100" cy="20052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t/>
            </a:r>
            <a:endParaRPr sz="4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t/>
            </a:r>
            <a:endParaRPr sz="4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ARITHMETIC OPERATIONS</a:t>
            </a:r>
            <a:endParaRPr sz="4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ON SIGNED NUMBER</a:t>
            </a:r>
            <a:endParaRPr sz="4200">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9"/>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01" name="Google Shape;501;p3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02" name="Google Shape;502;p3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03" name="Google Shape;503;p39"/>
          <p:cNvSpPr txBox="1"/>
          <p:nvPr/>
        </p:nvSpPr>
        <p:spPr>
          <a:xfrm>
            <a:off x="351900" y="943450"/>
            <a:ext cx="8494200" cy="3767100"/>
          </a:xfrm>
          <a:prstGeom prst="rect">
            <a:avLst/>
          </a:prstGeom>
          <a:noFill/>
          <a:ln>
            <a:noFill/>
          </a:ln>
        </p:spPr>
        <p:txBody>
          <a:bodyPr anchorCtr="0" anchor="t" bIns="91425" lIns="91425" spcFirstLastPara="1" rIns="91425" wrap="square" tIns="91425">
            <a:spAutoFit/>
          </a:bodyPr>
          <a:lstStyle/>
          <a:p>
            <a:pPr indent="-245109" lvl="0" marL="342900" rtl="0" algn="l">
              <a:lnSpc>
                <a:spcPct val="80000"/>
              </a:lnSpc>
              <a:spcBef>
                <a:spcPts val="0"/>
              </a:spcBef>
              <a:spcAft>
                <a:spcPts val="0"/>
              </a:spcAft>
              <a:buClr>
                <a:srgbClr val="0000FF"/>
              </a:buClr>
              <a:buSzPts val="2300"/>
              <a:buFont typeface="Lexend"/>
              <a:buChar char="▪"/>
            </a:pPr>
            <a:r>
              <a:rPr lang="en" sz="2300">
                <a:solidFill>
                  <a:srgbClr val="0000FF"/>
                </a:solidFill>
                <a:latin typeface="Lexend"/>
                <a:ea typeface="Lexend"/>
                <a:cs typeface="Lexend"/>
                <a:sym typeface="Lexend"/>
              </a:rPr>
              <a:t>Algorithm for addition, A + B:</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Perform binary addition on the two numbers.</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Ignore the carry out of the MSB (most significant bit).</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Check for overflow: Overflow occurs if the ‘carry in’ and ‘carry out’ of the MSB are different, or if result is opposite sign of A and B.</a:t>
            </a:r>
            <a:endParaRPr sz="2300">
              <a:solidFill>
                <a:schemeClr val="dk1"/>
              </a:solidFill>
              <a:latin typeface="Lexend"/>
              <a:ea typeface="Lexend"/>
              <a:cs typeface="Lexend"/>
              <a:sym typeface="Lexend"/>
            </a:endParaRPr>
          </a:p>
          <a:p>
            <a:pPr indent="-245109" lvl="0" marL="342900" rtl="0" algn="l">
              <a:lnSpc>
                <a:spcPct val="80000"/>
              </a:lnSpc>
              <a:spcBef>
                <a:spcPts val="1600"/>
              </a:spcBef>
              <a:spcAft>
                <a:spcPts val="0"/>
              </a:spcAft>
              <a:buClr>
                <a:srgbClr val="0000FF"/>
              </a:buClr>
              <a:buSzPts val="2300"/>
              <a:buFont typeface="Lexend"/>
              <a:buChar char="▪"/>
            </a:pPr>
            <a:r>
              <a:rPr lang="en" sz="2300">
                <a:solidFill>
                  <a:srgbClr val="0000FF"/>
                </a:solidFill>
                <a:latin typeface="Lexend"/>
                <a:ea typeface="Lexend"/>
                <a:cs typeface="Lexend"/>
                <a:sym typeface="Lexend"/>
              </a:rPr>
              <a:t>Algorithm for subtraction, A – B:</a:t>
            </a:r>
            <a:endParaRPr sz="2300">
              <a:solidFill>
                <a:schemeClr val="dk1"/>
              </a:solidFill>
              <a:latin typeface="Lexend"/>
              <a:ea typeface="Lexend"/>
              <a:cs typeface="Lexend"/>
              <a:sym typeface="Lexend"/>
            </a:endParaRPr>
          </a:p>
          <a:p>
            <a:pPr indent="-342900" lvl="0" marL="342900" rtl="0" algn="l">
              <a:lnSpc>
                <a:spcPct val="80000"/>
              </a:lnSpc>
              <a:spcBef>
                <a:spcPts val="640"/>
              </a:spcBef>
              <a:spcAft>
                <a:spcPts val="0"/>
              </a:spcAft>
              <a:buNone/>
            </a:pPr>
            <a:r>
              <a:rPr lang="en" sz="2300">
                <a:solidFill>
                  <a:srgbClr val="0000FF"/>
                </a:solidFill>
                <a:latin typeface="Lexend"/>
                <a:ea typeface="Lexend"/>
                <a:cs typeface="Lexend"/>
                <a:sym typeface="Lexend"/>
              </a:rPr>
              <a:t>		A – B = A + (–B)</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Take 2s complement of B by inverting all the bits and adding 1.</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Add the 2s complement of B to A.</a:t>
            </a:r>
            <a:endParaRPr sz="2300">
              <a:solidFill>
                <a:schemeClr val="dk1"/>
              </a:solidFill>
              <a:latin typeface="Lexend"/>
              <a:ea typeface="Lexend"/>
              <a:cs typeface="Lexend"/>
              <a:sym typeface="Lexend"/>
            </a:endParaRPr>
          </a:p>
        </p:txBody>
      </p:sp>
      <p:grpSp>
        <p:nvGrpSpPr>
          <p:cNvPr id="504" name="Google Shape;504;p39"/>
          <p:cNvGrpSpPr/>
          <p:nvPr/>
        </p:nvGrpSpPr>
        <p:grpSpPr>
          <a:xfrm>
            <a:off x="50480" y="122879"/>
            <a:ext cx="277873" cy="68400"/>
            <a:chOff x="411700" y="2416840"/>
            <a:chExt cx="277873" cy="68400"/>
          </a:xfrm>
        </p:grpSpPr>
        <p:sp>
          <p:nvSpPr>
            <p:cNvPr id="505" name="Google Shape;505;p3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6" name="Google Shape;506;p3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7" name="Google Shape;507;p3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08" name="Google Shape;508;p39"/>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2s Complement Addition/Subtraction</a:t>
            </a:r>
            <a:endParaRPr sz="3400">
              <a:latin typeface="Lexend"/>
              <a:ea typeface="Lexend"/>
              <a:cs typeface="Lexend"/>
              <a:sym typeface="Lexend"/>
            </a:endParaRPr>
          </a:p>
        </p:txBody>
      </p:sp>
      <p:sp>
        <p:nvSpPr>
          <p:cNvPr id="509" name="Google Shape;509;p3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10" name="Google Shape;510;p3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0"/>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16" name="Google Shape;516;p4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17" name="Google Shape;517;p4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18" name="Google Shape;518;p40"/>
          <p:cNvSpPr txBox="1"/>
          <p:nvPr/>
        </p:nvSpPr>
        <p:spPr>
          <a:xfrm>
            <a:off x="351900" y="943450"/>
            <a:ext cx="8494200" cy="39774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200">
                <a:solidFill>
                  <a:srgbClr val="0000FF"/>
                </a:solidFill>
                <a:latin typeface="Lexend"/>
                <a:ea typeface="Lexend"/>
                <a:cs typeface="Lexend"/>
                <a:sym typeface="Lexend"/>
              </a:rPr>
              <a:t>Example: in a 4-bit binary system</a:t>
            </a:r>
            <a:endParaRPr sz="2200">
              <a:solidFill>
                <a:schemeClr val="dk1"/>
              </a:solidFill>
              <a:latin typeface="Lexend"/>
              <a:ea typeface="Lexend"/>
              <a:cs typeface="Lexend"/>
              <a:sym typeface="Lexend"/>
            </a:endParaRPr>
          </a:p>
          <a:p>
            <a:pPr indent="0" lvl="0" marL="34290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rPr lang="en" sz="2200">
                <a:solidFill>
                  <a:schemeClr val="dk1"/>
                </a:solidFill>
                <a:latin typeface="Lexend"/>
                <a:ea typeface="Lexend"/>
                <a:cs typeface="Lexend"/>
                <a:sym typeface="Lexend"/>
              </a:rPr>
              <a:t>Which of the above is/are overflow(s)?</a:t>
            </a:r>
            <a:endParaRPr sz="2200">
              <a:solidFill>
                <a:srgbClr val="0000FF"/>
              </a:solidFill>
              <a:latin typeface="Lexend"/>
              <a:ea typeface="Lexend"/>
              <a:cs typeface="Lexend"/>
              <a:sym typeface="Lexend"/>
            </a:endParaRPr>
          </a:p>
        </p:txBody>
      </p:sp>
      <p:grpSp>
        <p:nvGrpSpPr>
          <p:cNvPr id="519" name="Google Shape;519;p40"/>
          <p:cNvGrpSpPr/>
          <p:nvPr/>
        </p:nvGrpSpPr>
        <p:grpSpPr>
          <a:xfrm>
            <a:off x="50480" y="122879"/>
            <a:ext cx="277873" cy="68400"/>
            <a:chOff x="411700" y="2416840"/>
            <a:chExt cx="277873" cy="68400"/>
          </a:xfrm>
        </p:grpSpPr>
        <p:sp>
          <p:nvSpPr>
            <p:cNvPr id="520" name="Google Shape;520;p4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1" name="Google Shape;521;p4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2" name="Google Shape;522;p4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23" name="Google Shape;523;p40"/>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2s Complement Addition/Subtraction</a:t>
            </a:r>
            <a:endParaRPr sz="3400">
              <a:latin typeface="Lexend"/>
              <a:ea typeface="Lexend"/>
              <a:cs typeface="Lexend"/>
              <a:sym typeface="Lexend"/>
            </a:endParaRPr>
          </a:p>
        </p:txBody>
      </p:sp>
      <p:sp>
        <p:nvSpPr>
          <p:cNvPr id="524" name="Google Shape;524;p4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25" name="Google Shape;525;p4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526" name="Google Shape;526;p40"/>
          <p:cNvSpPr txBox="1"/>
          <p:nvPr/>
        </p:nvSpPr>
        <p:spPr>
          <a:xfrm>
            <a:off x="1447800" y="13716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+3       0011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+4     + 0100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+7       0111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sp>
        <p:nvSpPr>
          <p:cNvPr id="527" name="Google Shape;527;p40"/>
          <p:cNvSpPr txBox="1"/>
          <p:nvPr/>
        </p:nvSpPr>
        <p:spPr>
          <a:xfrm>
            <a:off x="1447800" y="29718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+6      0110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-3    + 1101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+3     </a:t>
            </a:r>
            <a:r>
              <a:rPr b="1" i="0" lang="en" sz="2000" u="none">
                <a:solidFill>
                  <a:srgbClr val="FF0000"/>
                </a:solidFill>
                <a:latin typeface="Courier New"/>
                <a:ea typeface="Courier New"/>
                <a:cs typeface="Courier New"/>
                <a:sym typeface="Courier New"/>
              </a:rPr>
              <a:t>1</a:t>
            </a:r>
            <a:r>
              <a:rPr b="1" i="0" lang="en" sz="2000" u="none">
                <a:solidFill>
                  <a:srgbClr val="000000"/>
                </a:solidFill>
                <a:latin typeface="Courier New"/>
                <a:ea typeface="Courier New"/>
                <a:cs typeface="Courier New"/>
                <a:sym typeface="Courier New"/>
              </a:rPr>
              <a:t>0011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sp>
        <p:nvSpPr>
          <p:cNvPr id="528" name="Google Shape;528;p40"/>
          <p:cNvSpPr txBox="1"/>
          <p:nvPr/>
        </p:nvSpPr>
        <p:spPr>
          <a:xfrm>
            <a:off x="4953000" y="29718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+4     0100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-7   + 1001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-3     1101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pic>
        <p:nvPicPr>
          <p:cNvPr id="529" name="Google Shape;529;p40"/>
          <p:cNvPicPr preferRelativeResize="0"/>
          <p:nvPr/>
        </p:nvPicPr>
        <p:blipFill rotWithShape="1">
          <a:blip r:embed="rId4">
            <a:alphaModFix/>
          </a:blip>
          <a:srcRect b="5893" l="1348" r="1658" t="4948"/>
          <a:stretch/>
        </p:blipFill>
        <p:spPr>
          <a:xfrm>
            <a:off x="4953000" y="1373925"/>
            <a:ext cx="2971800" cy="1503300"/>
          </a:xfrm>
          <a:prstGeom prst="rect">
            <a:avLst/>
          </a:prstGeom>
          <a:noFill/>
          <a:ln cap="flat" cmpd="sng" w="9525">
            <a:solidFill>
              <a:srgbClr val="A9B0FE"/>
            </a:solidFill>
            <a:prstDash val="solid"/>
            <a:round/>
            <a:headEnd len="sm" w="sm" type="none"/>
            <a:tailEnd len="sm" w="sm" type="none"/>
          </a:ln>
        </p:spPr>
      </p:pic>
      <p:pic>
        <p:nvPicPr>
          <p:cNvPr id="530" name="Google Shape;530;p40"/>
          <p:cNvPicPr preferRelativeResize="0"/>
          <p:nvPr/>
        </p:nvPicPr>
        <p:blipFill rotWithShape="1">
          <a:blip r:embed="rId5">
            <a:alphaModFix amt="40000"/>
          </a:blip>
          <a:srcRect b="11308" l="0" r="0" t="0"/>
          <a:stretch/>
        </p:blipFill>
        <p:spPr>
          <a:xfrm>
            <a:off x="0" y="943450"/>
            <a:ext cx="1715302" cy="4304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41"/>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36" name="Google Shape;536;p4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37" name="Google Shape;537;p4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38" name="Google Shape;538;p41"/>
          <p:cNvSpPr txBox="1"/>
          <p:nvPr/>
        </p:nvSpPr>
        <p:spPr>
          <a:xfrm>
            <a:off x="351900" y="943450"/>
            <a:ext cx="8494200" cy="3706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200">
                <a:solidFill>
                  <a:srgbClr val="0000FF"/>
                </a:solidFill>
                <a:latin typeface="Lexend"/>
                <a:ea typeface="Lexend"/>
                <a:cs typeface="Lexend"/>
                <a:sym typeface="Lexend"/>
              </a:rPr>
              <a:t>Example: in a 4-bit binary system</a:t>
            </a:r>
            <a:endParaRPr sz="2200">
              <a:solidFill>
                <a:schemeClr val="dk1"/>
              </a:solidFill>
              <a:latin typeface="Lexend"/>
              <a:ea typeface="Lexend"/>
              <a:cs typeface="Lexend"/>
              <a:sym typeface="Lexend"/>
            </a:endParaRPr>
          </a:p>
          <a:p>
            <a:pPr indent="0" lvl="0" marL="34290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rPr lang="en" sz="2200">
                <a:solidFill>
                  <a:schemeClr val="dk1"/>
                </a:solidFill>
                <a:latin typeface="Lexend"/>
                <a:ea typeface="Lexend"/>
                <a:cs typeface="Lexend"/>
                <a:sym typeface="Lexend"/>
              </a:rPr>
              <a:t>Which of the above is/are overflow(s)?</a:t>
            </a:r>
            <a:endParaRPr sz="2200">
              <a:solidFill>
                <a:srgbClr val="0000FF"/>
              </a:solidFill>
              <a:latin typeface="Lexend"/>
              <a:ea typeface="Lexend"/>
              <a:cs typeface="Lexend"/>
              <a:sym typeface="Lexend"/>
            </a:endParaRPr>
          </a:p>
        </p:txBody>
      </p:sp>
      <p:grpSp>
        <p:nvGrpSpPr>
          <p:cNvPr id="539" name="Google Shape;539;p41"/>
          <p:cNvGrpSpPr/>
          <p:nvPr/>
        </p:nvGrpSpPr>
        <p:grpSpPr>
          <a:xfrm>
            <a:off x="50480" y="122879"/>
            <a:ext cx="277873" cy="68400"/>
            <a:chOff x="411700" y="2416840"/>
            <a:chExt cx="277873" cy="68400"/>
          </a:xfrm>
        </p:grpSpPr>
        <p:sp>
          <p:nvSpPr>
            <p:cNvPr id="540" name="Google Shape;540;p4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1" name="Google Shape;541;p4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2" name="Google Shape;542;p4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43" name="Google Shape;543;p41"/>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2s Complement Addition/Subtraction</a:t>
            </a:r>
            <a:endParaRPr sz="3400">
              <a:latin typeface="Lexend"/>
              <a:ea typeface="Lexend"/>
              <a:cs typeface="Lexend"/>
              <a:sym typeface="Lexend"/>
            </a:endParaRPr>
          </a:p>
        </p:txBody>
      </p:sp>
      <p:sp>
        <p:nvSpPr>
          <p:cNvPr id="544" name="Google Shape;544;p4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45" name="Google Shape;545;p4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546" name="Google Shape;546;p41"/>
          <p:cNvPicPr preferRelativeResize="0"/>
          <p:nvPr/>
        </p:nvPicPr>
        <p:blipFill rotWithShape="1">
          <a:blip r:embed="rId4">
            <a:alphaModFix amt="40000"/>
          </a:blip>
          <a:srcRect b="11308" l="0" r="0" t="0"/>
          <a:stretch/>
        </p:blipFill>
        <p:spPr>
          <a:xfrm>
            <a:off x="0" y="943450"/>
            <a:ext cx="1715302" cy="430474"/>
          </a:xfrm>
          <a:prstGeom prst="rect">
            <a:avLst/>
          </a:prstGeom>
          <a:noFill/>
          <a:ln>
            <a:noFill/>
          </a:ln>
        </p:spPr>
      </p:pic>
      <p:sp>
        <p:nvSpPr>
          <p:cNvPr id="547" name="Google Shape;547;p41"/>
          <p:cNvSpPr txBox="1"/>
          <p:nvPr/>
        </p:nvSpPr>
        <p:spPr>
          <a:xfrm>
            <a:off x="1371600" y="1960725"/>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-3       1101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-6     + 1010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-9      </a:t>
            </a:r>
            <a:r>
              <a:rPr b="1" i="0" lang="en" sz="2000" u="none">
                <a:solidFill>
                  <a:srgbClr val="CC0000"/>
                </a:solidFill>
                <a:latin typeface="Courier New"/>
                <a:ea typeface="Courier New"/>
                <a:cs typeface="Courier New"/>
                <a:sym typeface="Courier New"/>
              </a:rPr>
              <a:t>1</a:t>
            </a:r>
            <a:r>
              <a:rPr b="1" i="0" lang="en" sz="2000" u="none">
                <a:solidFill>
                  <a:srgbClr val="000000"/>
                </a:solidFill>
                <a:latin typeface="Courier New"/>
                <a:ea typeface="Courier New"/>
                <a:cs typeface="Courier New"/>
                <a:sym typeface="Courier New"/>
              </a:rPr>
              <a:t>0111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sp>
        <p:nvSpPr>
          <p:cNvPr id="548" name="Google Shape;548;p41"/>
          <p:cNvSpPr txBox="1"/>
          <p:nvPr/>
        </p:nvSpPr>
        <p:spPr>
          <a:xfrm>
            <a:off x="4800600" y="1960725"/>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+5       0101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+6     + 0110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+11      </a:t>
            </a:r>
            <a:r>
              <a:rPr b="1" i="0" lang="en" sz="2000" u="none">
                <a:solidFill>
                  <a:srgbClr val="FF0000"/>
                </a:solidFill>
                <a:latin typeface="Courier New"/>
                <a:ea typeface="Courier New"/>
                <a:cs typeface="Courier New"/>
                <a:sym typeface="Courier New"/>
              </a:rPr>
              <a:t> </a:t>
            </a:r>
            <a:r>
              <a:rPr b="1" i="0" lang="en" sz="2000" u="none">
                <a:solidFill>
                  <a:srgbClr val="000000"/>
                </a:solidFill>
                <a:latin typeface="Courier New"/>
                <a:ea typeface="Courier New"/>
                <a:cs typeface="Courier New"/>
                <a:sym typeface="Courier New"/>
              </a:rPr>
              <a:t>1011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42"/>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54" name="Google Shape;554;p4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55" name="Google Shape;555;p4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56" name="Google Shape;556;p42"/>
          <p:cNvSpPr txBox="1"/>
          <p:nvPr/>
        </p:nvSpPr>
        <p:spPr>
          <a:xfrm>
            <a:off x="351900" y="943450"/>
            <a:ext cx="8494200" cy="3734700"/>
          </a:xfrm>
          <a:prstGeom prst="rect">
            <a:avLst/>
          </a:prstGeom>
          <a:noFill/>
          <a:ln>
            <a:noFill/>
          </a:ln>
        </p:spPr>
        <p:txBody>
          <a:bodyPr anchorCtr="0" anchor="t" bIns="91425" lIns="91425" spcFirstLastPara="1" rIns="91425" wrap="square" tIns="91425">
            <a:spAutoFit/>
          </a:bodyPr>
          <a:lstStyle/>
          <a:p>
            <a:pPr indent="-245109" lvl="0" marL="342900" rtl="0" algn="l">
              <a:lnSpc>
                <a:spcPct val="90000"/>
              </a:lnSpc>
              <a:spcBef>
                <a:spcPts val="0"/>
              </a:spcBef>
              <a:spcAft>
                <a:spcPts val="0"/>
              </a:spcAft>
              <a:buClr>
                <a:srgbClr val="0000FF"/>
              </a:buClr>
              <a:buSzPts val="2300"/>
              <a:buFont typeface="Lexend"/>
              <a:buChar char="▪"/>
            </a:pPr>
            <a:r>
              <a:rPr lang="en" sz="2300">
                <a:solidFill>
                  <a:srgbClr val="0000FF"/>
                </a:solidFill>
                <a:latin typeface="Lexend"/>
                <a:ea typeface="Lexend"/>
                <a:cs typeface="Lexend"/>
                <a:sym typeface="Lexend"/>
              </a:rPr>
              <a:t>Algorithm for addition, A + B:</a:t>
            </a:r>
            <a:endParaRPr sz="2300">
              <a:solidFill>
                <a:schemeClr val="dk1"/>
              </a:solidFill>
              <a:latin typeface="Lexend"/>
              <a:ea typeface="Lexend"/>
              <a:cs typeface="Lexend"/>
              <a:sym typeface="Lexend"/>
            </a:endParaRPr>
          </a:p>
          <a:p>
            <a:pPr indent="-311150" lvl="0" marL="342900" rtl="0" algn="l">
              <a:lnSpc>
                <a:spcPct val="90000"/>
              </a:lnSpc>
              <a:spcBef>
                <a:spcPts val="112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Perform binary addition on the two numbers.</a:t>
            </a:r>
            <a:endParaRPr sz="2300">
              <a:solidFill>
                <a:schemeClr val="dk1"/>
              </a:solidFill>
              <a:latin typeface="Lexend"/>
              <a:ea typeface="Lexend"/>
              <a:cs typeface="Lexend"/>
              <a:sym typeface="Lexend"/>
            </a:endParaRPr>
          </a:p>
          <a:p>
            <a:pPr indent="-311150" lvl="0" marL="342900" rtl="0" algn="l">
              <a:lnSpc>
                <a:spcPct val="9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If there is a carry out of the MSB, </a:t>
            </a:r>
            <a:r>
              <a:rPr lang="en" sz="2300">
                <a:solidFill>
                  <a:srgbClr val="FF0000"/>
                </a:solidFill>
                <a:latin typeface="Lexend"/>
                <a:ea typeface="Lexend"/>
                <a:cs typeface="Lexend"/>
                <a:sym typeface="Lexend"/>
              </a:rPr>
              <a:t>add 1 to the result.</a:t>
            </a:r>
            <a:endParaRPr sz="2300">
              <a:solidFill>
                <a:schemeClr val="dk1"/>
              </a:solidFill>
              <a:latin typeface="Lexend"/>
              <a:ea typeface="Lexend"/>
              <a:cs typeface="Lexend"/>
              <a:sym typeface="Lexend"/>
            </a:endParaRPr>
          </a:p>
          <a:p>
            <a:pPr indent="-311150" lvl="0" marL="342900" rtl="0" algn="l">
              <a:lnSpc>
                <a:spcPct val="9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Check for overflow: Overflow occurs if result is opposite sign of A and B.</a:t>
            </a:r>
            <a:endParaRPr sz="2300">
              <a:solidFill>
                <a:schemeClr val="dk1"/>
              </a:solidFill>
              <a:latin typeface="Lexend"/>
              <a:ea typeface="Lexend"/>
              <a:cs typeface="Lexend"/>
              <a:sym typeface="Lexend"/>
            </a:endParaRPr>
          </a:p>
          <a:p>
            <a:pPr indent="-245109" lvl="0" marL="342900" rtl="0" algn="l">
              <a:lnSpc>
                <a:spcPct val="90000"/>
              </a:lnSpc>
              <a:spcBef>
                <a:spcPts val="1600"/>
              </a:spcBef>
              <a:spcAft>
                <a:spcPts val="0"/>
              </a:spcAft>
              <a:buClr>
                <a:srgbClr val="0000FF"/>
              </a:buClr>
              <a:buSzPts val="2300"/>
              <a:buFont typeface="Lexend"/>
              <a:buChar char="▪"/>
            </a:pPr>
            <a:r>
              <a:rPr lang="en" sz="2300">
                <a:solidFill>
                  <a:srgbClr val="0000FF"/>
                </a:solidFill>
                <a:latin typeface="Lexend"/>
                <a:ea typeface="Lexend"/>
                <a:cs typeface="Lexend"/>
                <a:sym typeface="Lexend"/>
              </a:rPr>
              <a:t>Algorithm for subtraction, A – B:</a:t>
            </a:r>
            <a:endParaRPr sz="2300">
              <a:solidFill>
                <a:schemeClr val="dk1"/>
              </a:solidFill>
              <a:latin typeface="Lexend"/>
              <a:ea typeface="Lexend"/>
              <a:cs typeface="Lexend"/>
              <a:sym typeface="Lexend"/>
            </a:endParaRPr>
          </a:p>
          <a:p>
            <a:pPr indent="-342900" lvl="0" marL="342900" rtl="0" algn="l">
              <a:lnSpc>
                <a:spcPct val="90000"/>
              </a:lnSpc>
              <a:spcBef>
                <a:spcPts val="640"/>
              </a:spcBef>
              <a:spcAft>
                <a:spcPts val="0"/>
              </a:spcAft>
              <a:buClr>
                <a:srgbClr val="0000FF"/>
              </a:buClr>
              <a:buSzPts val="3200"/>
              <a:buFont typeface="Arial"/>
              <a:buNone/>
            </a:pPr>
            <a:r>
              <a:rPr lang="en" sz="2300">
                <a:solidFill>
                  <a:srgbClr val="0000FF"/>
                </a:solidFill>
                <a:latin typeface="Lexend"/>
                <a:ea typeface="Lexend"/>
                <a:cs typeface="Lexend"/>
                <a:sym typeface="Lexend"/>
              </a:rPr>
              <a:t>		A – B = A + (–B)</a:t>
            </a:r>
            <a:endParaRPr sz="2300">
              <a:solidFill>
                <a:schemeClr val="dk1"/>
              </a:solidFill>
              <a:latin typeface="Lexend"/>
              <a:ea typeface="Lexend"/>
              <a:cs typeface="Lexend"/>
              <a:sym typeface="Lexend"/>
            </a:endParaRPr>
          </a:p>
          <a:p>
            <a:pPr indent="-311150" lvl="0" marL="342900" rtl="0" algn="l">
              <a:lnSpc>
                <a:spcPct val="90000"/>
              </a:lnSpc>
              <a:spcBef>
                <a:spcPts val="112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Take 1s complement of B by inverting all the bits.</a:t>
            </a:r>
            <a:endParaRPr sz="2300">
              <a:solidFill>
                <a:schemeClr val="dk1"/>
              </a:solidFill>
              <a:latin typeface="Lexend"/>
              <a:ea typeface="Lexend"/>
              <a:cs typeface="Lexend"/>
              <a:sym typeface="Lexend"/>
            </a:endParaRPr>
          </a:p>
          <a:p>
            <a:pPr indent="-311150" lvl="0" marL="342900" rtl="0" algn="l">
              <a:lnSpc>
                <a:spcPct val="9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Add the 1s complement of B to A.</a:t>
            </a:r>
            <a:endParaRPr sz="2300">
              <a:solidFill>
                <a:srgbClr val="0000FF"/>
              </a:solidFill>
              <a:latin typeface="Lexend"/>
              <a:ea typeface="Lexend"/>
              <a:cs typeface="Lexend"/>
              <a:sym typeface="Lexend"/>
            </a:endParaRPr>
          </a:p>
        </p:txBody>
      </p:sp>
      <p:grpSp>
        <p:nvGrpSpPr>
          <p:cNvPr id="557" name="Google Shape;557;p42"/>
          <p:cNvGrpSpPr/>
          <p:nvPr/>
        </p:nvGrpSpPr>
        <p:grpSpPr>
          <a:xfrm>
            <a:off x="50480" y="122879"/>
            <a:ext cx="277873" cy="68400"/>
            <a:chOff x="411700" y="2416840"/>
            <a:chExt cx="277873" cy="68400"/>
          </a:xfrm>
        </p:grpSpPr>
        <p:sp>
          <p:nvSpPr>
            <p:cNvPr id="558" name="Google Shape;558;p4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9" name="Google Shape;559;p4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0" name="Google Shape;560;p4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61" name="Google Shape;561;p42"/>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1s Complement Addition/Subtraction</a:t>
            </a:r>
            <a:endParaRPr sz="3400">
              <a:latin typeface="Lexend"/>
              <a:ea typeface="Lexend"/>
              <a:cs typeface="Lexend"/>
              <a:sym typeface="Lexend"/>
            </a:endParaRPr>
          </a:p>
        </p:txBody>
      </p:sp>
      <p:sp>
        <p:nvSpPr>
          <p:cNvPr id="562" name="Google Shape;562;p4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63" name="Google Shape;563;p4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43"/>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69" name="Google Shape;569;p4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70" name="Google Shape;570;p4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71" name="Google Shape;571;p43"/>
          <p:cNvSpPr txBox="1"/>
          <p:nvPr/>
        </p:nvSpPr>
        <p:spPr>
          <a:xfrm>
            <a:off x="351900" y="943450"/>
            <a:ext cx="8494200" cy="3706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200">
                <a:solidFill>
                  <a:srgbClr val="0000FF"/>
                </a:solidFill>
                <a:latin typeface="Lexend"/>
                <a:ea typeface="Lexend"/>
                <a:cs typeface="Lexend"/>
                <a:sym typeface="Lexend"/>
              </a:rPr>
              <a:t>Example: in a 4-bit binary system</a:t>
            </a:r>
            <a:endParaRPr sz="2200">
              <a:solidFill>
                <a:schemeClr val="dk1"/>
              </a:solidFill>
              <a:latin typeface="Lexend"/>
              <a:ea typeface="Lexend"/>
              <a:cs typeface="Lexend"/>
              <a:sym typeface="Lexend"/>
            </a:endParaRPr>
          </a:p>
          <a:p>
            <a:pPr indent="0" lvl="0" marL="34290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rgbClr val="0000FF"/>
              </a:solidFill>
              <a:latin typeface="Lexend"/>
              <a:ea typeface="Lexend"/>
              <a:cs typeface="Lexend"/>
              <a:sym typeface="Lexend"/>
            </a:endParaRPr>
          </a:p>
        </p:txBody>
      </p:sp>
      <p:grpSp>
        <p:nvGrpSpPr>
          <p:cNvPr id="572" name="Google Shape;572;p43"/>
          <p:cNvGrpSpPr/>
          <p:nvPr/>
        </p:nvGrpSpPr>
        <p:grpSpPr>
          <a:xfrm>
            <a:off x="50480" y="122879"/>
            <a:ext cx="277873" cy="68400"/>
            <a:chOff x="411700" y="2416840"/>
            <a:chExt cx="277873" cy="68400"/>
          </a:xfrm>
        </p:grpSpPr>
        <p:sp>
          <p:nvSpPr>
            <p:cNvPr id="573" name="Google Shape;573;p4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4" name="Google Shape;574;p4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5" name="Google Shape;575;p4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76" name="Google Shape;576;p43"/>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1</a:t>
            </a:r>
            <a:r>
              <a:rPr lang="en" sz="3400">
                <a:latin typeface="Lexend"/>
                <a:ea typeface="Lexend"/>
                <a:cs typeface="Lexend"/>
                <a:sym typeface="Lexend"/>
              </a:rPr>
              <a:t>s Complement Addition/Subtraction</a:t>
            </a:r>
            <a:endParaRPr sz="3400">
              <a:latin typeface="Lexend"/>
              <a:ea typeface="Lexend"/>
              <a:cs typeface="Lexend"/>
              <a:sym typeface="Lexend"/>
            </a:endParaRPr>
          </a:p>
        </p:txBody>
      </p:sp>
      <p:sp>
        <p:nvSpPr>
          <p:cNvPr id="577" name="Google Shape;577;p4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78" name="Google Shape;578;p4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579" name="Google Shape;579;p43"/>
          <p:cNvSpPr txBox="1"/>
          <p:nvPr/>
        </p:nvSpPr>
        <p:spPr>
          <a:xfrm>
            <a:off x="1447800" y="13716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+3       0011</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+4     + 0100</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+7      </a:t>
            </a:r>
            <a:r>
              <a:rPr b="1" lang="en" sz="2000">
                <a:solidFill>
                  <a:srgbClr val="333399"/>
                </a:solidFill>
                <a:latin typeface="Courier New"/>
                <a:ea typeface="Courier New"/>
                <a:cs typeface="Courier New"/>
                <a:sym typeface="Courier New"/>
              </a:rPr>
              <a:t> </a:t>
            </a:r>
            <a:r>
              <a:rPr b="1" lang="en" sz="2000">
                <a:solidFill>
                  <a:schemeClr val="dk1"/>
                </a:solidFill>
                <a:latin typeface="Courier New"/>
                <a:ea typeface="Courier New"/>
                <a:cs typeface="Courier New"/>
                <a:sym typeface="Courier New"/>
              </a:rPr>
              <a:t>0111</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a:t>
            </a:r>
            <a:endParaRPr b="1" sz="2000">
              <a:latin typeface="Courier New"/>
              <a:ea typeface="Courier New"/>
              <a:cs typeface="Courier New"/>
              <a:sym typeface="Courier New"/>
            </a:endParaRPr>
          </a:p>
        </p:txBody>
      </p:sp>
      <p:sp>
        <p:nvSpPr>
          <p:cNvPr id="580" name="Google Shape;580;p43"/>
          <p:cNvSpPr txBox="1"/>
          <p:nvPr/>
        </p:nvSpPr>
        <p:spPr>
          <a:xfrm>
            <a:off x="1447800" y="2971800"/>
            <a:ext cx="2971800" cy="18948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-2      1101</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-5   +  1010</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-7     </a:t>
            </a:r>
            <a:r>
              <a:rPr b="1" lang="en" sz="1800">
                <a:solidFill>
                  <a:srgbClr val="CC0000"/>
                </a:solidFill>
                <a:latin typeface="Courier New"/>
                <a:ea typeface="Courier New"/>
                <a:cs typeface="Courier New"/>
                <a:sym typeface="Courier New"/>
              </a:rPr>
              <a:t>1</a:t>
            </a:r>
            <a:r>
              <a:rPr b="1" lang="en" sz="1800">
                <a:solidFill>
                  <a:schemeClr val="dk1"/>
                </a:solidFill>
                <a:latin typeface="Courier New"/>
                <a:ea typeface="Courier New"/>
                <a:cs typeface="Courier New"/>
                <a:sym typeface="Courier New"/>
              </a:rPr>
              <a:t>0111</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    1</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10</a:t>
            </a:r>
            <a:r>
              <a:rPr b="1" lang="en" sz="1800">
                <a:solidFill>
                  <a:schemeClr val="dk1"/>
                </a:solidFill>
                <a:latin typeface="Courier New"/>
                <a:ea typeface="Courier New"/>
                <a:cs typeface="Courier New"/>
                <a:sym typeface="Courier New"/>
              </a:rPr>
              <a:t>00</a:t>
            </a:r>
            <a:endParaRPr b="1" sz="1800">
              <a:latin typeface="Courier New"/>
              <a:ea typeface="Courier New"/>
              <a:cs typeface="Courier New"/>
              <a:sym typeface="Courier New"/>
            </a:endParaRPr>
          </a:p>
        </p:txBody>
      </p:sp>
      <p:pic>
        <p:nvPicPr>
          <p:cNvPr id="581" name="Google Shape;581;p43"/>
          <p:cNvPicPr preferRelativeResize="0"/>
          <p:nvPr/>
        </p:nvPicPr>
        <p:blipFill rotWithShape="1">
          <a:blip r:embed="rId4">
            <a:alphaModFix amt="40000"/>
          </a:blip>
          <a:srcRect b="11308" l="0" r="0" t="0"/>
          <a:stretch/>
        </p:blipFill>
        <p:spPr>
          <a:xfrm>
            <a:off x="0" y="943450"/>
            <a:ext cx="1715302" cy="430474"/>
          </a:xfrm>
          <a:prstGeom prst="rect">
            <a:avLst/>
          </a:prstGeom>
          <a:noFill/>
          <a:ln>
            <a:noFill/>
          </a:ln>
        </p:spPr>
      </p:pic>
      <p:sp>
        <p:nvSpPr>
          <p:cNvPr id="582" name="Google Shape;582;p43"/>
          <p:cNvSpPr txBox="1"/>
          <p:nvPr/>
        </p:nvSpPr>
        <p:spPr>
          <a:xfrm>
            <a:off x="4953000" y="13716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+5       0101</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-5     + 1010</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-0      </a:t>
            </a:r>
            <a:r>
              <a:rPr b="1" lang="en" sz="2000">
                <a:solidFill>
                  <a:srgbClr val="333399"/>
                </a:solidFill>
                <a:latin typeface="Courier New"/>
                <a:ea typeface="Courier New"/>
                <a:cs typeface="Courier New"/>
                <a:sym typeface="Courier New"/>
              </a:rPr>
              <a:t> </a:t>
            </a:r>
            <a:r>
              <a:rPr b="1" lang="en" sz="2000">
                <a:solidFill>
                  <a:schemeClr val="dk1"/>
                </a:solidFill>
                <a:latin typeface="Courier New"/>
                <a:ea typeface="Courier New"/>
                <a:cs typeface="Courier New"/>
                <a:sym typeface="Courier New"/>
              </a:rPr>
              <a:t>1111</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a:t>
            </a:r>
            <a:endParaRPr b="1" sz="2000">
              <a:latin typeface="Courier New"/>
              <a:ea typeface="Courier New"/>
              <a:cs typeface="Courier New"/>
              <a:sym typeface="Courier New"/>
            </a:endParaRPr>
          </a:p>
        </p:txBody>
      </p:sp>
      <p:sp>
        <p:nvSpPr>
          <p:cNvPr id="583" name="Google Shape;583;p43"/>
          <p:cNvSpPr txBox="1"/>
          <p:nvPr/>
        </p:nvSpPr>
        <p:spPr>
          <a:xfrm>
            <a:off x="4960125" y="2971800"/>
            <a:ext cx="2971800" cy="18948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-3       1100</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-7     + 1000</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-10      </a:t>
            </a:r>
            <a:r>
              <a:rPr b="1" lang="en" sz="1800">
                <a:solidFill>
                  <a:srgbClr val="CC0000"/>
                </a:solidFill>
                <a:latin typeface="Courier New"/>
                <a:ea typeface="Courier New"/>
                <a:cs typeface="Courier New"/>
                <a:sym typeface="Courier New"/>
              </a:rPr>
              <a:t>1</a:t>
            </a:r>
            <a:r>
              <a:rPr b="1" lang="en" sz="1800">
                <a:solidFill>
                  <a:schemeClr val="dk1"/>
                </a:solidFill>
                <a:latin typeface="Courier New"/>
                <a:ea typeface="Courier New"/>
                <a:cs typeface="Courier New"/>
                <a:sym typeface="Courier New"/>
              </a:rPr>
              <a:t>0100</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    1</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0101</a:t>
            </a:r>
            <a:endParaRPr b="1" sz="1800">
              <a:solidFill>
                <a:schemeClr val="dk1"/>
              </a:solidFill>
              <a:latin typeface="Courier New"/>
              <a:ea typeface="Courier New"/>
              <a:cs typeface="Courier New"/>
              <a:sym typeface="Courier New"/>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44"/>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89" name="Google Shape;589;p44"/>
          <p:cNvPicPr preferRelativeResize="0"/>
          <p:nvPr/>
        </p:nvPicPr>
        <p:blipFill rotWithShape="1">
          <a:blip r:embed="rId3">
            <a:alphaModFix/>
          </a:blip>
          <a:srcRect b="10185" l="0" r="0" t="0"/>
          <a:stretch/>
        </p:blipFill>
        <p:spPr>
          <a:xfrm>
            <a:off x="0" y="1666325"/>
            <a:ext cx="1304752" cy="337201"/>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590" name="Google Shape;590;p44"/>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591" name="Google Shape;591;p4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92" name="Google Shape;592;p44"/>
          <p:cNvSpPr txBox="1"/>
          <p:nvPr/>
        </p:nvSpPr>
        <p:spPr>
          <a:xfrm>
            <a:off x="351900" y="943450"/>
            <a:ext cx="8494200" cy="6771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000">
                <a:solidFill>
                  <a:schemeClr val="dk1"/>
                </a:solidFill>
                <a:latin typeface="Lexend"/>
                <a:ea typeface="Lexend"/>
                <a:cs typeface="Lexend"/>
                <a:sym typeface="Lexend"/>
              </a:rPr>
              <a:t>Add -3 with -6 in 6 bits using 2’s complement number system and justify whether there is overflow or not.</a:t>
            </a:r>
            <a:endParaRPr sz="2000">
              <a:solidFill>
                <a:schemeClr val="dk1"/>
              </a:solidFill>
              <a:latin typeface="Lexend"/>
              <a:ea typeface="Lexend"/>
              <a:cs typeface="Lexend"/>
              <a:sym typeface="Lexend"/>
            </a:endParaRPr>
          </a:p>
        </p:txBody>
      </p:sp>
      <p:grpSp>
        <p:nvGrpSpPr>
          <p:cNvPr id="593" name="Google Shape;593;p44"/>
          <p:cNvGrpSpPr/>
          <p:nvPr/>
        </p:nvGrpSpPr>
        <p:grpSpPr>
          <a:xfrm>
            <a:off x="50480" y="122879"/>
            <a:ext cx="277873" cy="68400"/>
            <a:chOff x="411700" y="2416840"/>
            <a:chExt cx="277873" cy="68400"/>
          </a:xfrm>
        </p:grpSpPr>
        <p:sp>
          <p:nvSpPr>
            <p:cNvPr id="594" name="Google Shape;594;p4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5" name="Google Shape;595;p4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6" name="Google Shape;596;p4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97" name="Google Shape;597;p44"/>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Sample Math:</a:t>
            </a:r>
            <a:endParaRPr sz="3400">
              <a:latin typeface="Lexend"/>
              <a:ea typeface="Lexend"/>
              <a:cs typeface="Lexend"/>
              <a:sym typeface="Lexend"/>
            </a:endParaRPr>
          </a:p>
        </p:txBody>
      </p:sp>
      <p:sp>
        <p:nvSpPr>
          <p:cNvPr id="598" name="Google Shape;598;p4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99" name="Google Shape;599;p4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cxnSp>
        <p:nvCxnSpPr>
          <p:cNvPr id="600" name="Google Shape;600;p44"/>
          <p:cNvCxnSpPr/>
          <p:nvPr/>
        </p:nvCxnSpPr>
        <p:spPr>
          <a:xfrm>
            <a:off x="129300" y="1666325"/>
            <a:ext cx="8885400" cy="0"/>
          </a:xfrm>
          <a:prstGeom prst="straightConnector1">
            <a:avLst/>
          </a:prstGeom>
          <a:noFill/>
          <a:ln cap="flat" cmpd="sng" w="9525">
            <a:solidFill>
              <a:srgbClr val="A9B0FE"/>
            </a:solidFill>
            <a:prstDash val="solid"/>
            <a:round/>
            <a:headEnd len="med" w="med" type="none"/>
            <a:tailEnd len="med" w="med" type="none"/>
          </a:ln>
        </p:spPr>
      </p:cxnSp>
      <p:cxnSp>
        <p:nvCxnSpPr>
          <p:cNvPr id="601" name="Google Shape;601;p44"/>
          <p:cNvCxnSpPr/>
          <p:nvPr/>
        </p:nvCxnSpPr>
        <p:spPr>
          <a:xfrm>
            <a:off x="4572000" y="1667903"/>
            <a:ext cx="0" cy="3023700"/>
          </a:xfrm>
          <a:prstGeom prst="straightConnector1">
            <a:avLst/>
          </a:prstGeom>
          <a:noFill/>
          <a:ln cap="flat" cmpd="sng" w="9525">
            <a:solidFill>
              <a:srgbClr val="A9B0FE"/>
            </a:solidFill>
            <a:prstDash val="solid"/>
            <a:round/>
            <a:headEnd len="med" w="med" type="none"/>
            <a:tailEnd len="med" w="med" type="none"/>
          </a:ln>
        </p:spPr>
      </p:cxnSp>
      <p:sp>
        <p:nvSpPr>
          <p:cNvPr id="602" name="Google Shape;602;p44"/>
          <p:cNvSpPr txBox="1"/>
          <p:nvPr/>
        </p:nvSpPr>
        <p:spPr>
          <a:xfrm>
            <a:off x="237625" y="1667900"/>
            <a:ext cx="4129800" cy="3158700"/>
          </a:xfrm>
          <a:prstGeom prst="rect">
            <a:avLst/>
          </a:prstGeom>
          <a:noFill/>
          <a:ln>
            <a:noFill/>
          </a:ln>
        </p:spPr>
        <p:txBody>
          <a:bodyPr anchorCtr="0" anchor="t" bIns="45700" lIns="91425" spcFirstLastPara="1" rIns="91425" wrap="square" tIns="45700">
            <a:noAutofit/>
          </a:bodyPr>
          <a:lstStyle/>
          <a:p>
            <a:pPr indent="-165100" lvl="0" marL="342900" rtl="0" algn="l">
              <a:spcBef>
                <a:spcPts val="560"/>
              </a:spcBef>
              <a:spcAft>
                <a:spcPts val="0"/>
              </a:spcAft>
              <a:buNone/>
            </a:pPr>
            <a:r>
              <a:rPr lang="en">
                <a:solidFill>
                  <a:srgbClr val="000000"/>
                </a:solidFill>
                <a:latin typeface="Lexend"/>
                <a:ea typeface="Lexend"/>
                <a:cs typeface="Lexend"/>
                <a:sym typeface="Lexend"/>
              </a:rPr>
              <a:t>Solution:</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Unsigned 3 = 11</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+3               = 011</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+3 in 6 bits = 000011</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To get -3 in binary, we need to calculate 2’s complement.</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                 So,    111100 (1’s complement)</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                                  +1 (Adding 1)</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____________________________</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     -3 in 6 bits = 111101 (2’s complement)   </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latin typeface="Lexend"/>
                <a:ea typeface="Lexend"/>
                <a:cs typeface="Lexend"/>
                <a:sym typeface="Lexend"/>
              </a:rPr>
              <a:t>                                                           </a:t>
            </a:r>
            <a:r>
              <a:rPr lang="en">
                <a:solidFill>
                  <a:srgbClr val="000000"/>
                </a:solidFill>
                <a:latin typeface="Lexend"/>
                <a:ea typeface="Lexend"/>
                <a:cs typeface="Lexend"/>
                <a:sym typeface="Lexend"/>
              </a:rPr>
              <a:t>-------- (1)</a:t>
            </a:r>
            <a:endParaRPr>
              <a:solidFill>
                <a:srgbClr val="000000"/>
              </a:solidFill>
              <a:latin typeface="Lexend"/>
              <a:ea typeface="Lexend"/>
              <a:cs typeface="Lexend"/>
              <a:sym typeface="Lexend"/>
            </a:endParaRPr>
          </a:p>
        </p:txBody>
      </p:sp>
      <p:sp>
        <p:nvSpPr>
          <p:cNvPr id="603" name="Google Shape;603;p44"/>
          <p:cNvSpPr txBox="1"/>
          <p:nvPr/>
        </p:nvSpPr>
        <p:spPr>
          <a:xfrm>
            <a:off x="4643900" y="1669313"/>
            <a:ext cx="4129800" cy="3158700"/>
          </a:xfrm>
          <a:prstGeom prst="rect">
            <a:avLst/>
          </a:prstGeom>
          <a:noFill/>
          <a:ln>
            <a:noFill/>
          </a:ln>
        </p:spPr>
        <p:txBody>
          <a:bodyPr anchorCtr="0" anchor="t" bIns="45700" lIns="91425" spcFirstLastPara="1" rIns="91425" wrap="square" tIns="45700">
            <a:noAutofit/>
          </a:bodyPr>
          <a:lstStyle/>
          <a:p>
            <a:pPr indent="-165100" lvl="0" marL="342900" rtl="0" algn="l">
              <a:spcBef>
                <a:spcPts val="560"/>
              </a:spcBef>
              <a:spcAft>
                <a:spcPts val="0"/>
              </a:spcAft>
              <a:buNone/>
            </a:pPr>
            <a:r>
              <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Unsigned 6 = 110</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+6               = 0110</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+6 in 6 bits = 000110</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To get -6 in binary, we need to calculate 2’s complement.</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So,    111001 (1’s complement)</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+1 (Adding 1)</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____________________________</a:t>
            </a:r>
            <a:endParaRPr>
              <a:solidFill>
                <a:schemeClr val="dk1"/>
              </a:solidFill>
              <a:latin typeface="Lexend"/>
              <a:ea typeface="Lexend"/>
              <a:cs typeface="Lexend"/>
              <a:sym typeface="Lexend"/>
            </a:endParaRPr>
          </a:p>
          <a:p>
            <a:pPr indent="-165100" lvl="0" marL="342900" rtl="0" algn="l">
              <a:spcBef>
                <a:spcPts val="560"/>
              </a:spcBef>
              <a:spcAft>
                <a:spcPts val="0"/>
              </a:spcAft>
              <a:buNone/>
            </a:pPr>
            <a:r>
              <a:rPr lang="en">
                <a:solidFill>
                  <a:schemeClr val="dk1"/>
                </a:solidFill>
                <a:latin typeface="Lexend"/>
                <a:ea typeface="Lexend"/>
                <a:cs typeface="Lexend"/>
                <a:sym typeface="Lexend"/>
              </a:rPr>
              <a:t>     -6 in 6 bits = 111010 (2’s complement)</a:t>
            </a:r>
            <a:endParaRPr>
              <a:solidFill>
                <a:schemeClr val="dk1"/>
              </a:solidFill>
              <a:latin typeface="Lexend"/>
              <a:ea typeface="Lexend"/>
              <a:cs typeface="Lexend"/>
              <a:sym typeface="Lexend"/>
            </a:endParaRPr>
          </a:p>
          <a:p>
            <a:pPr indent="-165100" lvl="0" marL="342900" rtl="0" algn="l">
              <a:spcBef>
                <a:spcPts val="560"/>
              </a:spcBef>
              <a:spcAft>
                <a:spcPts val="0"/>
              </a:spcAft>
              <a:buNone/>
            </a:pPr>
            <a:r>
              <a:rPr lang="en">
                <a:solidFill>
                  <a:schemeClr val="dk1"/>
                </a:solidFill>
                <a:latin typeface="Lexend"/>
                <a:ea typeface="Lexend"/>
                <a:cs typeface="Lexend"/>
                <a:sym typeface="Lexend"/>
              </a:rPr>
              <a:t>                                                          -------- (2)</a:t>
            </a:r>
            <a:endParaRPr>
              <a:latin typeface="Lexend"/>
              <a:ea typeface="Lexend"/>
              <a:cs typeface="Lexend"/>
              <a:sym typeface="Lexe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45"/>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09" name="Google Shape;609;p4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10" name="Google Shape;610;p4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11" name="Google Shape;611;p45"/>
          <p:cNvSpPr txBox="1"/>
          <p:nvPr/>
        </p:nvSpPr>
        <p:spPr>
          <a:xfrm>
            <a:off x="351900" y="943450"/>
            <a:ext cx="8494200" cy="6771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000">
                <a:solidFill>
                  <a:schemeClr val="dk1"/>
                </a:solidFill>
                <a:latin typeface="Lexend"/>
                <a:ea typeface="Lexend"/>
                <a:cs typeface="Lexend"/>
                <a:sym typeface="Lexend"/>
              </a:rPr>
              <a:t>Add -3 with -6 in 6 bits using 2’s complement number system and justify whether there is overflow or not [cont.]</a:t>
            </a:r>
            <a:endParaRPr sz="2000">
              <a:solidFill>
                <a:schemeClr val="dk1"/>
              </a:solidFill>
              <a:latin typeface="Lexend"/>
              <a:ea typeface="Lexend"/>
              <a:cs typeface="Lexend"/>
              <a:sym typeface="Lexend"/>
            </a:endParaRPr>
          </a:p>
        </p:txBody>
      </p:sp>
      <p:grpSp>
        <p:nvGrpSpPr>
          <p:cNvPr id="612" name="Google Shape;612;p45"/>
          <p:cNvGrpSpPr/>
          <p:nvPr/>
        </p:nvGrpSpPr>
        <p:grpSpPr>
          <a:xfrm>
            <a:off x="50480" y="122879"/>
            <a:ext cx="277873" cy="68400"/>
            <a:chOff x="411700" y="2416840"/>
            <a:chExt cx="277873" cy="68400"/>
          </a:xfrm>
        </p:grpSpPr>
        <p:sp>
          <p:nvSpPr>
            <p:cNvPr id="613" name="Google Shape;613;p4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4" name="Google Shape;614;p4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5" name="Google Shape;615;p4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16" name="Google Shape;616;p45"/>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Sample Math [Cont.]:</a:t>
            </a:r>
            <a:endParaRPr sz="3400">
              <a:latin typeface="Lexend"/>
              <a:ea typeface="Lexend"/>
              <a:cs typeface="Lexend"/>
              <a:sym typeface="Lexend"/>
            </a:endParaRPr>
          </a:p>
        </p:txBody>
      </p:sp>
      <p:sp>
        <p:nvSpPr>
          <p:cNvPr id="617" name="Google Shape;617;p4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18" name="Google Shape;618;p4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cxnSp>
        <p:nvCxnSpPr>
          <p:cNvPr id="619" name="Google Shape;619;p45"/>
          <p:cNvCxnSpPr/>
          <p:nvPr/>
        </p:nvCxnSpPr>
        <p:spPr>
          <a:xfrm>
            <a:off x="129300" y="1666325"/>
            <a:ext cx="8885400" cy="0"/>
          </a:xfrm>
          <a:prstGeom prst="straightConnector1">
            <a:avLst/>
          </a:prstGeom>
          <a:noFill/>
          <a:ln cap="flat" cmpd="sng" w="9525">
            <a:solidFill>
              <a:srgbClr val="A9B0FE"/>
            </a:solidFill>
            <a:prstDash val="solid"/>
            <a:round/>
            <a:headEnd len="med" w="med" type="none"/>
            <a:tailEnd len="med" w="med" type="none"/>
          </a:ln>
        </p:spPr>
      </p:cxnSp>
      <p:sp>
        <p:nvSpPr>
          <p:cNvPr id="620" name="Google Shape;620;p45"/>
          <p:cNvSpPr txBox="1"/>
          <p:nvPr/>
        </p:nvSpPr>
        <p:spPr>
          <a:xfrm>
            <a:off x="237625" y="1667900"/>
            <a:ext cx="8608500" cy="3158700"/>
          </a:xfrm>
          <a:prstGeom prst="rect">
            <a:avLst/>
          </a:prstGeom>
          <a:noFill/>
          <a:ln>
            <a:noFill/>
          </a:ln>
        </p:spPr>
        <p:txBody>
          <a:bodyPr anchorCtr="0" anchor="t" bIns="45700" lIns="91425" spcFirstLastPara="1" rIns="91425" wrap="square" tIns="45700">
            <a:noAutofit/>
          </a:bodyPr>
          <a:lstStyle/>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Now, adding (1) and (2),</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t/>
            </a:r>
            <a:endParaRPr>
              <a:solidFill>
                <a:schemeClr val="dk1"/>
              </a:solidFill>
              <a:latin typeface="Lexend"/>
              <a:ea typeface="Lexend"/>
              <a:cs typeface="Lexend"/>
              <a:sym typeface="Lexend"/>
            </a:endParaRPr>
          </a:p>
          <a:p>
            <a:pPr indent="-165100" lvl="0" marL="17145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111101</a:t>
            </a:r>
            <a:endParaRPr>
              <a:solidFill>
                <a:schemeClr val="dk1"/>
              </a:solidFill>
              <a:latin typeface="Lexend"/>
              <a:ea typeface="Lexend"/>
              <a:cs typeface="Lexend"/>
              <a:sym typeface="Lexend"/>
            </a:endParaRPr>
          </a:p>
          <a:p>
            <a:pPr indent="-165100" lvl="0" marL="17145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111010</a:t>
            </a:r>
            <a:endParaRPr>
              <a:solidFill>
                <a:schemeClr val="dk1"/>
              </a:solidFill>
              <a:latin typeface="Lexend"/>
              <a:ea typeface="Lexend"/>
              <a:cs typeface="Lexend"/>
              <a:sym typeface="Lexend"/>
            </a:endParaRPr>
          </a:p>
          <a:p>
            <a:pPr indent="457200" lvl="0" marL="9144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_______</a:t>
            </a:r>
            <a:endParaRPr>
              <a:solidFill>
                <a:schemeClr val="dk1"/>
              </a:solidFill>
              <a:latin typeface="Lexend"/>
              <a:ea typeface="Lexend"/>
              <a:cs typeface="Lexend"/>
              <a:sym typeface="Lexend"/>
            </a:endParaRPr>
          </a:p>
          <a:p>
            <a:pPr indent="-165100" lvl="0" marL="1714500" rtl="0" algn="l">
              <a:spcBef>
                <a:spcPts val="560"/>
              </a:spcBef>
              <a:spcAft>
                <a:spcPts val="0"/>
              </a:spcAft>
              <a:buNone/>
            </a:pPr>
            <a:r>
              <a:rPr lang="en">
                <a:solidFill>
                  <a:srgbClr val="FF0000"/>
                </a:solidFill>
                <a:latin typeface="Lexend"/>
                <a:ea typeface="Lexend"/>
                <a:cs typeface="Lexend"/>
                <a:sym typeface="Lexend"/>
              </a:rPr>
              <a:t>1 </a:t>
            </a:r>
            <a:r>
              <a:rPr lang="en">
                <a:solidFill>
                  <a:schemeClr val="dk1"/>
                </a:solidFill>
                <a:latin typeface="Lexend"/>
                <a:ea typeface="Lexend"/>
                <a:cs typeface="Lexend"/>
                <a:sym typeface="Lexend"/>
              </a:rPr>
              <a:t>110111</a:t>
            </a:r>
            <a:endParaRPr>
              <a:solidFill>
                <a:schemeClr val="dk1"/>
              </a:solidFill>
              <a:latin typeface="Lexend"/>
              <a:ea typeface="Lexend"/>
              <a:cs typeface="Lexend"/>
              <a:sym typeface="Lexend"/>
            </a:endParaRPr>
          </a:p>
          <a:p>
            <a:pPr indent="0" lvl="0" marL="0" rtl="0" algn="l">
              <a:spcBef>
                <a:spcPts val="560"/>
              </a:spcBef>
              <a:spcAft>
                <a:spcPts val="0"/>
              </a:spcAft>
              <a:buNone/>
            </a:pPr>
            <a:r>
              <a:t/>
            </a:r>
            <a:endParaRPr>
              <a:solidFill>
                <a:schemeClr val="dk1"/>
              </a:solidFill>
              <a:latin typeface="Lexend"/>
              <a:ea typeface="Lexend"/>
              <a:cs typeface="Lexend"/>
              <a:sym typeface="Lexend"/>
            </a:endParaRPr>
          </a:p>
          <a:p>
            <a:pPr indent="-165100" lvl="0" marL="342900" rtl="0" algn="l">
              <a:spcBef>
                <a:spcPts val="560"/>
              </a:spcBef>
              <a:spcAft>
                <a:spcPts val="0"/>
              </a:spcAft>
              <a:buNone/>
            </a:pPr>
            <a:r>
              <a:rPr lang="en">
                <a:solidFill>
                  <a:schemeClr val="dk1"/>
                </a:solidFill>
                <a:latin typeface="Lexend"/>
                <a:ea typeface="Lexend"/>
                <a:cs typeface="Lexend"/>
                <a:sym typeface="Lexend"/>
              </a:rPr>
              <a:t>Ignoring the carry, final result is 110111</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t/>
            </a:r>
            <a:endParaRPr>
              <a:solidFill>
                <a:schemeClr val="dk1"/>
              </a:solidFill>
              <a:latin typeface="Lexend"/>
              <a:ea typeface="Lexend"/>
              <a:cs typeface="Lexend"/>
              <a:sym typeface="Lexend"/>
            </a:endParaRPr>
          </a:p>
          <a:p>
            <a:pPr indent="0" lvl="0" marL="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Here, we are adding two negative numbers and the result is also a negative number. Hence, </a:t>
            </a:r>
            <a:r>
              <a:rPr lang="en">
                <a:solidFill>
                  <a:schemeClr val="dk1"/>
                </a:solidFill>
                <a:latin typeface="Lexend"/>
                <a:ea typeface="Lexend"/>
                <a:cs typeface="Lexend"/>
                <a:sym typeface="Lexend"/>
              </a:rPr>
              <a:t>t</a:t>
            </a:r>
            <a:r>
              <a:rPr lang="en">
                <a:solidFill>
                  <a:schemeClr val="dk1"/>
                </a:solidFill>
                <a:latin typeface="Lexend"/>
                <a:ea typeface="Lexend"/>
                <a:cs typeface="Lexend"/>
                <a:sym typeface="Lexend"/>
              </a:rPr>
              <a:t>here is no overflow.</a:t>
            </a:r>
            <a:endParaRPr>
              <a:solidFill>
                <a:schemeClr val="dk1"/>
              </a:solidFill>
              <a:latin typeface="Lexend"/>
              <a:ea typeface="Lexend"/>
              <a:cs typeface="Lexend"/>
              <a:sym typeface="Lexend"/>
            </a:endParaRPr>
          </a:p>
          <a:p>
            <a:pPr indent="-165100" lvl="0" marL="342900" rtl="0" algn="l">
              <a:spcBef>
                <a:spcPts val="560"/>
              </a:spcBef>
              <a:spcAft>
                <a:spcPts val="0"/>
              </a:spcAft>
              <a:buNone/>
            </a:pPr>
            <a:r>
              <a:t/>
            </a:r>
            <a:endParaRPr>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