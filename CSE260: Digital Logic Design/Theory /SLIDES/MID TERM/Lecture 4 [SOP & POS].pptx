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Lexend Light"/>
      <p:regular r:id="rId22"/>
      <p:bold r:id="rId23"/>
    </p:embeddedFont>
    <p:embeddedFont>
      <p:font typeface="Lexend Medium"/>
      <p:regular r:id="rId24"/>
      <p:bold r:id="rId25"/>
    </p:embeddedFont>
    <p:embeddedFont>
      <p:font typeface="Lexen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CDC1C56-3009-4F0C-8B00-F08DD6F3BDA8}">
  <a:tblStyle styleId="{1CDC1C56-3009-4F0C-8B00-F08DD6F3BDA8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LexendLight-regular.fntdata"/><Relationship Id="rId21" Type="http://schemas.openxmlformats.org/officeDocument/2006/relationships/slide" Target="slides/slide15.xml"/><Relationship Id="rId24" Type="http://schemas.openxmlformats.org/officeDocument/2006/relationships/font" Target="fonts/LexendMedium-regular.fntdata"/><Relationship Id="rId23" Type="http://schemas.openxmlformats.org/officeDocument/2006/relationships/font" Target="fonts/LexendLigh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exend-regular.fntdata"/><Relationship Id="rId25" Type="http://schemas.openxmlformats.org/officeDocument/2006/relationships/font" Target="fonts/LexendMedium-bold.fntdata"/><Relationship Id="rId27" Type="http://schemas.openxmlformats.org/officeDocument/2006/relationships/font" Target="fonts/Lexen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1df1bc67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61df1bc67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1df1bc67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61df1bc67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1df1bc67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1df1bc67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1df1bc679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61df1bc67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1df1bc679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61df1bc679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61df1bc679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61df1bc679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61df1bc679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61df1bc679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61495c2e2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61495c2e2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61df1bc679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61df1bc679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61df1bc679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61df1bc679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6e9f6bb924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6e9f6bb924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61df1bc679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61df1bc679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61df1bc679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61df1bc679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61df1bc679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61df1bc679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>
                <a:latin typeface="Lexend"/>
                <a:ea typeface="Lexend"/>
                <a:cs typeface="Lexend"/>
                <a:sym typeface="Lexend"/>
              </a:rPr>
              <a:t>Lecture 4</a:t>
            </a:r>
            <a:endParaRPr sz="6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SOP &amp; POS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0" y="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Engineering, BRAC University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321450" y="4484225"/>
            <a:ext cx="8501100" cy="1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latin typeface="Lexend"/>
                <a:ea typeface="Lexend"/>
                <a:cs typeface="Lexend"/>
                <a:sym typeface="Lexend"/>
              </a:rPr>
              <a:t>CSE260 : Digital Logic Design</a:t>
            </a:r>
            <a:endParaRPr sz="5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1688" y="2254700"/>
            <a:ext cx="3580637" cy="183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3515813"/>
            <a:ext cx="1699524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5">
            <a:alphaModFix amt="40000"/>
          </a:blip>
          <a:srcRect b="11308" l="0" r="0" t="0"/>
          <a:stretch/>
        </p:blipFill>
        <p:spPr>
          <a:xfrm>
            <a:off x="0" y="811800"/>
            <a:ext cx="5345652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 rotWithShape="1">
          <a:blip r:embed="rId5">
            <a:alphaModFix amt="40000"/>
          </a:blip>
          <a:srcRect b="11308" l="0" r="0" t="0"/>
          <a:stretch/>
        </p:blipFill>
        <p:spPr>
          <a:xfrm>
            <a:off x="0" y="2513976"/>
            <a:ext cx="5345652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1850025"/>
            <a:ext cx="1699524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F4BCAE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0" name="Google Shape;70;p14"/>
          <p:cNvSpPr txBox="1"/>
          <p:nvPr/>
        </p:nvSpPr>
        <p:spPr>
          <a:xfrm>
            <a:off x="328350" y="766838"/>
            <a:ext cx="86307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FF"/>
                </a:solidFill>
                <a:latin typeface="Lexend Medium"/>
                <a:ea typeface="Lexend Medium"/>
                <a:cs typeface="Lexend Medium"/>
                <a:sym typeface="Lexend Medium"/>
              </a:rPr>
              <a:t>Sum-of-Products (SOP) Expression: </a:t>
            </a:r>
            <a:endParaRPr sz="2200">
              <a:solidFill>
                <a:srgbClr val="0000FF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product term or a logical sum (OR) of several product terms.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  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x+yz', xy'+x'yz, AB+A'B’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0000FF"/>
                </a:solidFill>
                <a:latin typeface="Lexend Medium"/>
                <a:ea typeface="Lexend Medium"/>
                <a:cs typeface="Lexend Medium"/>
                <a:sym typeface="Lexend Medium"/>
              </a:rPr>
              <a:t>Product-of-Sums (POS) Expression: </a:t>
            </a:r>
            <a:endParaRPr sz="2200">
              <a:solidFill>
                <a:srgbClr val="0000FF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sum term or a logical product  (AND) of several sum terms.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  x(y+z'), (x+y')(x'+y+z), (A+B)(A'+B’)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1" name="Google Shape;71;p1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2" name="Google Shape;72;p1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" name="Google Shape;75;p14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SOP &amp; POS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85" name="Google Shape;85;p15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2169799"/>
            <a:ext cx="1699524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86" name="Google Shape;86;p15"/>
          <p:cNvSpPr txBox="1"/>
          <p:nvPr/>
        </p:nvSpPr>
        <p:spPr>
          <a:xfrm>
            <a:off x="328350" y="766838"/>
            <a:ext cx="86307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Every boolean expression can either be expressed as sum-of-products or  product-of-sums expression.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 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SOP:    x’y + xy’ + xyz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POS:    (x + y’)(x’ + y)(x’ + z’)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" name="Google Shape;87;p1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8" name="Google Shape;88;p1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15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SOP &amp; POS [Cont.]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2" name="Google Shape;102;p16"/>
          <p:cNvGrpSpPr/>
          <p:nvPr/>
        </p:nvGrpSpPr>
        <p:grpSpPr>
          <a:xfrm>
            <a:off x="56107" y="1249084"/>
            <a:ext cx="5812880" cy="1277665"/>
            <a:chOff x="5351018" y="4955476"/>
            <a:chExt cx="4003085" cy="885422"/>
          </a:xfrm>
        </p:grpSpPr>
        <p:sp>
          <p:nvSpPr>
            <p:cNvPr id="103" name="Google Shape;103;p16"/>
            <p:cNvSpPr/>
            <p:nvPr/>
          </p:nvSpPr>
          <p:spPr>
            <a:xfrm>
              <a:off x="5411982" y="5018979"/>
              <a:ext cx="3885217" cy="761341"/>
            </a:xfrm>
            <a:custGeom>
              <a:rect b="b" l="l" r="r" t="t"/>
              <a:pathLst>
                <a:path extrusionOk="0" h="1253236" w="2932239">
                  <a:moveTo>
                    <a:pt x="0" y="0"/>
                  </a:moveTo>
                  <a:lnTo>
                    <a:pt x="2932240" y="0"/>
                  </a:lnTo>
                  <a:lnTo>
                    <a:pt x="2932240" y="1253236"/>
                  </a:lnTo>
                  <a:lnTo>
                    <a:pt x="0" y="1253236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104" name="Google Shape;104;p16"/>
            <p:cNvSpPr/>
            <p:nvPr/>
          </p:nvSpPr>
          <p:spPr>
            <a:xfrm>
              <a:off x="5351018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105" name="Google Shape;105;p16"/>
            <p:cNvSpPr/>
            <p:nvPr/>
          </p:nvSpPr>
          <p:spPr>
            <a:xfrm>
              <a:off x="5351018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9232183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107" name="Google Shape;107;p16"/>
            <p:cNvSpPr/>
            <p:nvPr/>
          </p:nvSpPr>
          <p:spPr>
            <a:xfrm>
              <a:off x="9232183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</p:grpSp>
      <p:sp>
        <p:nvSpPr>
          <p:cNvPr id="108" name="Google Shape;108;p16"/>
          <p:cNvSpPr/>
          <p:nvPr/>
        </p:nvSpPr>
        <p:spPr>
          <a:xfrm>
            <a:off x="4883091" y="2310261"/>
            <a:ext cx="263412" cy="324213"/>
          </a:xfrm>
          <a:custGeom>
            <a:rect b="b" l="l" r="r" t="t"/>
            <a:pathLst>
              <a:path extrusionOk="0" h="19170" w="15575">
                <a:moveTo>
                  <a:pt x="0" y="0"/>
                </a:moveTo>
                <a:lnTo>
                  <a:pt x="3354" y="19170"/>
                </a:lnTo>
                <a:lnTo>
                  <a:pt x="7668" y="11502"/>
                </a:lnTo>
                <a:lnTo>
                  <a:pt x="15575" y="8866"/>
                </a:lnTo>
                <a:close/>
              </a:path>
            </a:pathLst>
          </a:custGeom>
          <a:solidFill>
            <a:srgbClr val="F4F2F2"/>
          </a:solidFill>
          <a:ln cap="flat" cmpd="sng" w="9525">
            <a:solidFill>
              <a:srgbClr val="28C84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9" name="Google Shape;109;p16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MIN &amp; MAX TERM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17"/>
          <p:cNvPicPr preferRelativeResize="0"/>
          <p:nvPr/>
        </p:nvPicPr>
        <p:blipFill rotWithShape="1">
          <a:blip r:embed="rId3">
            <a:alphaModFix amt="40000"/>
          </a:blip>
          <a:srcRect b="11308" l="0" r="0" t="0"/>
          <a:stretch/>
        </p:blipFill>
        <p:spPr>
          <a:xfrm>
            <a:off x="0" y="811800"/>
            <a:ext cx="3556277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7"/>
          <p:cNvPicPr preferRelativeResize="0"/>
          <p:nvPr/>
        </p:nvPicPr>
        <p:blipFill rotWithShape="1">
          <a:blip r:embed="rId3">
            <a:alphaModFix amt="40000"/>
          </a:blip>
          <a:srcRect b="11308" l="0" r="0" t="0"/>
          <a:stretch/>
        </p:blipFill>
        <p:spPr>
          <a:xfrm>
            <a:off x="0" y="2971175"/>
            <a:ext cx="4095325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328350" y="766838"/>
            <a:ext cx="86307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Minterms are sum terms.</a:t>
            </a:r>
            <a:endParaRPr sz="20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Boolean functions, the minterms of a  function are the terms for which the result  is 1.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Boolean functions can be expressed as sum-  of-Minterms.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Maxterms are Product terms.</a:t>
            </a:r>
            <a:endParaRPr sz="20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Boolean functions, the maxterms of a  function are the terms for which the result  is 0.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Boolean functions can be expressed as  Products-of-Maxterms.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0" name="Google Shape;120;p1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21" name="Google Shape;121;p1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" name="Google Shape;124;p17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MIN &amp; MAX TERM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328350" y="766838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5" name="Google Shape;135;p1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36" name="Google Shape;136;p1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8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MIN &amp; MAX TERM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42" name="Google Shape;142;p18"/>
          <p:cNvGraphicFramePr/>
          <p:nvPr/>
        </p:nvGraphicFramePr>
        <p:xfrm>
          <a:off x="514498" y="10559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{1CDC1C56-3009-4F0C-8B00-F08DD6F3BDA8}</a:tableStyleId>
              </a:tblPr>
              <a:tblGrid>
                <a:gridCol w="457200"/>
                <a:gridCol w="457200"/>
                <a:gridCol w="533400"/>
                <a:gridCol w="609600"/>
                <a:gridCol w="8172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3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43" name="Google Shape;143;p18"/>
          <p:cNvPicPr preferRelativeResize="0"/>
          <p:nvPr/>
        </p:nvPicPr>
        <p:blipFill rotWithShape="1">
          <a:blip r:embed="rId4">
            <a:alphaModFix amt="40000"/>
          </a:blip>
          <a:srcRect b="11308" l="0" r="0" t="0"/>
          <a:stretch/>
        </p:blipFill>
        <p:spPr>
          <a:xfrm>
            <a:off x="4122556" y="1171050"/>
            <a:ext cx="1837026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8"/>
          <p:cNvPicPr preferRelativeResize="0"/>
          <p:nvPr/>
        </p:nvPicPr>
        <p:blipFill rotWithShape="1">
          <a:blip r:embed="rId5">
            <a:alphaModFix/>
          </a:blip>
          <a:srcRect b="10185" l="0" r="0" t="0"/>
          <a:stretch/>
        </p:blipFill>
        <p:spPr>
          <a:xfrm>
            <a:off x="4251450" y="2636150"/>
            <a:ext cx="1790477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4251445" y="1171056"/>
            <a:ext cx="4221000" cy="26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" sz="2400" u="none" cap="none" strike="noStrik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Min Term</a:t>
            </a:r>
            <a:r>
              <a:rPr i="0" lang="en" sz="2400" u="none" cap="none" strike="noStrik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0" lang="en" sz="2400" u="none" cap="none" strike="noStrik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0,1,4,5  [000,001,100,101]  F=∑(0,1,4,5)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20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" sz="24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Max Terms :</a:t>
            </a: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2,3,6,7  [010,011,110,111]  F=Π(2,3,6,7)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53" name="Google Shape;153;p19"/>
          <p:cNvSpPr txBox="1"/>
          <p:nvPr/>
        </p:nvSpPr>
        <p:spPr>
          <a:xfrm>
            <a:off x="328350" y="766838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4" name="Google Shape;154;p1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55" name="Google Shape;155;p1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8" name="Google Shape;158;p19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MIN-SOP and MAX-POS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0" name="Google Shape;160;p19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3623650" y="2374950"/>
            <a:ext cx="149740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3623650" y="1171050"/>
            <a:ext cx="5397600" cy="29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" sz="2000" u="none" cap="none" strike="noStrik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Min Terms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0" lang="en" sz="2000" u="none" cap="none" strike="noStrik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r>
              <a:rPr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0,1,4,5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[</a:t>
            </a:r>
            <a:r>
              <a:rPr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000,001,100,101]  </a:t>
            </a:r>
            <a:endParaRPr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F=∑(0,1,4,5)</a:t>
            </a:r>
            <a:endParaRPr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F=A’B’C’+A’B’C+AB’C’+AB’C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20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" sz="20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Max Terms :</a:t>
            </a:r>
            <a:r>
              <a:rPr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2,3,6,7  [010,011,110,111]  F=Π(2,3,6,7)</a:t>
            </a:r>
            <a:endParaRPr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2032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F=(A+B’+C)(A+B’+C’)(A’+B’+C) (A’+B’+C’)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2032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20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2" name="Google Shape;162;p19"/>
          <p:cNvPicPr preferRelativeResize="0"/>
          <p:nvPr/>
        </p:nvPicPr>
        <p:blipFill rotWithShape="1">
          <a:blip r:embed="rId5">
            <a:alphaModFix amt="40000"/>
          </a:blip>
          <a:srcRect b="11308" l="0" r="0" t="0"/>
          <a:stretch/>
        </p:blipFill>
        <p:spPr>
          <a:xfrm>
            <a:off x="3623650" y="1173701"/>
            <a:ext cx="1438548" cy="33720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4" name="Google Shape;164;p19"/>
          <p:cNvGraphicFramePr/>
          <p:nvPr/>
        </p:nvGraphicFramePr>
        <p:xfrm>
          <a:off x="514498" y="10559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{1CDC1C56-3009-4F0C-8B00-F08DD6F3BDA8}</a:tableStyleId>
              </a:tblPr>
              <a:tblGrid>
                <a:gridCol w="457200"/>
                <a:gridCol w="457200"/>
                <a:gridCol w="533400"/>
                <a:gridCol w="609600"/>
                <a:gridCol w="8172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3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65" name="Google Shape;165;p19"/>
          <p:cNvSpPr txBox="1"/>
          <p:nvPr/>
        </p:nvSpPr>
        <p:spPr>
          <a:xfrm>
            <a:off x="6197400" y="3371525"/>
            <a:ext cx="2568300" cy="1354500"/>
          </a:xfrm>
          <a:prstGeom prst="rect">
            <a:avLst/>
          </a:prstGeom>
          <a:noFill/>
          <a:ln cap="flat" cmpd="sng" w="9525">
            <a:solidFill>
              <a:srgbClr val="DCDF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Max/POS</a:t>
            </a:r>
            <a:endParaRPr b="1" sz="19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6FC0"/>
                </a:solidFill>
                <a:latin typeface="Lexend"/>
                <a:ea typeface="Lexend"/>
                <a:cs typeface="Lexend"/>
                <a:sym typeface="Lexend"/>
              </a:rPr>
              <a:t>1-Prime, 0-No prime</a:t>
            </a:r>
            <a:endParaRPr sz="1900">
              <a:solidFill>
                <a:srgbClr val="006FC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6FC0"/>
                </a:solidFill>
                <a:latin typeface="Lexend"/>
                <a:ea typeface="Lexend"/>
                <a:cs typeface="Lexend"/>
                <a:sym typeface="Lexend"/>
              </a:rPr>
              <a:t>OR among literals</a:t>
            </a:r>
            <a:endParaRPr sz="1900">
              <a:solidFill>
                <a:srgbClr val="006FC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6FC0"/>
                </a:solidFill>
                <a:latin typeface="Lexend"/>
                <a:ea typeface="Lexend"/>
                <a:cs typeface="Lexend"/>
                <a:sym typeface="Lexend"/>
              </a:rPr>
              <a:t>AND among terms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3519750" y="3371525"/>
            <a:ext cx="2568300" cy="1354500"/>
          </a:xfrm>
          <a:prstGeom prst="rect">
            <a:avLst/>
          </a:prstGeom>
          <a:noFill/>
          <a:ln cap="flat" cmpd="sng" w="9525">
            <a:solidFill>
              <a:srgbClr val="DCDF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" sz="19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Min/SOP</a:t>
            </a:r>
            <a:endParaRPr b="1" sz="19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 sz="1900">
                <a:solidFill>
                  <a:srgbClr val="006FC0"/>
                </a:solidFill>
                <a:latin typeface="Lexend"/>
                <a:ea typeface="Lexend"/>
                <a:cs typeface="Lexend"/>
                <a:sym typeface="Lexend"/>
              </a:rPr>
              <a:t>0-Prime, 1-No prime</a:t>
            </a:r>
            <a:endParaRPr sz="1900">
              <a:solidFill>
                <a:srgbClr val="006FC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 sz="1900">
                <a:solidFill>
                  <a:srgbClr val="006FC0"/>
                </a:solidFill>
                <a:latin typeface="Lexend"/>
                <a:ea typeface="Lexend"/>
                <a:cs typeface="Lexend"/>
                <a:sym typeface="Lexend"/>
              </a:rPr>
              <a:t>AND among literals</a:t>
            </a:r>
            <a:endParaRPr sz="1900">
              <a:solidFill>
                <a:srgbClr val="006FC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 sz="1900">
                <a:solidFill>
                  <a:srgbClr val="006FC0"/>
                </a:solidFill>
                <a:latin typeface="Lexend"/>
                <a:ea typeface="Lexend"/>
                <a:cs typeface="Lexend"/>
                <a:sym typeface="Lexend"/>
              </a:rPr>
              <a:t>OR among terms</a:t>
            </a:r>
            <a:endParaRPr sz="19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5" name="Google Shape;175;p20"/>
          <p:cNvGrpSpPr/>
          <p:nvPr/>
        </p:nvGrpSpPr>
        <p:grpSpPr>
          <a:xfrm>
            <a:off x="56322" y="1249115"/>
            <a:ext cx="8415686" cy="1849736"/>
            <a:chOff x="5351018" y="4955476"/>
            <a:chExt cx="4003085" cy="885422"/>
          </a:xfrm>
        </p:grpSpPr>
        <p:sp>
          <p:nvSpPr>
            <p:cNvPr id="176" name="Google Shape;176;p20"/>
            <p:cNvSpPr/>
            <p:nvPr/>
          </p:nvSpPr>
          <p:spPr>
            <a:xfrm>
              <a:off x="5411982" y="5018979"/>
              <a:ext cx="3885217" cy="761341"/>
            </a:xfrm>
            <a:custGeom>
              <a:rect b="b" l="l" r="r" t="t"/>
              <a:pathLst>
                <a:path extrusionOk="0" h="1253236" w="2932239">
                  <a:moveTo>
                    <a:pt x="0" y="0"/>
                  </a:moveTo>
                  <a:lnTo>
                    <a:pt x="2932240" y="0"/>
                  </a:lnTo>
                  <a:lnTo>
                    <a:pt x="2932240" y="1253236"/>
                  </a:lnTo>
                  <a:lnTo>
                    <a:pt x="0" y="1253236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177" name="Google Shape;177;p20"/>
            <p:cNvSpPr/>
            <p:nvPr/>
          </p:nvSpPr>
          <p:spPr>
            <a:xfrm>
              <a:off x="5351018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178" name="Google Shape;178;p20"/>
            <p:cNvSpPr/>
            <p:nvPr/>
          </p:nvSpPr>
          <p:spPr>
            <a:xfrm>
              <a:off x="5351018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179" name="Google Shape;179;p20"/>
            <p:cNvSpPr/>
            <p:nvPr/>
          </p:nvSpPr>
          <p:spPr>
            <a:xfrm>
              <a:off x="9232183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180" name="Google Shape;180;p20"/>
            <p:cNvSpPr/>
            <p:nvPr/>
          </p:nvSpPr>
          <p:spPr>
            <a:xfrm>
              <a:off x="9232183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</p:grpSp>
      <p:sp>
        <p:nvSpPr>
          <p:cNvPr id="181" name="Google Shape;181;p20"/>
          <p:cNvSpPr/>
          <p:nvPr/>
        </p:nvSpPr>
        <p:spPr>
          <a:xfrm>
            <a:off x="2982066" y="2774636"/>
            <a:ext cx="263412" cy="324213"/>
          </a:xfrm>
          <a:custGeom>
            <a:rect b="b" l="l" r="r" t="t"/>
            <a:pathLst>
              <a:path extrusionOk="0" h="19170" w="15575">
                <a:moveTo>
                  <a:pt x="0" y="0"/>
                </a:moveTo>
                <a:lnTo>
                  <a:pt x="3354" y="19170"/>
                </a:lnTo>
                <a:lnTo>
                  <a:pt x="7668" y="11502"/>
                </a:lnTo>
                <a:lnTo>
                  <a:pt x="15575" y="8866"/>
                </a:lnTo>
                <a:close/>
              </a:path>
            </a:pathLst>
          </a:custGeom>
          <a:solidFill>
            <a:srgbClr val="F4F2F2"/>
          </a:solidFill>
          <a:ln cap="flat" cmpd="sng" w="9525">
            <a:solidFill>
              <a:srgbClr val="28C84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82" name="Google Shape;182;p20"/>
          <p:cNvSpPr txBox="1"/>
          <p:nvPr/>
        </p:nvSpPr>
        <p:spPr>
          <a:xfrm>
            <a:off x="208725" y="351875"/>
            <a:ext cx="8501100" cy="19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Conversion of Function to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SOP &amp; POS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2" name="Google Shape;192;p21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193" name="Google Shape;193;p2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96" name="Google Shape;196;p21"/>
          <p:cNvPicPr preferRelativeResize="0"/>
          <p:nvPr/>
        </p:nvPicPr>
        <p:blipFill rotWithShape="1">
          <a:blip r:embed="rId4">
            <a:alphaModFix amt="40000"/>
          </a:blip>
          <a:srcRect b="11308" l="0" r="0" t="0"/>
          <a:stretch/>
        </p:blipFill>
        <p:spPr>
          <a:xfrm>
            <a:off x="376400" y="1657825"/>
            <a:ext cx="100867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354925" y="1557600"/>
            <a:ext cx="83991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Steps</a:t>
            </a:r>
            <a:endParaRPr sz="24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Check if each term contains all variable,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–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not then  AND (x+x’) if x is the missing term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Remove the duplicates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How to Convert into SOP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4" name="Google Shape;204;p22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810650"/>
            <a:ext cx="156475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205" name="Google Shape;20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328350" y="766838"/>
            <a:ext cx="8630700" cy="47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F(A,B,C)=A+B’C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	=A (B+B’) (C+C’) + B’C(A+A’)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	=(AB+AB’) (C+C’) + B’C(A+A’)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	=AB(C+C’) + AB’(C+C’) + B’C(A+A’)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	=ABC + ABC’ + </a:t>
            </a:r>
            <a:r>
              <a:rPr i="1" lang="en" sz="2000">
                <a:solidFill>
                  <a:srgbClr val="FF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AB’C </a:t>
            </a: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+ AB’C’ + </a:t>
            </a:r>
            <a:r>
              <a:rPr i="1" lang="en" sz="2000">
                <a:solidFill>
                  <a:srgbClr val="FF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B</a:t>
            </a:r>
            <a:r>
              <a:rPr i="1" lang="en" sz="2000">
                <a:solidFill>
                  <a:srgbClr val="FF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’CA </a:t>
            </a: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+ B’CA’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Now, removing duplicates and writing the literals in order,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	=ABC + ABC’ + AB’C + AB’C’ + A’B’C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= 111, 110, 101, 100, 001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	=∑(1,4,5,6,7)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grpSp>
        <p:nvGrpSpPr>
          <p:cNvPr id="208" name="Google Shape;208;p2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09" name="Google Shape;209;p2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2" name="Google Shape;212;p22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to Convert into SOP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4" name="Google Shape;224;p23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225" name="Google Shape;225;p2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28" name="Google Shape;228;p23"/>
          <p:cNvPicPr preferRelativeResize="0"/>
          <p:nvPr/>
        </p:nvPicPr>
        <p:blipFill rotWithShape="1">
          <a:blip r:embed="rId4">
            <a:alphaModFix amt="40000"/>
          </a:blip>
          <a:srcRect b="11308" l="0" r="0" t="0"/>
          <a:stretch/>
        </p:blipFill>
        <p:spPr>
          <a:xfrm>
            <a:off x="376400" y="1657825"/>
            <a:ext cx="100867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 txBox="1"/>
          <p:nvPr/>
        </p:nvSpPr>
        <p:spPr>
          <a:xfrm>
            <a:off x="354925" y="1557600"/>
            <a:ext cx="83991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Steps</a:t>
            </a:r>
            <a:endParaRPr sz="24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6035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exend"/>
              <a:buAutoNum type="arabicPeriod"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Apply distributive law </a:t>
            </a:r>
            <a:r>
              <a:rPr b="1" lang="en" sz="2300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(x+yz)=(x+y)(x+z)</a:t>
            </a: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if possible at every stage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6035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exend"/>
              <a:buAutoNum type="arabicPeriod"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then terms, like x, are missing, append the term by </a:t>
            </a:r>
            <a:r>
              <a:rPr lang="en" sz="2300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OR </a:t>
            </a:r>
            <a:r>
              <a:rPr b="1" lang="en" sz="2300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x.x’</a:t>
            </a:r>
            <a:endParaRPr b="1" sz="2300">
              <a:solidFill>
                <a:srgbClr val="FF6B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6035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exend"/>
              <a:buAutoNum type="arabicPeriod"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Check if any sum term is missing any variable, if so then OR missing variable. Again apply distributive law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How to Convert into POS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6" name="Google Shape;23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38" name="Google Shape;238;p24"/>
          <p:cNvSpPr txBox="1"/>
          <p:nvPr/>
        </p:nvSpPr>
        <p:spPr>
          <a:xfrm>
            <a:off x="328350" y="766838"/>
            <a:ext cx="8630700" cy="3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F(A,B,C)	=A+B’C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(A+B’)(A+C)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(A+B’+CC’)(A+C+BB’)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" sz="23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(A+B’+C)</a:t>
            </a: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(A+B’+C’)(A+C+B)</a:t>
            </a:r>
            <a:r>
              <a:rPr lang="en" sz="23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(A+C+B’)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Now, removing duplicates and writing the literals in order,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(A+B’+C)(A+B’+C’)(A+B+C)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010, 011, 000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π (2,3,0)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π (0,2,3)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9" name="Google Shape;239;p2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40" name="Google Shape;240;p2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3" name="Google Shape;243;p24"/>
          <p:cNvSpPr txBox="1"/>
          <p:nvPr/>
        </p:nvSpPr>
        <p:spPr>
          <a:xfrm>
            <a:off x="209775" y="113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to Convert into POS: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5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1174000"/>
            <a:ext cx="1564752" cy="3231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253" name="Google Shape;253;p2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54" name="Google Shape;254;p25"/>
          <p:cNvSpPr txBox="1"/>
          <p:nvPr/>
        </p:nvSpPr>
        <p:spPr>
          <a:xfrm>
            <a:off x="328350" y="766838"/>
            <a:ext cx="8630700" cy="59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SOP for F(w,x,y,z) =wy+x’z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F(w,x,y,z)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wy + x’z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wy[(x+x’)(z+z’)] + x’z[(w+w’)(y+y’)]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wy(xz+xz’+x’z+x’z’) + x’z(wy+wy’+w’y+w’y’)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wyxz + wyxz’ + wyx’z + wyx’z’ + x’zwy + x’zwy’ + x’zw’y + x’zw’y’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wxyz + wxyz’ + wx’yz + wx’yz’ + wx’y’z + w’x’yz + w’x’y’z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1111,1110,1011,1010,1001,0011,0001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∑(15,14,11,10,9,3,1)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∑(1,3,9,10,11,14,15)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grpSp>
        <p:nvGrpSpPr>
          <p:cNvPr id="255" name="Google Shape;255;p2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56" name="Google Shape;256;p2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9" name="Google Shape;259;p25"/>
          <p:cNvSpPr txBox="1"/>
          <p:nvPr/>
        </p:nvSpPr>
        <p:spPr>
          <a:xfrm>
            <a:off x="209775" y="113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7" name="Google Shape;26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6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945400"/>
            <a:ext cx="1564752" cy="3231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269" name="Google Shape;269;p2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70" name="Google Shape;270;p26"/>
          <p:cNvSpPr txBox="1"/>
          <p:nvPr/>
        </p:nvSpPr>
        <p:spPr>
          <a:xfrm>
            <a:off x="328350" y="538238"/>
            <a:ext cx="86307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POS for F(w,x,y,z) =wy+x’z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F(w,x,y,z) 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wy+x’z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(wy+x’)(wy+z)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(x’+w)(x’+y)(w+z)(y+z)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(x’+w+yy’)(x’+y+zz’)(w+z+xx’)(y+z+xx’)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(x’+w+y)(x’+w+y’)(x’+y+z)(x’+y+z’)(w+z+x)(w+z+x’)(y+z+x)(y+z+x’)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(x’+w+y+zz’)(x’+w+y’+zz’)(x’+y+z+ww’)(x’+y+z’+ww’)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(w+z+x+yy’)(w+z+x’+yy’)(y+z+x+ww’)(y+z+x’+ww’)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</a:t>
            </a:r>
            <a:r>
              <a:rPr lang="en" sz="15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w+x’+y+z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5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w+x’+y+z’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500">
                <a:solidFill>
                  <a:srgbClr val="980000"/>
                </a:solidFill>
                <a:latin typeface="Lexend"/>
                <a:ea typeface="Lexend"/>
                <a:cs typeface="Lexend"/>
                <a:sym typeface="Lexend"/>
              </a:rPr>
              <a:t>w+x’+y’+z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)(w+x’+y’+z’)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5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(w+x’+y+z)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500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w’+x’+y+z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5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w+x’+y+z’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)(w’+x’+y+z’)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500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w+x+y+z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)(w+x+y’+z)</a:t>
            </a:r>
            <a:r>
              <a:rPr lang="en" sz="15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(w+x’+y+z)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500">
                <a:solidFill>
                  <a:srgbClr val="980000"/>
                </a:solidFill>
                <a:latin typeface="Lexend"/>
                <a:ea typeface="Lexend"/>
                <a:cs typeface="Lexend"/>
                <a:sym typeface="Lexend"/>
              </a:rPr>
              <a:t>w+x’+y’+z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500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w+x+y+z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)(w’+x+y+z)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5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w+x’+y+z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500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w’+x’+y+z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</a:t>
            </a:r>
            <a:r>
              <a:rPr lang="en" sz="15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w+x’+y+z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5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w+x’+y+z’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500">
                <a:solidFill>
                  <a:srgbClr val="980000"/>
                </a:solidFill>
                <a:latin typeface="Lexend"/>
                <a:ea typeface="Lexend"/>
                <a:cs typeface="Lexend"/>
                <a:sym typeface="Lexend"/>
              </a:rPr>
              <a:t>w+x’+y’+z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)(w+x’+y’+z’)(</a:t>
            </a:r>
            <a:r>
              <a:rPr lang="en" sz="1500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w’+x’+y+z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(w’+x’+y+z’)(</a:t>
            </a:r>
            <a:r>
              <a:rPr lang="en" sz="1500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w+x+y+z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)(w+x+y’+z)(w’+x+y+z)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0100,0101,0110,0111,1100,1101,0000,0010,1000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𝚷(4,5,6,7,12,13,0,2,8) = 𝚷(0,2,4,5,6,7,8,12,13)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71" name="Google Shape;271;p2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72" name="Google Shape;272;p2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5" name="Google Shape;275;p2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6"/>
          <p:cNvSpPr txBox="1"/>
          <p:nvPr/>
        </p:nvSpPr>
        <p:spPr>
          <a:xfrm>
            <a:off x="209775" y="113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3" name="Google Shape;28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7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945400"/>
            <a:ext cx="2785126" cy="3231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285" name="Google Shape;285;p2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86" name="Google Shape;286;p27"/>
          <p:cNvSpPr txBox="1"/>
          <p:nvPr/>
        </p:nvSpPr>
        <p:spPr>
          <a:xfrm>
            <a:off x="328350" y="538238"/>
            <a:ext cx="86307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POS for F(w,x,y,z) =wy+x’z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Alternate Solution:   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Same thing can be done by taking all missing terms together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F(w,x,y,z) 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wy+x’z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(wy+x’)(wy+z)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(x’+w)(x’+y)(w+z)(y+z)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(x’+w+yy’+zz’)(x’+y+zz’+ww’)(w+z+xx’+yy’)(y+z+xx’+ww’)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(x’+w+y+zz’)(x’+w+y’+zz’)(x’+y+z+ww’)(x’+y+z’+ww’)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(w+z+x+yy’)(w+z+x’+yy’)(y+z+x+ww’)(y+z+x’+ww’)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</a:t>
            </a:r>
            <a:r>
              <a:rPr lang="en" sz="16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w+x’+y+z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w+x’+y+z’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600">
                <a:solidFill>
                  <a:srgbClr val="980000"/>
                </a:solidFill>
                <a:latin typeface="Lexend"/>
                <a:ea typeface="Lexend"/>
                <a:cs typeface="Lexend"/>
                <a:sym typeface="Lexend"/>
              </a:rPr>
              <a:t>w+x’+y’+z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)(w+x’+y’+z’)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16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(w+x’+y+z)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600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w’+x’+y+z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w+x’+y+z’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w’+x’+y+z’)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600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w+x+y+z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)(w+x+y’+z)</a:t>
            </a:r>
            <a:r>
              <a:rPr lang="en" sz="16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(w+x’+y+z)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600">
                <a:solidFill>
                  <a:srgbClr val="980000"/>
                </a:solidFill>
                <a:latin typeface="Lexend"/>
                <a:ea typeface="Lexend"/>
                <a:cs typeface="Lexend"/>
                <a:sym typeface="Lexend"/>
              </a:rPr>
              <a:t>w+x’+y’+z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600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w+x+y+z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)(w’+x+y+z)(</a:t>
            </a:r>
            <a:r>
              <a:rPr lang="en" sz="16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w+x’+y+z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600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w’+x’+y+z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</a:t>
            </a:r>
            <a:r>
              <a:rPr lang="en" sz="16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w+x’+y+z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w+x’+y+z’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600">
                <a:solidFill>
                  <a:srgbClr val="980000"/>
                </a:solidFill>
                <a:latin typeface="Lexend"/>
                <a:ea typeface="Lexend"/>
                <a:cs typeface="Lexend"/>
                <a:sym typeface="Lexend"/>
              </a:rPr>
              <a:t>w+x’+y’+z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)(w+x’+y’+z’)(</a:t>
            </a:r>
            <a:r>
              <a:rPr lang="en" sz="1600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w’+x’+y+z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(w’+x’+y+z’)(</a:t>
            </a:r>
            <a:r>
              <a:rPr lang="en" sz="1600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w+x+y+z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)(w+x+y’+z)(w’+x+y+z)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0100,0101,0110,0111,1100,1101,0000,0010,1000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𝚷(4,5,6,7,12,13,0,2,8) = 𝚷(0,2,4,5,6,7,8,12,13)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87" name="Google Shape;287;p2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88" name="Google Shape;288;p2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1" name="Google Shape;291;p2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7"/>
          <p:cNvSpPr txBox="1"/>
          <p:nvPr/>
        </p:nvSpPr>
        <p:spPr>
          <a:xfrm>
            <a:off x="209775" y="113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