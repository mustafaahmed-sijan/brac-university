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5143500" cx="9144000"/>
  <p:notesSz cx="6858000" cy="9144000"/>
  <p:embeddedFontLst>
    <p:embeddedFont>
      <p:font typeface="Lexend Light"/>
      <p:regular r:id="rId68"/>
      <p:bold r:id="rId69"/>
    </p:embeddedFont>
    <p:embeddedFont>
      <p:font typeface="Lexend Medium"/>
      <p:regular r:id="rId70"/>
      <p:bold r:id="rId71"/>
    </p:embeddedFont>
    <p:embeddedFont>
      <p:font typeface="Lexend"/>
      <p:regular r:id="rId72"/>
      <p:bold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31C2276-671B-496E-B77D-804DC5F1F2AA}">
  <a:tblStyle styleId="{031C2276-671B-496E-B77D-804DC5F1F2A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7F3A37B-6600-4325-A08B-84874AF3B0B0}" styleName="Table_1">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46F5B840-6E79-4AE9-A5F0-D521D66B7DCE}"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Lexend-bold.fntdata"/><Relationship Id="rId72" Type="http://schemas.openxmlformats.org/officeDocument/2006/relationships/font" Target="fonts/Lexend-regular.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LexendMedium-bold.fntdata"/><Relationship Id="rId70" Type="http://schemas.openxmlformats.org/officeDocument/2006/relationships/font" Target="fonts/LexendMedium-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LexendLight-regular.fntdata"/><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LexendLight-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6e3b8c75c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6e3b8c75c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6e3b8c75cc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6e3b8c75cc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6e3b8c75cc_0_1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6e3b8c75cc_0_1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6e3b8c75cc_0_1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6e3b8c75cc_0_1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6e3b8c75cc_0_1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6e3b8c75cc_0_1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6e3b8c75cc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6e3b8c75cc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6e3b8c75cc_0_1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6e3b8c75cc_0_1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6e3b8c75cc_0_1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6e3b8c75cc_0_1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6e3b8c75cc_0_1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6e3b8c75cc_0_1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6e3b8c75cc_0_1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6e3b8c75cc_0_1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6e3b8c75cc_0_1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6e3b8c75cc_0_1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6e3b8c75cc_0_1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6e3b8c75cc_0_1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6e3b8c75cc_0_1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6e3b8c75cc_0_1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6e3b8c75cc_0_1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6e3b8c75cc_0_1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6e3b8c75cc_0_1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6e3b8c75cc_0_1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6e3b8c75cc_0_1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6e3b8c75cc_0_1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6e3b8c75cc_0_1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6e3b8c75cc_0_1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6e3b8c75cc_0_18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6e3b8c75cc_0_18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6e3b8c75cc_0_1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6e3b8c75cc_0_1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6e3b8c75cc_0_1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6e3b8c75cc_0_1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6e3b8c75cc_0_1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6e3b8c75cc_0_1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6e3b8c75cc_0_1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6e3b8c75cc_0_1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6e3b8c75cc_0_19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6e3b8c75cc_0_19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6e3b8c75cc_0_20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6e3b8c75cc_0_2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6e3b8c75cc_0_2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6e3b8c75cc_0_2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6e3b8c75cc_0_2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6e3b8c75cc_0_2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6da8b810c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6da8b810c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6da8b810c5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6da8b810c5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6da8b810c5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6da8b810c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6da8b810c5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6da8b810c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6da8b810c5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6da8b810c5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6da8b810c5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36da8b810c5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6da8b810c5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6da8b810c5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6da8b810c5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6da8b810c5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6da8b810c5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6da8b810c5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6da8b810c5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36da8b810c5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6da8b810c5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36da8b810c5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6da8b810c5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36da8b810c5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6da8b810c5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6da8b810c5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6da8b810c5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36da8b810c5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6da8b810c5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36da8b810c5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6da8b810c5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36da8b810c5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6da8b810c5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36da8b810c5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6da8b810c5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36da8b810c5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6da8b810c5_0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36da8b810c5_0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6da8b810c5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36da8b810c5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6da8b810c5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0" name="Google Shape;1030;g36da8b810c5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6da8b810c5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36da8b810c5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6da8b810c5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36da8b810c5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6da8b810c5_0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36da8b810c5_0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36da8b810c5_0_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7" name="Google Shape;1107;g36da8b810c5_0_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6da8b810c5_0_9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g36da8b810c5_0_9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6da8b810c5_0_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1" name="Google Shape;1141;g36da8b810c5_0_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6da8b810c5_0_10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36da8b810c5_0_10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6da8b810c5_0_10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1" name="Google Shape;1171;g36da8b810c5_0_1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7329b8843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37329b8843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37329b8843d_3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2" name="Google Shape;1212;g37329b8843d_3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37329b8843d_3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37329b8843d_3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7329b8843d_3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37329b8843d_3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7329b8843d_3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37329b8843d_3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37329b8843d_3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37329b8843d_3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4.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1.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png"/><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png"/><Relationship Id="rId4" Type="http://schemas.openxmlformats.org/officeDocument/2006/relationships/image" Target="../media/image21.png"/><Relationship Id="rId5" Type="http://schemas.openxmlformats.org/officeDocument/2006/relationships/image" Target="../media/image29.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png"/><Relationship Id="rId4" Type="http://schemas.openxmlformats.org/officeDocument/2006/relationships/image" Target="../media/image27.png"/><Relationship Id="rId5" Type="http://schemas.openxmlformats.org/officeDocument/2006/relationships/image" Target="../media/image2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png"/><Relationship Id="rId4" Type="http://schemas.openxmlformats.org/officeDocument/2006/relationships/image" Target="../media/image28.png"/><Relationship Id="rId5" Type="http://schemas.openxmlformats.org/officeDocument/2006/relationships/image" Target="../media/image3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png"/><Relationship Id="rId4" Type="http://schemas.openxmlformats.org/officeDocument/2006/relationships/image" Target="../media/image3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png"/><Relationship Id="rId4" Type="http://schemas.openxmlformats.org/officeDocument/2006/relationships/image" Target="../media/image35.png"/><Relationship Id="rId5" Type="http://schemas.openxmlformats.org/officeDocument/2006/relationships/hyperlink" Target="https://www.youtube.com/watch?v=c8lhlAX2JMk"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3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26.png"/><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png"/><Relationship Id="rId4" Type="http://schemas.openxmlformats.org/officeDocument/2006/relationships/image" Target="../media/image25.png"/><Relationship Id="rId5" Type="http://schemas.openxmlformats.org/officeDocument/2006/relationships/image" Target="../media/image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png"/><Relationship Id="rId4" Type="http://schemas.openxmlformats.org/officeDocument/2006/relationships/image" Target="../media/image30.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png"/><Relationship Id="rId4" Type="http://schemas.openxmlformats.org/officeDocument/2006/relationships/image" Target="../media/image37.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208725" y="344175"/>
            <a:ext cx="8501100" cy="20052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lang="en" sz="6000">
                <a:latin typeface="Lexend"/>
                <a:ea typeface="Lexend"/>
                <a:cs typeface="Lexend"/>
                <a:sym typeface="Lexend"/>
              </a:rPr>
              <a:t>Lecture 7</a:t>
            </a:r>
            <a:endParaRPr sz="6000">
              <a:latin typeface="Lexend"/>
              <a:ea typeface="Lexend"/>
              <a:cs typeface="Lexend"/>
              <a:sym typeface="Lexend"/>
            </a:endParaRPr>
          </a:p>
          <a:p>
            <a:pPr indent="0" lvl="0" marL="0" rtl="0" algn="ctr">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Combinational Circuits - </a:t>
            </a:r>
            <a:endParaRPr sz="4200">
              <a:latin typeface="Lexend"/>
              <a:ea typeface="Lexend"/>
              <a:cs typeface="Lexend"/>
              <a:sym typeface="Lexend"/>
            </a:endParaRPr>
          </a:p>
          <a:p>
            <a:pPr indent="0" lvl="0" marL="0" rtl="0" algn="ctr">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MSI Circuits</a:t>
            </a:r>
            <a:endParaRPr sz="4200">
              <a:latin typeface="Lexend"/>
              <a:ea typeface="Lexend"/>
              <a:cs typeface="Lexend"/>
              <a:sym typeface="Lexend"/>
            </a:endParaRPr>
          </a:p>
        </p:txBody>
      </p:sp>
      <p:sp>
        <p:nvSpPr>
          <p:cNvPr id="55" name="Google Shape;55;p13"/>
          <p:cNvSpPr txBox="1"/>
          <p:nvPr/>
        </p:nvSpPr>
        <p:spPr>
          <a:xfrm>
            <a:off x="0" y="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 BRAC University</a:t>
            </a:r>
            <a:endParaRPr b="1" sz="900">
              <a:solidFill>
                <a:srgbClr val="4F4F4F"/>
              </a:solidFill>
              <a:latin typeface="Lexend"/>
              <a:ea typeface="Lexend"/>
              <a:cs typeface="Lexend"/>
              <a:sym typeface="Lexend"/>
            </a:endParaRPr>
          </a:p>
        </p:txBody>
      </p:sp>
      <p:pic>
        <p:nvPicPr>
          <p:cNvPr id="56" name="Google Shape;56;p1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 name="Google Shape;57;p13"/>
          <p:cNvSpPr txBox="1"/>
          <p:nvPr/>
        </p:nvSpPr>
        <p:spPr>
          <a:xfrm>
            <a:off x="321450" y="4484225"/>
            <a:ext cx="8501100" cy="10104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CSE260 : Digital Logic Design</a:t>
            </a:r>
            <a:endParaRPr sz="5000">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3" name="Google Shape;63;p1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4" name="Google Shape;64;p1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5" name="Google Shape;65;p14"/>
          <p:cNvSpPr txBox="1"/>
          <p:nvPr/>
        </p:nvSpPr>
        <p:spPr>
          <a:xfrm>
            <a:off x="328350" y="1699496"/>
            <a:ext cx="8630700" cy="1744500"/>
          </a:xfrm>
          <a:prstGeom prst="rect">
            <a:avLst/>
          </a:prstGeom>
          <a:noFill/>
          <a:ln>
            <a:noFill/>
          </a:ln>
        </p:spPr>
        <p:txBody>
          <a:bodyPr anchorCtr="0" anchor="t" bIns="91425" lIns="91425" spcFirstLastPara="1" rIns="91425" wrap="square" tIns="91425">
            <a:spAutoFit/>
          </a:bodyPr>
          <a:lstStyle/>
          <a:p>
            <a:pPr indent="0" lvl="0" marL="0" rtl="0" algn="l">
              <a:spcBef>
                <a:spcPts val="640"/>
              </a:spcBef>
              <a:spcAft>
                <a:spcPts val="0"/>
              </a:spcAft>
              <a:buNone/>
            </a:pPr>
            <a:r>
              <a:rPr lang="en" sz="2400">
                <a:solidFill>
                  <a:schemeClr val="dk1"/>
                </a:solidFill>
                <a:latin typeface="Lexend"/>
                <a:ea typeface="Lexend"/>
                <a:cs typeface="Lexend"/>
                <a:sym typeface="Lexend"/>
              </a:rPr>
              <a:t>The design of combinational circuits starts from the verbal outline of the problem and ends in a logic circuit diagram</a:t>
            </a:r>
            <a:endParaRPr sz="2400">
              <a:solidFill>
                <a:schemeClr val="dk1"/>
              </a:solidFill>
              <a:latin typeface="Lexend"/>
              <a:ea typeface="Lexend"/>
              <a:cs typeface="Lexend"/>
              <a:sym typeface="Lexend"/>
            </a:endParaRPr>
          </a:p>
          <a:p>
            <a:pPr indent="0" lvl="0" marL="0" rtl="0" algn="l">
              <a:spcBef>
                <a:spcPts val="640"/>
              </a:spcBef>
              <a:spcAft>
                <a:spcPts val="0"/>
              </a:spcAft>
              <a:buNone/>
            </a:pPr>
            <a:r>
              <a:t/>
            </a:r>
            <a:endParaRPr sz="2400">
              <a:solidFill>
                <a:schemeClr val="dk1"/>
              </a:solidFill>
              <a:latin typeface="Lexend"/>
              <a:ea typeface="Lexend"/>
              <a:cs typeface="Lexend"/>
              <a:sym typeface="Lexend"/>
            </a:endParaRPr>
          </a:p>
        </p:txBody>
      </p:sp>
      <p:grpSp>
        <p:nvGrpSpPr>
          <p:cNvPr id="66" name="Google Shape;66;p14"/>
          <p:cNvGrpSpPr/>
          <p:nvPr/>
        </p:nvGrpSpPr>
        <p:grpSpPr>
          <a:xfrm>
            <a:off x="50480" y="122879"/>
            <a:ext cx="277873" cy="68400"/>
            <a:chOff x="411700" y="2416840"/>
            <a:chExt cx="277873" cy="68400"/>
          </a:xfrm>
        </p:grpSpPr>
        <p:sp>
          <p:nvSpPr>
            <p:cNvPr id="67" name="Google Shape;67;p1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 name="Google Shape;69;p1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0" name="Google Shape;70;p1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Design Procedure</a:t>
            </a:r>
            <a:endParaRPr sz="3600">
              <a:latin typeface="Lexend"/>
              <a:ea typeface="Lexend"/>
              <a:cs typeface="Lexend"/>
              <a:sym typeface="Lexend"/>
            </a:endParaRPr>
          </a:p>
        </p:txBody>
      </p:sp>
      <p:sp>
        <p:nvSpPr>
          <p:cNvPr id="71" name="Google Shape;71;p1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2" name="Google Shape;72;p1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8" name="Google Shape;78;p1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9" name="Google Shape;79;p1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0" name="Google Shape;80;p15"/>
          <p:cNvSpPr txBox="1"/>
          <p:nvPr/>
        </p:nvSpPr>
        <p:spPr>
          <a:xfrm>
            <a:off x="328350" y="766846"/>
            <a:ext cx="8630700" cy="492600"/>
          </a:xfrm>
          <a:prstGeom prst="rect">
            <a:avLst/>
          </a:prstGeom>
          <a:noFill/>
          <a:ln>
            <a:noFill/>
          </a:ln>
        </p:spPr>
        <p:txBody>
          <a:bodyPr anchorCtr="0" anchor="t" bIns="91425" lIns="91425" spcFirstLastPara="1" rIns="91425" wrap="square" tIns="91425">
            <a:spAutoFit/>
          </a:bodyPr>
          <a:lstStyle/>
          <a:p>
            <a:pPr indent="0" lvl="0" marL="0" rtl="0" algn="l">
              <a:spcBef>
                <a:spcPts val="640"/>
              </a:spcBef>
              <a:spcAft>
                <a:spcPts val="0"/>
              </a:spcAft>
              <a:buNone/>
            </a:pPr>
            <a:r>
              <a:rPr lang="en" sz="2000">
                <a:solidFill>
                  <a:schemeClr val="dk1"/>
                </a:solidFill>
                <a:latin typeface="Lexend"/>
                <a:ea typeface="Lexend"/>
                <a:cs typeface="Lexend"/>
                <a:sym typeface="Lexend"/>
              </a:rPr>
              <a:t>The procedure involves the following steps:</a:t>
            </a:r>
            <a:endParaRPr sz="2000">
              <a:solidFill>
                <a:schemeClr val="dk1"/>
              </a:solidFill>
              <a:latin typeface="Lexend"/>
              <a:ea typeface="Lexend"/>
              <a:cs typeface="Lexend"/>
              <a:sym typeface="Lexend"/>
            </a:endParaRPr>
          </a:p>
        </p:txBody>
      </p:sp>
      <p:grpSp>
        <p:nvGrpSpPr>
          <p:cNvPr id="81" name="Google Shape;81;p15"/>
          <p:cNvGrpSpPr/>
          <p:nvPr/>
        </p:nvGrpSpPr>
        <p:grpSpPr>
          <a:xfrm>
            <a:off x="50480" y="122879"/>
            <a:ext cx="277873" cy="68400"/>
            <a:chOff x="411700" y="2416840"/>
            <a:chExt cx="277873" cy="68400"/>
          </a:xfrm>
        </p:grpSpPr>
        <p:sp>
          <p:nvSpPr>
            <p:cNvPr id="82" name="Google Shape;82;p1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1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5" name="Google Shape;85;p1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Design Procedure:</a:t>
            </a:r>
            <a:endParaRPr sz="3600">
              <a:latin typeface="Lexend"/>
              <a:ea typeface="Lexend"/>
              <a:cs typeface="Lexend"/>
              <a:sym typeface="Lexend"/>
            </a:endParaRPr>
          </a:p>
        </p:txBody>
      </p:sp>
      <p:sp>
        <p:nvSpPr>
          <p:cNvPr id="86" name="Google Shape;86;p1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7" name="Google Shape;87;p1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88" name="Google Shape;88;p15"/>
          <p:cNvGrpSpPr/>
          <p:nvPr/>
        </p:nvGrpSpPr>
        <p:grpSpPr>
          <a:xfrm>
            <a:off x="457017" y="3050600"/>
            <a:ext cx="1894923" cy="1422645"/>
            <a:chOff x="6575700" y="2242475"/>
            <a:chExt cx="1258500" cy="902350"/>
          </a:xfrm>
        </p:grpSpPr>
        <p:sp>
          <p:nvSpPr>
            <p:cNvPr id="89" name="Google Shape;89;p15"/>
            <p:cNvSpPr/>
            <p:nvPr/>
          </p:nvSpPr>
          <p:spPr>
            <a:xfrm>
              <a:off x="6596750" y="2242475"/>
              <a:ext cx="411300" cy="81600"/>
            </a:xfrm>
            <a:prstGeom prst="round2SameRect">
              <a:avLst>
                <a:gd fmla="val 50000" name="adj1"/>
                <a:gd fmla="val 0" name="adj2"/>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5"/>
            <p:cNvSpPr/>
            <p:nvPr/>
          </p:nvSpPr>
          <p:spPr>
            <a:xfrm>
              <a:off x="6575700" y="2318025"/>
              <a:ext cx="1258500" cy="826800"/>
            </a:xfrm>
            <a:prstGeom prst="roundRect">
              <a:avLst>
                <a:gd fmla="val 5261" name="adj"/>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Lexend Medium"/>
                  <a:ea typeface="Lexend Medium"/>
                  <a:cs typeface="Lexend Medium"/>
                  <a:sym typeface="Lexend Medium"/>
                </a:rPr>
                <a:t>6. The logic diagram is drawn</a:t>
              </a:r>
              <a:endParaRPr/>
            </a:p>
          </p:txBody>
        </p:sp>
        <p:cxnSp>
          <p:nvCxnSpPr>
            <p:cNvPr id="91" name="Google Shape;91;p15"/>
            <p:cNvCxnSpPr/>
            <p:nvPr/>
          </p:nvCxnSpPr>
          <p:spPr>
            <a:xfrm>
              <a:off x="6576540" y="3091250"/>
              <a:ext cx="1256700" cy="0"/>
            </a:xfrm>
            <a:prstGeom prst="straightConnector1">
              <a:avLst/>
            </a:prstGeom>
            <a:noFill/>
            <a:ln cap="flat" cmpd="sng" w="9525">
              <a:solidFill>
                <a:srgbClr val="28C840"/>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92" name="Google Shape;92;p15"/>
          <p:cNvGrpSpPr/>
          <p:nvPr/>
        </p:nvGrpSpPr>
        <p:grpSpPr>
          <a:xfrm>
            <a:off x="3624546" y="1295397"/>
            <a:ext cx="1894923" cy="1422645"/>
            <a:chOff x="2998000" y="2242475"/>
            <a:chExt cx="1258500" cy="902350"/>
          </a:xfrm>
        </p:grpSpPr>
        <p:sp>
          <p:nvSpPr>
            <p:cNvPr id="93" name="Google Shape;93;p15"/>
            <p:cNvSpPr/>
            <p:nvPr/>
          </p:nvSpPr>
          <p:spPr>
            <a:xfrm>
              <a:off x="3019050" y="2242475"/>
              <a:ext cx="411300" cy="81600"/>
            </a:xfrm>
            <a:prstGeom prst="round2SameRect">
              <a:avLst>
                <a:gd fmla="val 50000" name="adj1"/>
                <a:gd fmla="val 0" name="adj2"/>
              </a:avLst>
            </a:prstGeom>
            <a:solidFill>
              <a:srgbClr val="119B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5"/>
            <p:cNvSpPr/>
            <p:nvPr/>
          </p:nvSpPr>
          <p:spPr>
            <a:xfrm>
              <a:off x="2998000" y="2318025"/>
              <a:ext cx="1258500" cy="826800"/>
            </a:xfrm>
            <a:prstGeom prst="roundRect">
              <a:avLst>
                <a:gd fmla="val 5261" name="adj"/>
              </a:avLst>
            </a:prstGeom>
            <a:solidFill>
              <a:srgbClr val="119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Lexend Medium"/>
                  <a:ea typeface="Lexend Medium"/>
                  <a:cs typeface="Lexend Medium"/>
                  <a:sym typeface="Lexend Medium"/>
                </a:rPr>
                <a:t>2. Input and Output variables are determined</a:t>
              </a:r>
              <a:endParaRPr sz="1600">
                <a:solidFill>
                  <a:schemeClr val="dk1"/>
                </a:solidFill>
                <a:latin typeface="Lexend Medium"/>
                <a:ea typeface="Lexend Medium"/>
                <a:cs typeface="Lexend Medium"/>
                <a:sym typeface="Lexend Medium"/>
              </a:endParaRPr>
            </a:p>
          </p:txBody>
        </p:sp>
        <p:cxnSp>
          <p:nvCxnSpPr>
            <p:cNvPr id="95" name="Google Shape;95;p15"/>
            <p:cNvCxnSpPr/>
            <p:nvPr/>
          </p:nvCxnSpPr>
          <p:spPr>
            <a:xfrm>
              <a:off x="2998840" y="3091250"/>
              <a:ext cx="1256700" cy="0"/>
            </a:xfrm>
            <a:prstGeom prst="straightConnector1">
              <a:avLst/>
            </a:prstGeom>
            <a:noFill/>
            <a:ln cap="flat" cmpd="sng" w="9525">
              <a:solidFill>
                <a:srgbClr val="119BFE"/>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96" name="Google Shape;96;p15"/>
          <p:cNvGrpSpPr/>
          <p:nvPr/>
        </p:nvGrpSpPr>
        <p:grpSpPr>
          <a:xfrm>
            <a:off x="3624532" y="3050600"/>
            <a:ext cx="1894923" cy="1422645"/>
            <a:chOff x="4786850" y="2242475"/>
            <a:chExt cx="1258500" cy="902350"/>
          </a:xfrm>
        </p:grpSpPr>
        <p:sp>
          <p:nvSpPr>
            <p:cNvPr id="97" name="Google Shape;97;p15"/>
            <p:cNvSpPr/>
            <p:nvPr/>
          </p:nvSpPr>
          <p:spPr>
            <a:xfrm>
              <a:off x="4807900" y="2242475"/>
              <a:ext cx="411300" cy="81600"/>
            </a:xfrm>
            <a:prstGeom prst="round2SameRect">
              <a:avLst>
                <a:gd fmla="val 50000" name="adj1"/>
                <a:gd fmla="val 0" name="adj2"/>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5"/>
            <p:cNvSpPr/>
            <p:nvPr/>
          </p:nvSpPr>
          <p:spPr>
            <a:xfrm>
              <a:off x="4786850" y="2318025"/>
              <a:ext cx="1258500" cy="826800"/>
            </a:xfrm>
            <a:prstGeom prst="roundRect">
              <a:avLst>
                <a:gd fmla="val 5261" name="adj"/>
              </a:avLst>
            </a:prstGeom>
            <a:solidFill>
              <a:srgbClr val="FF6B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Lexend Medium"/>
                  <a:ea typeface="Lexend Medium"/>
                  <a:cs typeface="Lexend Medium"/>
                  <a:sym typeface="Lexend Medium"/>
                </a:rPr>
                <a:t>5. The simplified boolean function for each output is obtained</a:t>
              </a:r>
              <a:endParaRPr sz="1500"/>
            </a:p>
          </p:txBody>
        </p:sp>
        <p:cxnSp>
          <p:nvCxnSpPr>
            <p:cNvPr id="99" name="Google Shape;99;p15"/>
            <p:cNvCxnSpPr/>
            <p:nvPr/>
          </p:nvCxnSpPr>
          <p:spPr>
            <a:xfrm>
              <a:off x="4787690" y="3091250"/>
              <a:ext cx="1256700" cy="0"/>
            </a:xfrm>
            <a:prstGeom prst="straightConnector1">
              <a:avLst/>
            </a:prstGeom>
            <a:noFill/>
            <a:ln cap="flat" cmpd="sng" w="9525">
              <a:solidFill>
                <a:srgbClr val="FF6B4D"/>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00" name="Google Shape;100;p15"/>
          <p:cNvGrpSpPr/>
          <p:nvPr/>
        </p:nvGrpSpPr>
        <p:grpSpPr>
          <a:xfrm>
            <a:off x="6792024" y="1340187"/>
            <a:ext cx="1894923" cy="1422645"/>
            <a:chOff x="1209150" y="2242475"/>
            <a:chExt cx="1258500" cy="902350"/>
          </a:xfrm>
        </p:grpSpPr>
        <p:sp>
          <p:nvSpPr>
            <p:cNvPr id="101" name="Google Shape;101;p15"/>
            <p:cNvSpPr/>
            <p:nvPr/>
          </p:nvSpPr>
          <p:spPr>
            <a:xfrm>
              <a:off x="1230200" y="2242475"/>
              <a:ext cx="411300" cy="81600"/>
            </a:xfrm>
            <a:prstGeom prst="round2SameRect">
              <a:avLst>
                <a:gd fmla="val 50000" name="adj1"/>
                <a:gd fmla="val 0" name="adj2"/>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5"/>
            <p:cNvSpPr/>
            <p:nvPr/>
          </p:nvSpPr>
          <p:spPr>
            <a:xfrm>
              <a:off x="1209150" y="2318025"/>
              <a:ext cx="1258500" cy="826800"/>
            </a:xfrm>
            <a:prstGeom prst="roundRect">
              <a:avLst>
                <a:gd fmla="val 5261" name="adj"/>
              </a:avLst>
            </a:prstGeom>
            <a:solidFill>
              <a:srgbClr val="FFC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Lexend Medium"/>
                  <a:ea typeface="Lexend Medium"/>
                  <a:cs typeface="Lexend Medium"/>
                  <a:sym typeface="Lexend Medium"/>
                </a:rPr>
                <a:t>3. Letter symbols are assigned to the input and output variables</a:t>
              </a:r>
              <a:endParaRPr sz="1600"/>
            </a:p>
          </p:txBody>
        </p:sp>
        <p:cxnSp>
          <p:nvCxnSpPr>
            <p:cNvPr id="103" name="Google Shape;103;p15"/>
            <p:cNvCxnSpPr/>
            <p:nvPr/>
          </p:nvCxnSpPr>
          <p:spPr>
            <a:xfrm>
              <a:off x="1209990" y="3091250"/>
              <a:ext cx="1256700" cy="0"/>
            </a:xfrm>
            <a:prstGeom prst="straightConnector1">
              <a:avLst/>
            </a:prstGeom>
            <a:noFill/>
            <a:ln cap="flat" cmpd="sng" w="9525">
              <a:solidFill>
                <a:srgbClr val="FFC600"/>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04" name="Google Shape;104;p15"/>
          <p:cNvGrpSpPr/>
          <p:nvPr/>
        </p:nvGrpSpPr>
        <p:grpSpPr>
          <a:xfrm>
            <a:off x="457072" y="1340181"/>
            <a:ext cx="1894923" cy="1422645"/>
            <a:chOff x="1209150" y="2242475"/>
            <a:chExt cx="1258500" cy="902350"/>
          </a:xfrm>
        </p:grpSpPr>
        <p:sp>
          <p:nvSpPr>
            <p:cNvPr id="105" name="Google Shape;105;p15"/>
            <p:cNvSpPr/>
            <p:nvPr/>
          </p:nvSpPr>
          <p:spPr>
            <a:xfrm>
              <a:off x="1230200" y="2242475"/>
              <a:ext cx="411300" cy="81600"/>
            </a:xfrm>
            <a:prstGeom prst="round2SameRect">
              <a:avLst>
                <a:gd fmla="val 50000" name="adj1"/>
                <a:gd fmla="val 0" name="adj2"/>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5"/>
            <p:cNvSpPr/>
            <p:nvPr/>
          </p:nvSpPr>
          <p:spPr>
            <a:xfrm>
              <a:off x="1209150" y="2318025"/>
              <a:ext cx="1258500" cy="826800"/>
            </a:xfrm>
            <a:prstGeom prst="roundRect">
              <a:avLst>
                <a:gd fmla="val 5261" name="adj"/>
              </a:avLst>
            </a:prstGeom>
            <a:solidFill>
              <a:srgbClr val="FFC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Lexend Medium"/>
                  <a:ea typeface="Lexend Medium"/>
                  <a:cs typeface="Lexend Medium"/>
                  <a:sym typeface="Lexend Medium"/>
                </a:rPr>
                <a:t>1. The problem is stated</a:t>
              </a:r>
              <a:endParaRPr sz="1600">
                <a:latin typeface="Lexend Medium"/>
                <a:ea typeface="Lexend Medium"/>
                <a:cs typeface="Lexend Medium"/>
                <a:sym typeface="Lexend Medium"/>
              </a:endParaRPr>
            </a:p>
          </p:txBody>
        </p:sp>
        <p:cxnSp>
          <p:nvCxnSpPr>
            <p:cNvPr id="107" name="Google Shape;107;p15"/>
            <p:cNvCxnSpPr/>
            <p:nvPr/>
          </p:nvCxnSpPr>
          <p:spPr>
            <a:xfrm>
              <a:off x="1209990" y="3091250"/>
              <a:ext cx="1256700" cy="0"/>
            </a:xfrm>
            <a:prstGeom prst="straightConnector1">
              <a:avLst/>
            </a:prstGeom>
            <a:noFill/>
            <a:ln cap="flat" cmpd="sng" w="9525">
              <a:solidFill>
                <a:srgbClr val="FFC600"/>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08" name="Google Shape;108;p15"/>
          <p:cNvGrpSpPr/>
          <p:nvPr/>
        </p:nvGrpSpPr>
        <p:grpSpPr>
          <a:xfrm>
            <a:off x="6792021" y="3050601"/>
            <a:ext cx="1894923" cy="1422645"/>
            <a:chOff x="2998000" y="2242475"/>
            <a:chExt cx="1258500" cy="902350"/>
          </a:xfrm>
        </p:grpSpPr>
        <p:sp>
          <p:nvSpPr>
            <p:cNvPr id="109" name="Google Shape;109;p15"/>
            <p:cNvSpPr/>
            <p:nvPr/>
          </p:nvSpPr>
          <p:spPr>
            <a:xfrm>
              <a:off x="3019050" y="2242475"/>
              <a:ext cx="411300" cy="81600"/>
            </a:xfrm>
            <a:prstGeom prst="round2SameRect">
              <a:avLst>
                <a:gd fmla="val 50000" name="adj1"/>
                <a:gd fmla="val 0" name="adj2"/>
              </a:avLst>
            </a:prstGeom>
            <a:solidFill>
              <a:srgbClr val="119B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5"/>
            <p:cNvSpPr/>
            <p:nvPr/>
          </p:nvSpPr>
          <p:spPr>
            <a:xfrm>
              <a:off x="2998000" y="2318025"/>
              <a:ext cx="1258500" cy="826800"/>
            </a:xfrm>
            <a:prstGeom prst="roundRect">
              <a:avLst>
                <a:gd fmla="val 5261" name="adj"/>
              </a:avLst>
            </a:prstGeom>
            <a:solidFill>
              <a:srgbClr val="119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Lexend Medium"/>
                  <a:ea typeface="Lexend Medium"/>
                  <a:cs typeface="Lexend Medium"/>
                  <a:sym typeface="Lexend Medium"/>
                </a:rPr>
                <a:t>4. Truth table that defines relationship between input and outputs is derived.</a:t>
              </a:r>
              <a:endParaRPr/>
            </a:p>
          </p:txBody>
        </p:sp>
        <p:cxnSp>
          <p:nvCxnSpPr>
            <p:cNvPr id="111" name="Google Shape;111;p15"/>
            <p:cNvCxnSpPr/>
            <p:nvPr/>
          </p:nvCxnSpPr>
          <p:spPr>
            <a:xfrm>
              <a:off x="2998840" y="3091250"/>
              <a:ext cx="1256700" cy="0"/>
            </a:xfrm>
            <a:prstGeom prst="straightConnector1">
              <a:avLst/>
            </a:prstGeom>
            <a:noFill/>
            <a:ln cap="flat" cmpd="sng" w="9525">
              <a:solidFill>
                <a:srgbClr val="119BFE"/>
              </a:solidFill>
              <a:prstDash val="solid"/>
              <a:round/>
              <a:headEnd len="med" w="med" type="none"/>
              <a:tailEnd len="med" w="med" type="none"/>
            </a:ln>
            <a:effectLst>
              <a:outerShdw blurRad="57150" rotWithShape="0" algn="bl" dir="5400000" dist="19050">
                <a:srgbClr val="000000">
                  <a:alpha val="30000"/>
                </a:srgbClr>
              </a:outerShdw>
            </a:effectLst>
          </p:spPr>
        </p:cxnSp>
      </p:grpSp>
      <p:sp>
        <p:nvSpPr>
          <p:cNvPr id="112" name="Google Shape;112;p15"/>
          <p:cNvSpPr/>
          <p:nvPr/>
        </p:nvSpPr>
        <p:spPr>
          <a:xfrm>
            <a:off x="2708075" y="1882900"/>
            <a:ext cx="5604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5"/>
          <p:cNvSpPr/>
          <p:nvPr/>
        </p:nvSpPr>
        <p:spPr>
          <a:xfrm>
            <a:off x="5875550" y="1882900"/>
            <a:ext cx="5604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5"/>
          <p:cNvSpPr/>
          <p:nvPr/>
        </p:nvSpPr>
        <p:spPr>
          <a:xfrm rot="5400000">
            <a:off x="7559338" y="2808699"/>
            <a:ext cx="3603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5"/>
          <p:cNvSpPr/>
          <p:nvPr/>
        </p:nvSpPr>
        <p:spPr>
          <a:xfrm rot="10800000">
            <a:off x="5833025" y="3593313"/>
            <a:ext cx="5604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5"/>
          <p:cNvSpPr/>
          <p:nvPr/>
        </p:nvSpPr>
        <p:spPr>
          <a:xfrm rot="10800000">
            <a:off x="2669075" y="3593313"/>
            <a:ext cx="5604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5"/>
          <p:cNvSpPr txBox="1"/>
          <p:nvPr/>
        </p:nvSpPr>
        <p:spPr>
          <a:xfrm>
            <a:off x="209775" y="4578146"/>
            <a:ext cx="8630700" cy="354000"/>
          </a:xfrm>
          <a:prstGeom prst="rect">
            <a:avLst/>
          </a:prstGeom>
          <a:noFill/>
          <a:ln>
            <a:noFill/>
          </a:ln>
        </p:spPr>
        <p:txBody>
          <a:bodyPr anchorCtr="0" anchor="t" bIns="91425" lIns="91425" spcFirstLastPara="1" rIns="91425" wrap="square" tIns="91425">
            <a:spAutoFit/>
          </a:bodyPr>
          <a:lstStyle/>
          <a:p>
            <a:pPr indent="0" lvl="0" marL="0" rtl="0" algn="l">
              <a:spcBef>
                <a:spcPts val="640"/>
              </a:spcBef>
              <a:spcAft>
                <a:spcPts val="0"/>
              </a:spcAft>
              <a:buNone/>
            </a:pPr>
            <a:r>
              <a:rPr lang="en" sz="1100">
                <a:solidFill>
                  <a:schemeClr val="dk1"/>
                </a:solidFill>
                <a:latin typeface="Lexend"/>
                <a:ea typeface="Lexend"/>
                <a:cs typeface="Lexend"/>
                <a:sym typeface="Lexend"/>
              </a:rPr>
              <a:t>Hint: Aren’t these the steps used for solving car-garage alarm system? So we are familiar with combinational circuit design! </a:t>
            </a:r>
            <a:endParaRPr sz="1100">
              <a:solidFill>
                <a:schemeClr val="dk1"/>
              </a:solidFill>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3" name="Google Shape;123;p1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4" name="Google Shape;124;p1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25" name="Google Shape;125;p16"/>
          <p:cNvSpPr txBox="1"/>
          <p:nvPr/>
        </p:nvSpPr>
        <p:spPr>
          <a:xfrm>
            <a:off x="256650" y="927196"/>
            <a:ext cx="8630700" cy="2929800"/>
          </a:xfrm>
          <a:prstGeom prst="rect">
            <a:avLst/>
          </a:prstGeom>
          <a:noFill/>
          <a:ln>
            <a:noFill/>
          </a:ln>
        </p:spPr>
        <p:txBody>
          <a:bodyPr anchorCtr="0" anchor="t" bIns="91425" lIns="91425" spcFirstLastPara="1" rIns="91425" wrap="square" tIns="91425">
            <a:spAutoFit/>
          </a:bodyPr>
          <a:lstStyle/>
          <a:p>
            <a:pPr indent="-299720" lvl="0" marL="342900" rtl="0" algn="l">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Different combinational circuit design methods:</a:t>
            </a:r>
            <a:endParaRPr sz="2200">
              <a:solidFill>
                <a:schemeClr val="dk1"/>
              </a:solidFill>
              <a:latin typeface="Lexend"/>
              <a:ea typeface="Lexend"/>
              <a:cs typeface="Lexend"/>
              <a:sym typeface="Lexend"/>
            </a:endParaRPr>
          </a:p>
          <a:p>
            <a:pPr indent="-298450" lvl="1" marL="742950" rtl="0" algn="l">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Gate-level method (with logic gates) </a:t>
            </a:r>
            <a:endParaRPr sz="2000">
              <a:solidFill>
                <a:schemeClr val="dk1"/>
              </a:solidFill>
              <a:latin typeface="Lexend"/>
              <a:ea typeface="Lexend"/>
              <a:cs typeface="Lexend"/>
              <a:sym typeface="Lexend"/>
            </a:endParaRPr>
          </a:p>
          <a:p>
            <a:pPr indent="-298450" lvl="1" marL="742950" rtl="0" algn="l">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Block-level design method</a:t>
            </a:r>
            <a:endParaRPr sz="2000">
              <a:solidFill>
                <a:schemeClr val="dk1"/>
              </a:solidFill>
              <a:latin typeface="Lexend"/>
              <a:ea typeface="Lexend"/>
              <a:cs typeface="Lexend"/>
              <a:sym typeface="Lexend"/>
            </a:endParaRPr>
          </a:p>
          <a:p>
            <a:pPr indent="-299720" lvl="0" marL="342900" rtl="0" algn="l">
              <a:spcBef>
                <a:spcPts val="1200"/>
              </a:spcBef>
              <a:spcAft>
                <a:spcPts val="0"/>
              </a:spcAft>
              <a:buClr>
                <a:schemeClr val="dk1"/>
              </a:buClr>
              <a:buSzPts val="2200"/>
              <a:buFont typeface="Lexend"/>
              <a:buChar char="▪"/>
            </a:pPr>
            <a:r>
              <a:rPr lang="en" sz="2200">
                <a:solidFill>
                  <a:schemeClr val="dk1"/>
                </a:solidFill>
                <a:latin typeface="Lexend"/>
                <a:ea typeface="Lexend"/>
                <a:cs typeface="Lexend"/>
                <a:sym typeface="Lexend"/>
              </a:rPr>
              <a:t>Design methods make use of logic gates and useful functional blocks. </a:t>
            </a:r>
            <a:endParaRPr sz="2200">
              <a:solidFill>
                <a:schemeClr val="dk1"/>
              </a:solidFill>
              <a:latin typeface="Lexend"/>
              <a:ea typeface="Lexend"/>
              <a:cs typeface="Lexend"/>
              <a:sym typeface="Lexend"/>
            </a:endParaRPr>
          </a:p>
          <a:p>
            <a:pPr indent="-298450" lvl="1" marL="742950" rtl="0" algn="l">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These are available as Integrated Circuit (IC) chips.</a:t>
            </a:r>
            <a:endParaRPr sz="2000">
              <a:solidFill>
                <a:schemeClr val="dk1"/>
              </a:solidFill>
              <a:latin typeface="Lexend"/>
              <a:ea typeface="Lexend"/>
              <a:cs typeface="Lexend"/>
              <a:sym typeface="Lexend"/>
            </a:endParaRPr>
          </a:p>
          <a:p>
            <a:pPr indent="0" lvl="0" marL="0" rtl="0" algn="l">
              <a:spcBef>
                <a:spcPts val="640"/>
              </a:spcBef>
              <a:spcAft>
                <a:spcPts val="0"/>
              </a:spcAft>
              <a:buNone/>
            </a:pPr>
            <a:r>
              <a:t/>
            </a:r>
            <a:endParaRPr sz="2200">
              <a:solidFill>
                <a:schemeClr val="dk1"/>
              </a:solidFill>
              <a:latin typeface="Lexend"/>
              <a:ea typeface="Lexend"/>
              <a:cs typeface="Lexend"/>
              <a:sym typeface="Lexend"/>
            </a:endParaRPr>
          </a:p>
        </p:txBody>
      </p:sp>
      <p:grpSp>
        <p:nvGrpSpPr>
          <p:cNvPr id="126" name="Google Shape;126;p16"/>
          <p:cNvGrpSpPr/>
          <p:nvPr/>
        </p:nvGrpSpPr>
        <p:grpSpPr>
          <a:xfrm>
            <a:off x="50480" y="122879"/>
            <a:ext cx="277873" cy="68400"/>
            <a:chOff x="411700" y="2416840"/>
            <a:chExt cx="277873" cy="68400"/>
          </a:xfrm>
        </p:grpSpPr>
        <p:sp>
          <p:nvSpPr>
            <p:cNvPr id="127" name="Google Shape;127;p1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30" name="Google Shape;130;p1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Design Methods </a:t>
            </a:r>
            <a:endParaRPr sz="3600">
              <a:latin typeface="Lexend"/>
              <a:ea typeface="Lexend"/>
              <a:cs typeface="Lexend"/>
              <a:sym typeface="Lexend"/>
            </a:endParaRPr>
          </a:p>
        </p:txBody>
      </p:sp>
      <p:sp>
        <p:nvSpPr>
          <p:cNvPr id="131" name="Google Shape;131;p1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32" name="Google Shape;132;p1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8" name="Google Shape;138;p1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39" name="Google Shape;139;p1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40" name="Google Shape;140;p17"/>
          <p:cNvSpPr txBox="1"/>
          <p:nvPr/>
        </p:nvSpPr>
        <p:spPr>
          <a:xfrm>
            <a:off x="256650" y="972838"/>
            <a:ext cx="8630700" cy="311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Why is it better to use IC than classical gate method?</a:t>
            </a:r>
            <a:endParaRPr sz="2400">
              <a:solidFill>
                <a:schemeClr val="dk1"/>
              </a:solidFill>
              <a:latin typeface="Lexend"/>
              <a:ea typeface="Lexend"/>
              <a:cs typeface="Lexend"/>
              <a:sym typeface="Lexend"/>
            </a:endParaRPr>
          </a:p>
          <a:p>
            <a:pPr indent="0" lvl="0" marL="0" rtl="0" algn="l">
              <a:spcBef>
                <a:spcPts val="0"/>
              </a:spcBef>
              <a:spcAft>
                <a:spcPts val="0"/>
              </a:spcAft>
              <a:buNone/>
            </a:pPr>
            <a:r>
              <a:t/>
            </a:r>
            <a:endParaRPr sz="2400">
              <a:solidFill>
                <a:schemeClr val="dk1"/>
              </a:solidFill>
              <a:latin typeface="Lexend"/>
              <a:ea typeface="Lexend"/>
              <a:cs typeface="Lexend"/>
              <a:sym typeface="Lexend"/>
            </a:endParaRPr>
          </a:p>
          <a:p>
            <a:pPr indent="-279400" lvl="0" marL="342900" rtl="0" algn="l">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IC consists of gates all packed up together internally, which keeps the </a:t>
            </a:r>
            <a:r>
              <a:rPr lang="en" sz="2200">
                <a:solidFill>
                  <a:srgbClr val="FF0000"/>
                </a:solidFill>
                <a:latin typeface="Lexend"/>
                <a:ea typeface="Lexend"/>
                <a:cs typeface="Lexend"/>
                <a:sym typeface="Lexend"/>
              </a:rPr>
              <a:t>gates safe inside </a:t>
            </a:r>
            <a:r>
              <a:rPr lang="en" sz="2200">
                <a:solidFill>
                  <a:schemeClr val="dk1"/>
                </a:solidFill>
                <a:latin typeface="Lexend"/>
                <a:ea typeface="Lexend"/>
                <a:cs typeface="Lexend"/>
                <a:sym typeface="Lexend"/>
              </a:rPr>
              <a:t>as well as makes it </a:t>
            </a:r>
            <a:r>
              <a:rPr lang="en" sz="2200">
                <a:solidFill>
                  <a:srgbClr val="FF0000"/>
                </a:solidFill>
                <a:latin typeface="Lexend"/>
                <a:ea typeface="Lexend"/>
                <a:cs typeface="Lexend"/>
                <a:sym typeface="Lexend"/>
              </a:rPr>
              <a:t>economical by reducing external interconnection wires</a:t>
            </a:r>
            <a:endParaRPr sz="2200">
              <a:solidFill>
                <a:schemeClr val="dk1"/>
              </a:solidFill>
              <a:latin typeface="Lexend"/>
              <a:ea typeface="Lexend"/>
              <a:cs typeface="Lexend"/>
              <a:sym typeface="Lexend"/>
            </a:endParaRPr>
          </a:p>
          <a:p>
            <a:pPr indent="-279400" lvl="0" marL="342900" rtl="0" algn="l">
              <a:spcBef>
                <a:spcPts val="640"/>
              </a:spcBef>
              <a:spcAft>
                <a:spcPts val="0"/>
              </a:spcAft>
              <a:buClr>
                <a:schemeClr val="dk1"/>
              </a:buClr>
              <a:buSzPts val="2200"/>
              <a:buFont typeface="Lexend"/>
              <a:buChar char="•"/>
            </a:pPr>
            <a:r>
              <a:rPr lang="en" sz="2200">
                <a:solidFill>
                  <a:schemeClr val="dk1"/>
                </a:solidFill>
                <a:latin typeface="Lexend"/>
                <a:ea typeface="Lexend"/>
                <a:cs typeface="Lexend"/>
                <a:sym typeface="Lexend"/>
              </a:rPr>
              <a:t>As number of input increase, making the truth table and k-map gets cumbersome</a:t>
            </a:r>
            <a:endParaRPr sz="2200">
              <a:solidFill>
                <a:schemeClr val="dk1"/>
              </a:solidFill>
              <a:latin typeface="Lexend"/>
              <a:ea typeface="Lexend"/>
              <a:cs typeface="Lexend"/>
              <a:sym typeface="Lexend"/>
            </a:endParaRPr>
          </a:p>
          <a:p>
            <a:pPr indent="0" lvl="0" marL="0" rtl="0" algn="l">
              <a:spcBef>
                <a:spcPts val="640"/>
              </a:spcBef>
              <a:spcAft>
                <a:spcPts val="0"/>
              </a:spcAft>
              <a:buNone/>
            </a:pPr>
            <a:r>
              <a:t/>
            </a:r>
            <a:endParaRPr sz="2200">
              <a:solidFill>
                <a:schemeClr val="dk1"/>
              </a:solidFill>
              <a:latin typeface="Lexend"/>
              <a:ea typeface="Lexend"/>
              <a:cs typeface="Lexend"/>
              <a:sym typeface="Lexend"/>
            </a:endParaRPr>
          </a:p>
        </p:txBody>
      </p:sp>
      <p:grpSp>
        <p:nvGrpSpPr>
          <p:cNvPr id="141" name="Google Shape;141;p17"/>
          <p:cNvGrpSpPr/>
          <p:nvPr/>
        </p:nvGrpSpPr>
        <p:grpSpPr>
          <a:xfrm>
            <a:off x="50480" y="122879"/>
            <a:ext cx="277873" cy="68400"/>
            <a:chOff x="411700" y="2416840"/>
            <a:chExt cx="277873" cy="68400"/>
          </a:xfrm>
        </p:grpSpPr>
        <p:sp>
          <p:nvSpPr>
            <p:cNvPr id="142" name="Google Shape;142;p1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1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1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45" name="Google Shape;145;p1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46" name="Google Shape;146;p1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47" name="Google Shape;147;p1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3" name="Google Shape;153;p1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54" name="Google Shape;154;p1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55" name="Google Shape;155;p18"/>
          <p:cNvSpPr txBox="1"/>
          <p:nvPr/>
        </p:nvSpPr>
        <p:spPr>
          <a:xfrm>
            <a:off x="256650" y="972838"/>
            <a:ext cx="8630700" cy="531000"/>
          </a:xfrm>
          <a:prstGeom prst="rect">
            <a:avLst/>
          </a:prstGeom>
          <a:noFill/>
          <a:ln>
            <a:noFill/>
          </a:ln>
        </p:spPr>
        <p:txBody>
          <a:bodyPr anchorCtr="0" anchor="t" bIns="91425" lIns="91425" spcFirstLastPara="1" rIns="91425" wrap="square" tIns="91425">
            <a:spAutoFit/>
          </a:bodyPr>
          <a:lstStyle/>
          <a:p>
            <a:pPr indent="-318770" lvl="0" marL="342900" rtl="0" algn="l">
              <a:lnSpc>
                <a:spcPct val="90000"/>
              </a:lnSpc>
              <a:spcBef>
                <a:spcPts val="0"/>
              </a:spcBef>
              <a:spcAft>
                <a:spcPts val="0"/>
              </a:spcAft>
              <a:buClr>
                <a:schemeClr val="dk1"/>
              </a:buClr>
              <a:buSzPts val="2500"/>
              <a:buFont typeface="Lexend"/>
              <a:buChar char="▪"/>
            </a:pPr>
            <a:r>
              <a:rPr lang="en" sz="2500">
                <a:solidFill>
                  <a:schemeClr val="dk1"/>
                </a:solidFill>
                <a:latin typeface="Lexend"/>
                <a:ea typeface="Lexend"/>
                <a:cs typeface="Lexend"/>
                <a:sym typeface="Lexend"/>
              </a:rPr>
              <a:t>Type of IC chips (based on packing density) :</a:t>
            </a:r>
            <a:endParaRPr sz="2300">
              <a:solidFill>
                <a:schemeClr val="dk1"/>
              </a:solidFill>
              <a:latin typeface="Lexend"/>
              <a:ea typeface="Lexend"/>
              <a:cs typeface="Lexend"/>
              <a:sym typeface="Lexend"/>
            </a:endParaRPr>
          </a:p>
        </p:txBody>
      </p:sp>
      <p:grpSp>
        <p:nvGrpSpPr>
          <p:cNvPr id="156" name="Google Shape;156;p18"/>
          <p:cNvGrpSpPr/>
          <p:nvPr/>
        </p:nvGrpSpPr>
        <p:grpSpPr>
          <a:xfrm>
            <a:off x="50480" y="122879"/>
            <a:ext cx="277873" cy="68400"/>
            <a:chOff x="411700" y="2416840"/>
            <a:chExt cx="277873" cy="68400"/>
          </a:xfrm>
        </p:grpSpPr>
        <p:sp>
          <p:nvSpPr>
            <p:cNvPr id="157" name="Google Shape;157;p1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1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1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60" name="Google Shape;160;p1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61" name="Google Shape;161;p1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62" name="Google Shape;162;p1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163" name="Google Shape;163;p18"/>
          <p:cNvGraphicFramePr/>
          <p:nvPr/>
        </p:nvGraphicFramePr>
        <p:xfrm>
          <a:off x="341975" y="2010663"/>
          <a:ext cx="3000000" cy="3000000"/>
        </p:xfrm>
        <a:graphic>
          <a:graphicData uri="http://schemas.openxmlformats.org/drawingml/2006/table">
            <a:tbl>
              <a:tblPr>
                <a:noFill/>
                <a:tableStyleId>{031C2276-671B-496E-B77D-804DC5F1F2AA}</a:tableStyleId>
              </a:tblPr>
              <a:tblGrid>
                <a:gridCol w="4230025"/>
                <a:gridCol w="4230025"/>
              </a:tblGrid>
              <a:tr h="401525">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Small-scale integration (SSI)</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up to 12 gates</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401525">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Medium-scale integration (MSI)</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12 - 99 gates</a:t>
                      </a:r>
                      <a:endParaRPr i="0" sz="1800" u="none">
                        <a:solidFill>
                          <a:srgbClr val="000000"/>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401525">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Large-scale integration (LSI)</a:t>
                      </a:r>
                      <a:endParaRPr sz="18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100 - 9999 gates</a:t>
                      </a:r>
                      <a:endParaRPr sz="18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420050">
                <a:tc>
                  <a:txBody>
                    <a:bodyPr/>
                    <a:lstStyle/>
                    <a:p>
                      <a:pPr indent="0" lvl="0" marL="0" marR="0" rtl="0" algn="l">
                        <a:lnSpc>
                          <a:spcPct val="100000"/>
                        </a:lnSpc>
                        <a:spcBef>
                          <a:spcPts val="0"/>
                        </a:spcBef>
                        <a:spcAft>
                          <a:spcPts val="0"/>
                        </a:spcAft>
                        <a:buClr>
                          <a:srgbClr val="000000"/>
                        </a:buClr>
                        <a:buSzPts val="1100"/>
                        <a:buFont typeface="Arial"/>
                        <a:buNone/>
                      </a:pPr>
                      <a:r>
                        <a:rPr lang="en" sz="1800">
                          <a:latin typeface="Lexend"/>
                          <a:ea typeface="Lexend"/>
                          <a:cs typeface="Lexend"/>
                          <a:sym typeface="Lexend"/>
                        </a:rPr>
                        <a:t>Very large-scale integration (VLSI)</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800">
                          <a:solidFill>
                            <a:schemeClr val="dk1"/>
                          </a:solidFill>
                          <a:latin typeface="Lexend"/>
                          <a:ea typeface="Lexend"/>
                          <a:cs typeface="Lexend"/>
                          <a:sym typeface="Lexend"/>
                        </a:rPr>
                        <a:t>10,000 - 99,999 gates</a:t>
                      </a:r>
                      <a:endParaRPr sz="18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420050">
                <a:tc>
                  <a:txBody>
                    <a:bodyPr/>
                    <a:lstStyle/>
                    <a:p>
                      <a:pPr indent="0" lvl="0" marL="0" marR="0" rtl="0" algn="l">
                        <a:lnSpc>
                          <a:spcPct val="100000"/>
                        </a:lnSpc>
                        <a:spcBef>
                          <a:spcPts val="0"/>
                        </a:spcBef>
                        <a:spcAft>
                          <a:spcPts val="0"/>
                        </a:spcAft>
                        <a:buNone/>
                      </a:pPr>
                      <a:r>
                        <a:rPr lang="en" sz="1800">
                          <a:latin typeface="Lexend"/>
                          <a:ea typeface="Lexend"/>
                          <a:cs typeface="Lexend"/>
                          <a:sym typeface="Lexend"/>
                        </a:rPr>
                        <a:t>Ultra large-scale integration (ULSI)</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800">
                          <a:solidFill>
                            <a:schemeClr val="dk1"/>
                          </a:solidFill>
                          <a:latin typeface="Lexend"/>
                          <a:ea typeface="Lexend"/>
                          <a:cs typeface="Lexend"/>
                          <a:sym typeface="Lexend"/>
                        </a:rPr>
                        <a:t>&gt; 100,000 gates</a:t>
                      </a:r>
                      <a:endParaRPr sz="18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9" name="Google Shape;169;p1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70" name="Google Shape;170;p1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71" name="Google Shape;171;p19"/>
          <p:cNvSpPr txBox="1"/>
          <p:nvPr/>
        </p:nvSpPr>
        <p:spPr>
          <a:xfrm>
            <a:off x="256650" y="972838"/>
            <a:ext cx="8630700" cy="2159700"/>
          </a:xfrm>
          <a:prstGeom prst="rect">
            <a:avLst/>
          </a:prstGeom>
          <a:noFill/>
          <a:ln>
            <a:noFill/>
          </a:ln>
        </p:spPr>
        <p:txBody>
          <a:bodyPr anchorCtr="0" anchor="t" bIns="91425" lIns="91425" spcFirstLastPara="1" rIns="91425" wrap="square" tIns="91425">
            <a:spAutoFit/>
          </a:bodyPr>
          <a:lstStyle/>
          <a:p>
            <a:pPr indent="-342900" lvl="0" marL="342900" rtl="0" algn="l">
              <a:lnSpc>
                <a:spcPct val="90000"/>
              </a:lnSpc>
              <a:spcBef>
                <a:spcPts val="1200"/>
              </a:spcBef>
              <a:spcAft>
                <a:spcPts val="0"/>
              </a:spcAft>
              <a:buClr>
                <a:srgbClr val="FF0000"/>
              </a:buClr>
              <a:buSzPts val="2880"/>
              <a:buFont typeface="Lexend"/>
              <a:buChar char="▪"/>
            </a:pPr>
            <a:r>
              <a:rPr i="1" lang="en" sz="2400">
                <a:solidFill>
                  <a:srgbClr val="FF0000"/>
                </a:solidFill>
                <a:latin typeface="Lexend"/>
                <a:ea typeface="Lexend"/>
                <a:cs typeface="Lexend"/>
                <a:sym typeface="Lexend"/>
              </a:rPr>
              <a:t>Main objectives of circuit design:</a:t>
            </a:r>
            <a:endParaRPr sz="3200">
              <a:solidFill>
                <a:schemeClr val="dk1"/>
              </a:solidFill>
              <a:latin typeface="Lexend"/>
              <a:ea typeface="Lexend"/>
              <a:cs typeface="Lexend"/>
              <a:sym typeface="Lexend"/>
            </a:endParaRPr>
          </a:p>
          <a:p>
            <a:pPr indent="-285750" lvl="1" marL="742950" rtl="0" algn="l">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 reduce cost </a:t>
            </a:r>
            <a:endParaRPr sz="2800">
              <a:solidFill>
                <a:schemeClr val="dk1"/>
              </a:solidFill>
              <a:latin typeface="Lexend"/>
              <a:ea typeface="Lexend"/>
              <a:cs typeface="Lexend"/>
              <a:sym typeface="Lexend"/>
            </a:endParaRPr>
          </a:p>
          <a:p>
            <a:pPr indent="-228600" lvl="2" marL="1143000" rtl="0" algn="l">
              <a:lnSpc>
                <a:spcPct val="90000"/>
              </a:lnSpc>
              <a:spcBef>
                <a:spcPts val="360"/>
              </a:spcBef>
              <a:spcAft>
                <a:spcPts val="0"/>
              </a:spcAft>
              <a:buClr>
                <a:schemeClr val="dk1"/>
              </a:buClr>
              <a:buSzPts val="1800"/>
              <a:buFont typeface="Lexend"/>
              <a:buChar char="⮚"/>
            </a:pPr>
            <a:r>
              <a:rPr lang="en" sz="1800">
                <a:solidFill>
                  <a:schemeClr val="dk1"/>
                </a:solidFill>
                <a:latin typeface="Lexend"/>
                <a:ea typeface="Lexend"/>
                <a:cs typeface="Lexend"/>
                <a:sym typeface="Lexend"/>
              </a:rPr>
              <a:t>reduce number of gates (for SSI circuits)</a:t>
            </a:r>
            <a:endParaRPr sz="2400">
              <a:solidFill>
                <a:schemeClr val="dk1"/>
              </a:solidFill>
              <a:latin typeface="Lexend"/>
              <a:ea typeface="Lexend"/>
              <a:cs typeface="Lexend"/>
              <a:sym typeface="Lexend"/>
            </a:endParaRPr>
          </a:p>
          <a:p>
            <a:pPr indent="-228600" lvl="2" marL="1143000" rtl="0" algn="l">
              <a:lnSpc>
                <a:spcPct val="90000"/>
              </a:lnSpc>
              <a:spcBef>
                <a:spcPts val="360"/>
              </a:spcBef>
              <a:spcAft>
                <a:spcPts val="0"/>
              </a:spcAft>
              <a:buClr>
                <a:schemeClr val="dk1"/>
              </a:buClr>
              <a:buSzPts val="1800"/>
              <a:buFont typeface="Lexend"/>
              <a:buChar char="⮚"/>
            </a:pPr>
            <a:r>
              <a:rPr lang="en" sz="1800">
                <a:solidFill>
                  <a:schemeClr val="dk1"/>
                </a:solidFill>
                <a:latin typeface="Lexend"/>
                <a:ea typeface="Lexend"/>
                <a:cs typeface="Lexend"/>
                <a:sym typeface="Lexend"/>
              </a:rPr>
              <a:t>reduce IC packages (for complex circuits)</a:t>
            </a:r>
            <a:endParaRPr sz="2400">
              <a:solidFill>
                <a:schemeClr val="dk1"/>
              </a:solidFill>
              <a:latin typeface="Lexend"/>
              <a:ea typeface="Lexend"/>
              <a:cs typeface="Lexend"/>
              <a:sym typeface="Lexend"/>
            </a:endParaRPr>
          </a:p>
          <a:p>
            <a:pPr indent="-285750" lvl="1" marL="742950" rtl="0" algn="l">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(ii) increase speed</a:t>
            </a:r>
            <a:endParaRPr sz="2800">
              <a:solidFill>
                <a:schemeClr val="dk1"/>
              </a:solidFill>
              <a:latin typeface="Lexend"/>
              <a:ea typeface="Lexend"/>
              <a:cs typeface="Lexend"/>
              <a:sym typeface="Lexend"/>
            </a:endParaRPr>
          </a:p>
          <a:p>
            <a:pPr indent="-285750" lvl="1" marL="742950" rtl="0" algn="l">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(iii) design simplicity (reuse blocks where possible)</a:t>
            </a:r>
            <a:endParaRPr sz="2400">
              <a:solidFill>
                <a:schemeClr val="dk1"/>
              </a:solidFill>
              <a:latin typeface="Lexend"/>
              <a:ea typeface="Lexend"/>
              <a:cs typeface="Lexend"/>
              <a:sym typeface="Lexend"/>
            </a:endParaRPr>
          </a:p>
        </p:txBody>
      </p:sp>
      <p:grpSp>
        <p:nvGrpSpPr>
          <p:cNvPr id="172" name="Google Shape;172;p19"/>
          <p:cNvGrpSpPr/>
          <p:nvPr/>
        </p:nvGrpSpPr>
        <p:grpSpPr>
          <a:xfrm>
            <a:off x="50480" y="122879"/>
            <a:ext cx="277873" cy="68400"/>
            <a:chOff x="411700" y="2416840"/>
            <a:chExt cx="277873" cy="68400"/>
          </a:xfrm>
        </p:grpSpPr>
        <p:sp>
          <p:nvSpPr>
            <p:cNvPr id="173" name="Google Shape;173;p1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1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1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76" name="Google Shape;176;p1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77" name="Google Shape;177;p1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78" name="Google Shape;178;p1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4" name="Google Shape;184;p2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85" name="Google Shape;185;p2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86" name="Google Shape;186;p20"/>
          <p:cNvSpPr txBox="1"/>
          <p:nvPr/>
        </p:nvSpPr>
        <p:spPr>
          <a:xfrm>
            <a:off x="256650" y="972838"/>
            <a:ext cx="8630700" cy="29757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Lexend"/>
              <a:buChar char="▪"/>
            </a:pPr>
            <a:r>
              <a:rPr lang="en" sz="2400">
                <a:solidFill>
                  <a:schemeClr val="dk1"/>
                </a:solidFill>
                <a:latin typeface="Lexend"/>
                <a:ea typeface="Lexend"/>
                <a:cs typeface="Lexend"/>
                <a:sym typeface="Lexend"/>
              </a:rPr>
              <a:t>More complex circuits can be built using block-level method. </a:t>
            </a:r>
            <a:endParaRPr sz="2400">
              <a:solidFill>
                <a:schemeClr val="dk1"/>
              </a:solidFill>
              <a:latin typeface="Lexend"/>
              <a:ea typeface="Lexend"/>
              <a:cs typeface="Lexend"/>
              <a:sym typeface="Lexend"/>
            </a:endParaRPr>
          </a:p>
          <a:p>
            <a:pPr indent="-381000" lvl="0" marL="457200" rtl="0" algn="l">
              <a:spcBef>
                <a:spcPts val="1600"/>
              </a:spcBef>
              <a:spcAft>
                <a:spcPts val="0"/>
              </a:spcAft>
              <a:buClr>
                <a:schemeClr val="dk1"/>
              </a:buClr>
              <a:buSzPts val="2400"/>
              <a:buFont typeface="Lexend"/>
              <a:buChar char="▪"/>
            </a:pPr>
            <a:r>
              <a:rPr lang="en" sz="2400">
                <a:solidFill>
                  <a:schemeClr val="dk1"/>
                </a:solidFill>
                <a:latin typeface="Lexend"/>
                <a:ea typeface="Lexend"/>
                <a:cs typeface="Lexend"/>
                <a:sym typeface="Lexend"/>
              </a:rPr>
              <a:t>In general, block-level design method (as opposed to gate-level design) relies on algorithms or formulae of the circuit, which are obtained by </a:t>
            </a:r>
            <a:r>
              <a:rPr lang="en" sz="2400">
                <a:solidFill>
                  <a:srgbClr val="FF0000"/>
                </a:solidFill>
                <a:latin typeface="Lexend"/>
                <a:ea typeface="Lexend"/>
                <a:cs typeface="Lexend"/>
                <a:sym typeface="Lexend"/>
              </a:rPr>
              <a:t>decomposing the main problem to sub-problems </a:t>
            </a:r>
            <a:r>
              <a:rPr lang="en" sz="2400">
                <a:solidFill>
                  <a:schemeClr val="dk1"/>
                </a:solidFill>
                <a:latin typeface="Lexend"/>
                <a:ea typeface="Lexend"/>
                <a:cs typeface="Lexend"/>
                <a:sym typeface="Lexend"/>
              </a:rPr>
              <a:t>recursively (until small enough to be directly solved by blocks of circuits).</a:t>
            </a:r>
            <a:endParaRPr i="1" sz="2400">
              <a:solidFill>
                <a:srgbClr val="FF0000"/>
              </a:solidFill>
              <a:latin typeface="Lexend"/>
              <a:ea typeface="Lexend"/>
              <a:cs typeface="Lexend"/>
              <a:sym typeface="Lexend"/>
            </a:endParaRPr>
          </a:p>
        </p:txBody>
      </p:sp>
      <p:grpSp>
        <p:nvGrpSpPr>
          <p:cNvPr id="187" name="Google Shape;187;p20"/>
          <p:cNvGrpSpPr/>
          <p:nvPr/>
        </p:nvGrpSpPr>
        <p:grpSpPr>
          <a:xfrm>
            <a:off x="50480" y="122879"/>
            <a:ext cx="277873" cy="68400"/>
            <a:chOff x="411700" y="2416840"/>
            <a:chExt cx="277873" cy="68400"/>
          </a:xfrm>
        </p:grpSpPr>
        <p:sp>
          <p:nvSpPr>
            <p:cNvPr id="188" name="Google Shape;188;p2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1" name="Google Shape;191;p2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Block-Level Design Method</a:t>
            </a:r>
            <a:endParaRPr sz="3600">
              <a:solidFill>
                <a:schemeClr val="dk1"/>
              </a:solidFill>
              <a:latin typeface="Lexend"/>
              <a:ea typeface="Lexend"/>
              <a:cs typeface="Lexend"/>
              <a:sym typeface="Lexend"/>
            </a:endParaRPr>
          </a:p>
        </p:txBody>
      </p:sp>
      <p:sp>
        <p:nvSpPr>
          <p:cNvPr id="192" name="Google Shape;192;p2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93" name="Google Shape;193;p2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9" name="Google Shape;199;p2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00" name="Google Shape;200;p2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01" name="Google Shape;201;p21"/>
          <p:cNvSpPr txBox="1"/>
          <p:nvPr/>
        </p:nvSpPr>
        <p:spPr>
          <a:xfrm>
            <a:off x="256650" y="972838"/>
            <a:ext cx="8630700" cy="2169300"/>
          </a:xfrm>
          <a:prstGeom prst="rect">
            <a:avLst/>
          </a:prstGeom>
          <a:noFill/>
          <a:ln>
            <a:noFill/>
          </a:ln>
        </p:spPr>
        <p:txBody>
          <a:bodyPr anchorCtr="0" anchor="t" bIns="91425" lIns="91425" spcFirstLastPara="1" rIns="91425" wrap="square" tIns="91425">
            <a:spAutoFit/>
          </a:bodyPr>
          <a:lstStyle/>
          <a:p>
            <a:pPr indent="-392430" lvl="0" marL="457200" rtl="0" algn="l">
              <a:lnSpc>
                <a:spcPct val="90000"/>
              </a:lnSpc>
              <a:spcBef>
                <a:spcPts val="0"/>
              </a:spcBef>
              <a:spcAft>
                <a:spcPts val="0"/>
              </a:spcAft>
              <a:buClr>
                <a:schemeClr val="dk1"/>
              </a:buClr>
              <a:buSzPts val="2580"/>
              <a:buFont typeface="Lexend"/>
              <a:buChar char="▪"/>
            </a:pPr>
            <a:r>
              <a:rPr lang="en" sz="2100">
                <a:solidFill>
                  <a:schemeClr val="dk1"/>
                </a:solidFill>
                <a:latin typeface="Lexend"/>
                <a:ea typeface="Lexend"/>
                <a:cs typeface="Lexend"/>
                <a:sym typeface="Lexend"/>
              </a:rPr>
              <a:t>Four common and useful MSI circuits are:</a:t>
            </a:r>
            <a:endParaRPr sz="2500">
              <a:solidFill>
                <a:schemeClr val="dk1"/>
              </a:solidFill>
              <a:latin typeface="Lexend"/>
              <a:ea typeface="Lexend"/>
              <a:cs typeface="Lexend"/>
              <a:sym typeface="Lexend"/>
            </a:endParaRPr>
          </a:p>
          <a:p>
            <a:pPr indent="-336550" lvl="1" marL="914400" rtl="0" algn="l">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Decoder</a:t>
            </a:r>
            <a:endParaRPr sz="2300">
              <a:solidFill>
                <a:schemeClr val="dk1"/>
              </a:solidFill>
              <a:latin typeface="Lexend"/>
              <a:ea typeface="Lexend"/>
              <a:cs typeface="Lexend"/>
              <a:sym typeface="Lexend"/>
            </a:endParaRPr>
          </a:p>
          <a:p>
            <a:pPr indent="-336550" lvl="1" marL="914400" rtl="0" algn="l">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Demultiplexer</a:t>
            </a:r>
            <a:endParaRPr sz="2300">
              <a:solidFill>
                <a:schemeClr val="dk1"/>
              </a:solidFill>
              <a:latin typeface="Lexend"/>
              <a:ea typeface="Lexend"/>
              <a:cs typeface="Lexend"/>
              <a:sym typeface="Lexend"/>
            </a:endParaRPr>
          </a:p>
          <a:p>
            <a:pPr indent="-336550" lvl="1" marL="914400" rtl="0" algn="l">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Encoder</a:t>
            </a:r>
            <a:endParaRPr sz="2300">
              <a:solidFill>
                <a:schemeClr val="dk1"/>
              </a:solidFill>
              <a:latin typeface="Lexend"/>
              <a:ea typeface="Lexend"/>
              <a:cs typeface="Lexend"/>
              <a:sym typeface="Lexend"/>
            </a:endParaRPr>
          </a:p>
          <a:p>
            <a:pPr indent="-336550" lvl="1" marL="914400" rtl="0" algn="l">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Multiplexer</a:t>
            </a:r>
            <a:endParaRPr sz="2300">
              <a:solidFill>
                <a:schemeClr val="dk1"/>
              </a:solidFill>
              <a:latin typeface="Lexend"/>
              <a:ea typeface="Lexend"/>
              <a:cs typeface="Lexend"/>
              <a:sym typeface="Lexend"/>
            </a:endParaRPr>
          </a:p>
          <a:p>
            <a:pPr indent="-386080" lvl="0" marL="457200" rtl="0" algn="l">
              <a:lnSpc>
                <a:spcPct val="90000"/>
              </a:lnSpc>
              <a:spcBef>
                <a:spcPts val="1000"/>
              </a:spcBef>
              <a:spcAft>
                <a:spcPts val="0"/>
              </a:spcAft>
              <a:buClr>
                <a:schemeClr val="dk1"/>
              </a:buClr>
              <a:buSzPts val="2480"/>
              <a:buFont typeface="Lexend"/>
              <a:buChar char="▪"/>
            </a:pPr>
            <a:r>
              <a:rPr lang="en" sz="2000">
                <a:solidFill>
                  <a:schemeClr val="dk1"/>
                </a:solidFill>
                <a:latin typeface="Lexend"/>
                <a:ea typeface="Lexend"/>
                <a:cs typeface="Lexend"/>
                <a:sym typeface="Lexend"/>
              </a:rPr>
              <a:t>Block-level outlines of MSI circuits:</a:t>
            </a:r>
            <a:endParaRPr sz="2000">
              <a:solidFill>
                <a:schemeClr val="dk1"/>
              </a:solidFill>
              <a:latin typeface="Lexend"/>
              <a:ea typeface="Lexend"/>
              <a:cs typeface="Lexend"/>
              <a:sym typeface="Lexend"/>
            </a:endParaRPr>
          </a:p>
        </p:txBody>
      </p:sp>
      <p:grpSp>
        <p:nvGrpSpPr>
          <p:cNvPr id="202" name="Google Shape;202;p21"/>
          <p:cNvGrpSpPr/>
          <p:nvPr/>
        </p:nvGrpSpPr>
        <p:grpSpPr>
          <a:xfrm>
            <a:off x="50480" y="122879"/>
            <a:ext cx="277873" cy="68400"/>
            <a:chOff x="411700" y="2416840"/>
            <a:chExt cx="277873" cy="68400"/>
          </a:xfrm>
        </p:grpSpPr>
        <p:sp>
          <p:nvSpPr>
            <p:cNvPr id="203" name="Google Shape;203;p2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2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2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6" name="Google Shape;206;p2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Useful MSI circuits</a:t>
            </a:r>
            <a:endParaRPr sz="3600">
              <a:solidFill>
                <a:schemeClr val="dk1"/>
              </a:solidFill>
              <a:latin typeface="Lexend"/>
              <a:ea typeface="Lexend"/>
              <a:cs typeface="Lexend"/>
              <a:sym typeface="Lexend"/>
            </a:endParaRPr>
          </a:p>
        </p:txBody>
      </p:sp>
      <p:sp>
        <p:nvSpPr>
          <p:cNvPr id="207" name="Google Shape;207;p2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08" name="Google Shape;208;p2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209" name="Google Shape;209;p21"/>
          <p:cNvPicPr preferRelativeResize="0"/>
          <p:nvPr/>
        </p:nvPicPr>
        <p:blipFill>
          <a:blip r:embed="rId4">
            <a:alphaModFix/>
          </a:blip>
          <a:stretch>
            <a:fillRect/>
          </a:stretch>
        </p:blipFill>
        <p:spPr>
          <a:xfrm>
            <a:off x="256650" y="3059825"/>
            <a:ext cx="2464326" cy="927800"/>
          </a:xfrm>
          <a:prstGeom prst="rect">
            <a:avLst/>
          </a:prstGeom>
          <a:noFill/>
          <a:ln>
            <a:noFill/>
          </a:ln>
        </p:spPr>
      </p:pic>
      <p:pic>
        <p:nvPicPr>
          <p:cNvPr id="210" name="Google Shape;210;p21"/>
          <p:cNvPicPr preferRelativeResize="0"/>
          <p:nvPr/>
        </p:nvPicPr>
        <p:blipFill>
          <a:blip r:embed="rId5">
            <a:alphaModFix/>
          </a:blip>
          <a:stretch>
            <a:fillRect/>
          </a:stretch>
        </p:blipFill>
        <p:spPr>
          <a:xfrm>
            <a:off x="2097375" y="3987625"/>
            <a:ext cx="2380231" cy="927800"/>
          </a:xfrm>
          <a:prstGeom prst="rect">
            <a:avLst/>
          </a:prstGeom>
          <a:noFill/>
          <a:ln>
            <a:noFill/>
          </a:ln>
        </p:spPr>
      </p:pic>
      <p:pic>
        <p:nvPicPr>
          <p:cNvPr id="211" name="Google Shape;211;p21"/>
          <p:cNvPicPr preferRelativeResize="0"/>
          <p:nvPr/>
        </p:nvPicPr>
        <p:blipFill>
          <a:blip r:embed="rId6">
            <a:alphaModFix/>
          </a:blip>
          <a:stretch>
            <a:fillRect/>
          </a:stretch>
        </p:blipFill>
        <p:spPr>
          <a:xfrm>
            <a:off x="4373769" y="3142138"/>
            <a:ext cx="2261900" cy="1033331"/>
          </a:xfrm>
          <a:prstGeom prst="rect">
            <a:avLst/>
          </a:prstGeom>
          <a:noFill/>
          <a:ln>
            <a:noFill/>
          </a:ln>
        </p:spPr>
      </p:pic>
      <p:pic>
        <p:nvPicPr>
          <p:cNvPr id="212" name="Google Shape;212;p21"/>
          <p:cNvPicPr preferRelativeResize="0"/>
          <p:nvPr/>
        </p:nvPicPr>
        <p:blipFill>
          <a:blip r:embed="rId7">
            <a:alphaModFix/>
          </a:blip>
          <a:stretch>
            <a:fillRect/>
          </a:stretch>
        </p:blipFill>
        <p:spPr>
          <a:xfrm>
            <a:off x="6735900" y="3850525"/>
            <a:ext cx="2040155" cy="1033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18" name="Google Shape;218;p2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19" name="Google Shape;219;p2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20" name="Google Shape;220;p22"/>
          <p:cNvSpPr txBox="1"/>
          <p:nvPr/>
        </p:nvSpPr>
        <p:spPr>
          <a:xfrm>
            <a:off x="256650" y="972838"/>
            <a:ext cx="8630700" cy="2372400"/>
          </a:xfrm>
          <a:prstGeom prst="rect">
            <a:avLst/>
          </a:prstGeom>
          <a:noFill/>
          <a:ln>
            <a:noFill/>
          </a:ln>
        </p:spPr>
        <p:txBody>
          <a:bodyPr anchorCtr="0" anchor="t" bIns="91425" lIns="91425" spcFirstLastPara="1" rIns="91425" wrap="square" tIns="91425">
            <a:spAutoFit/>
          </a:bodyPr>
          <a:lstStyle/>
          <a:p>
            <a:pPr indent="-368300" lvl="0" marL="457200" rtl="0" algn="l">
              <a:lnSpc>
                <a:spcPct val="90000"/>
              </a:lnSpc>
              <a:spcBef>
                <a:spcPts val="0"/>
              </a:spcBef>
              <a:spcAft>
                <a:spcPts val="0"/>
              </a:spcAft>
              <a:buClr>
                <a:srgbClr val="0000CC"/>
              </a:buClr>
              <a:buSzPts val="2200"/>
              <a:buFont typeface="Lexend"/>
              <a:buChar char="▪"/>
            </a:pPr>
            <a:r>
              <a:rPr lang="en" sz="2200">
                <a:solidFill>
                  <a:srgbClr val="0000CC"/>
                </a:solidFill>
                <a:latin typeface="Lexend"/>
                <a:ea typeface="Lexend"/>
                <a:cs typeface="Lexend"/>
                <a:sym typeface="Lexend"/>
              </a:rPr>
              <a:t>Convert binary information from </a:t>
            </a:r>
            <a:r>
              <a:rPr i="1" lang="en" sz="2200">
                <a:solidFill>
                  <a:srgbClr val="0000CC"/>
                </a:solidFill>
                <a:latin typeface="Lexend"/>
                <a:ea typeface="Lexend"/>
                <a:cs typeface="Lexend"/>
                <a:sym typeface="Lexend"/>
              </a:rPr>
              <a:t>n</a:t>
            </a:r>
            <a:r>
              <a:rPr lang="en" sz="2200">
                <a:solidFill>
                  <a:srgbClr val="0000CC"/>
                </a:solidFill>
                <a:latin typeface="Lexend"/>
                <a:ea typeface="Lexend"/>
                <a:cs typeface="Lexend"/>
                <a:sym typeface="Lexend"/>
              </a:rPr>
              <a:t> input lines to (max. of) 2</a:t>
            </a:r>
            <a:r>
              <a:rPr baseline="30000" i="1" lang="en" sz="2200">
                <a:solidFill>
                  <a:srgbClr val="0000CC"/>
                </a:solidFill>
                <a:latin typeface="Lexend"/>
                <a:ea typeface="Lexend"/>
                <a:cs typeface="Lexend"/>
                <a:sym typeface="Lexend"/>
              </a:rPr>
              <a:t>n</a:t>
            </a:r>
            <a:r>
              <a:rPr lang="en" sz="2200">
                <a:solidFill>
                  <a:srgbClr val="0000CC"/>
                </a:solidFill>
                <a:latin typeface="Lexend"/>
                <a:ea typeface="Lexend"/>
                <a:cs typeface="Lexend"/>
                <a:sym typeface="Lexend"/>
              </a:rPr>
              <a:t> output lines.</a:t>
            </a:r>
            <a:endParaRPr sz="2200">
              <a:solidFill>
                <a:schemeClr val="dk1"/>
              </a:solidFill>
              <a:latin typeface="Lexend"/>
              <a:ea typeface="Lexend"/>
              <a:cs typeface="Lexend"/>
              <a:sym typeface="Lexend"/>
            </a:endParaRPr>
          </a:p>
          <a:p>
            <a:pPr indent="-368300" lvl="0" marL="457200" rtl="0" algn="l">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Known as </a:t>
            </a:r>
            <a:r>
              <a:rPr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-to-</a:t>
            </a:r>
            <a:r>
              <a:rPr i="1" lang="en" sz="2200">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-line decoder, or simply </a:t>
            </a:r>
            <a:r>
              <a:rPr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r>
              <a:rPr i="1" lang="en" sz="2200">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or </a:t>
            </a:r>
            <a:r>
              <a:rPr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r>
              <a:rPr i="1" lang="en" sz="2200">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decoder (</a:t>
            </a:r>
            <a:r>
              <a:rPr i="1" lang="en" sz="2200">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 2</a:t>
            </a:r>
            <a:r>
              <a:rPr baseline="30000"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indent="-368300" lvl="0" marL="457200" rtl="0" algn="l">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May be used to generate 2</a:t>
            </a:r>
            <a:r>
              <a:rPr baseline="30000"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 (or fewer) minterms of </a:t>
            </a:r>
            <a:r>
              <a:rPr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 input variables.</a:t>
            </a:r>
            <a:endParaRPr sz="2200">
              <a:solidFill>
                <a:schemeClr val="dk1"/>
              </a:solidFill>
              <a:latin typeface="Lexend"/>
              <a:ea typeface="Lexend"/>
              <a:cs typeface="Lexend"/>
              <a:sym typeface="Lexend"/>
            </a:endParaRPr>
          </a:p>
        </p:txBody>
      </p:sp>
      <p:grpSp>
        <p:nvGrpSpPr>
          <p:cNvPr id="221" name="Google Shape;221;p22"/>
          <p:cNvGrpSpPr/>
          <p:nvPr/>
        </p:nvGrpSpPr>
        <p:grpSpPr>
          <a:xfrm>
            <a:off x="50480" y="122879"/>
            <a:ext cx="277873" cy="68400"/>
            <a:chOff x="411700" y="2416840"/>
            <a:chExt cx="277873" cy="68400"/>
          </a:xfrm>
        </p:grpSpPr>
        <p:sp>
          <p:nvSpPr>
            <p:cNvPr id="222" name="Google Shape;222;p2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2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2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25" name="Google Shape;225;p2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26" name="Google Shape;226;p2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27" name="Google Shape;227;p2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3"/>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3" name="Google Shape;233;p2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34" name="Google Shape;234;p2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35" name="Google Shape;235;p23"/>
          <p:cNvSpPr txBox="1"/>
          <p:nvPr/>
        </p:nvSpPr>
        <p:spPr>
          <a:xfrm>
            <a:off x="256650" y="972850"/>
            <a:ext cx="2921100" cy="2277900"/>
          </a:xfrm>
          <a:prstGeom prst="rect">
            <a:avLst/>
          </a:prstGeom>
          <a:noFill/>
          <a:ln>
            <a:noFill/>
          </a:ln>
        </p:spPr>
        <p:txBody>
          <a:bodyPr anchorCtr="0" anchor="t" bIns="91425" lIns="91425" spcFirstLastPara="1" rIns="91425" wrap="square" tIns="91425">
            <a:spAutoFit/>
          </a:bodyPr>
          <a:lstStyle/>
          <a:p>
            <a:pPr indent="-172720" lvl="0" marL="2286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From truth table, circuit for 2×4 decoder is:</a:t>
            </a:r>
            <a:endParaRPr sz="2000">
              <a:solidFill>
                <a:schemeClr val="dk1"/>
              </a:solidFill>
              <a:latin typeface="Lexend"/>
              <a:ea typeface="Lexend"/>
              <a:cs typeface="Lexend"/>
              <a:sym typeface="Lexend"/>
            </a:endParaRPr>
          </a:p>
          <a:p>
            <a:pPr indent="-172720" lvl="0" marL="228600" rtl="0" algn="l">
              <a:lnSpc>
                <a:spcPct val="90000"/>
              </a:lnSpc>
              <a:spcBef>
                <a:spcPts val="1200"/>
              </a:spcBef>
              <a:spcAft>
                <a:spcPts val="0"/>
              </a:spcAft>
              <a:buClr>
                <a:schemeClr val="dk1"/>
              </a:buClr>
              <a:buSzPts val="2000"/>
              <a:buFont typeface="Noto Sans Symbols"/>
              <a:buChar char="▪"/>
            </a:pPr>
            <a:r>
              <a:rPr lang="en" sz="2000">
                <a:solidFill>
                  <a:schemeClr val="dk1"/>
                </a:solidFill>
                <a:latin typeface="Lexend"/>
                <a:ea typeface="Lexend"/>
                <a:cs typeface="Lexend"/>
                <a:sym typeface="Lexend"/>
              </a:rPr>
              <a:t>Note: Each output is a 2-variable minterm (</a:t>
            </a:r>
            <a:r>
              <a:rPr b="1" lang="en" sz="2000">
                <a:solidFill>
                  <a:schemeClr val="dk1"/>
                </a:solidFill>
                <a:latin typeface="Lexend"/>
                <a:ea typeface="Lexend"/>
                <a:cs typeface="Lexend"/>
                <a:sym typeface="Lexend"/>
              </a:rPr>
              <a:t>X'Y', X'Y, XY' </a:t>
            </a:r>
            <a:r>
              <a:rPr lang="en" sz="2000">
                <a:solidFill>
                  <a:schemeClr val="dk1"/>
                </a:solidFill>
                <a:latin typeface="Lexend"/>
                <a:ea typeface="Lexend"/>
                <a:cs typeface="Lexend"/>
                <a:sym typeface="Lexend"/>
              </a:rPr>
              <a:t>or </a:t>
            </a:r>
            <a:r>
              <a:rPr b="1" lang="en" sz="2000">
                <a:solidFill>
                  <a:schemeClr val="dk1"/>
                </a:solidFill>
                <a:latin typeface="Lexend"/>
                <a:ea typeface="Lexend"/>
                <a:cs typeface="Lexend"/>
                <a:sym typeface="Lexend"/>
              </a:rPr>
              <a:t>XY</a:t>
            </a:r>
            <a:r>
              <a:rPr lang="en"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p:txBody>
      </p:sp>
      <p:grpSp>
        <p:nvGrpSpPr>
          <p:cNvPr id="236" name="Google Shape;236;p23"/>
          <p:cNvGrpSpPr/>
          <p:nvPr/>
        </p:nvGrpSpPr>
        <p:grpSpPr>
          <a:xfrm>
            <a:off x="50480" y="122879"/>
            <a:ext cx="277873" cy="68400"/>
            <a:chOff x="411700" y="2416840"/>
            <a:chExt cx="277873" cy="68400"/>
          </a:xfrm>
        </p:grpSpPr>
        <p:sp>
          <p:nvSpPr>
            <p:cNvPr id="237" name="Google Shape;237;p2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2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2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40" name="Google Shape;240;p2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41" name="Google Shape;241;p2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42" name="Google Shape;242;p2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243" name="Google Shape;243;p23"/>
          <p:cNvGrpSpPr/>
          <p:nvPr/>
        </p:nvGrpSpPr>
        <p:grpSpPr>
          <a:xfrm>
            <a:off x="209780" y="3195294"/>
            <a:ext cx="3409760" cy="1468083"/>
            <a:chOff x="541775" y="2457625"/>
            <a:chExt cx="3662077" cy="1504800"/>
          </a:xfrm>
        </p:grpSpPr>
        <p:sp>
          <p:nvSpPr>
            <p:cNvPr id="244" name="Google Shape;244;p23"/>
            <p:cNvSpPr/>
            <p:nvPr/>
          </p:nvSpPr>
          <p:spPr>
            <a:xfrm>
              <a:off x="1864350" y="2533825"/>
              <a:ext cx="952500" cy="1428600"/>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45" name="Google Shape;245;p23"/>
            <p:cNvSpPr txBox="1"/>
            <p:nvPr/>
          </p:nvSpPr>
          <p:spPr>
            <a:xfrm>
              <a:off x="1864350" y="2457625"/>
              <a:ext cx="952500" cy="59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2x4</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Dec</a:t>
              </a:r>
              <a:endParaRPr b="0" i="0" sz="2000" u="none" cap="none" strike="noStrike">
                <a:solidFill>
                  <a:srgbClr val="000000"/>
                </a:solidFill>
                <a:latin typeface="Arial"/>
                <a:ea typeface="Arial"/>
                <a:cs typeface="Arial"/>
                <a:sym typeface="Arial"/>
              </a:endParaRPr>
            </a:p>
          </p:txBody>
        </p:sp>
        <p:cxnSp>
          <p:nvCxnSpPr>
            <p:cNvPr id="246" name="Google Shape;246;p23"/>
            <p:cNvCxnSpPr/>
            <p:nvPr/>
          </p:nvCxnSpPr>
          <p:spPr>
            <a:xfrm>
              <a:off x="1386884" y="29910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47" name="Google Shape;247;p23"/>
            <p:cNvCxnSpPr/>
            <p:nvPr/>
          </p:nvCxnSpPr>
          <p:spPr>
            <a:xfrm>
              <a:off x="2812527" y="30672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48" name="Google Shape;248;p23"/>
            <p:cNvCxnSpPr/>
            <p:nvPr/>
          </p:nvCxnSpPr>
          <p:spPr>
            <a:xfrm>
              <a:off x="2812527" y="28386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49" name="Google Shape;249;p23"/>
            <p:cNvCxnSpPr/>
            <p:nvPr/>
          </p:nvCxnSpPr>
          <p:spPr>
            <a:xfrm>
              <a:off x="1386884" y="33720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50" name="Google Shape;250;p23"/>
            <p:cNvCxnSpPr/>
            <p:nvPr/>
          </p:nvCxnSpPr>
          <p:spPr>
            <a:xfrm>
              <a:off x="2812527" y="32958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51" name="Google Shape;251;p23"/>
            <p:cNvCxnSpPr/>
            <p:nvPr/>
          </p:nvCxnSpPr>
          <p:spPr>
            <a:xfrm>
              <a:off x="2812527" y="3524425"/>
              <a:ext cx="476400" cy="0"/>
            </a:xfrm>
            <a:prstGeom prst="straightConnector1">
              <a:avLst/>
            </a:prstGeom>
            <a:noFill/>
            <a:ln cap="flat" cmpd="sng" w="15875">
              <a:solidFill>
                <a:srgbClr val="000000"/>
              </a:solidFill>
              <a:prstDash val="solid"/>
              <a:round/>
              <a:headEnd len="sm" w="sm" type="none"/>
              <a:tailEnd len="med" w="med" type="triangle"/>
            </a:ln>
          </p:spPr>
        </p:cxnSp>
        <p:sp>
          <p:nvSpPr>
            <p:cNvPr id="252" name="Google Shape;252;p23"/>
            <p:cNvSpPr txBox="1"/>
            <p:nvPr/>
          </p:nvSpPr>
          <p:spPr>
            <a:xfrm>
              <a:off x="541775" y="2838625"/>
              <a:ext cx="732300" cy="50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300" u="none" cap="none" strike="noStrike">
                  <a:solidFill>
                    <a:srgbClr val="000000"/>
                  </a:solidFill>
                  <a:latin typeface="Arial"/>
                  <a:ea typeface="Arial"/>
                  <a:cs typeface="Arial"/>
                  <a:sym typeface="Arial"/>
                </a:rPr>
                <a:t>2-bit code</a:t>
              </a:r>
              <a:endParaRPr b="0" i="0" sz="1700" u="none" cap="none" strike="noStrike">
                <a:solidFill>
                  <a:srgbClr val="000000"/>
                </a:solidFill>
                <a:latin typeface="Arial"/>
                <a:ea typeface="Arial"/>
                <a:cs typeface="Arial"/>
                <a:sym typeface="Arial"/>
              </a:endParaRPr>
            </a:p>
          </p:txBody>
        </p:sp>
        <p:sp>
          <p:nvSpPr>
            <p:cNvPr id="253" name="Google Shape;253;p23"/>
            <p:cNvSpPr txBox="1"/>
            <p:nvPr/>
          </p:nvSpPr>
          <p:spPr>
            <a:xfrm>
              <a:off x="1819900" y="2838625"/>
              <a:ext cx="476400" cy="69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X</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Y</a:t>
              </a:r>
              <a:endParaRPr b="0" i="0" sz="2000" u="none" cap="none" strike="noStrike">
                <a:solidFill>
                  <a:srgbClr val="000000"/>
                </a:solidFill>
                <a:latin typeface="Arial"/>
                <a:ea typeface="Arial"/>
                <a:cs typeface="Arial"/>
                <a:sym typeface="Arial"/>
              </a:endParaRPr>
            </a:p>
          </p:txBody>
        </p:sp>
        <p:sp>
          <p:nvSpPr>
            <p:cNvPr id="254" name="Google Shape;254;p23"/>
            <p:cNvSpPr txBox="1"/>
            <p:nvPr/>
          </p:nvSpPr>
          <p:spPr>
            <a:xfrm>
              <a:off x="2511523" y="2686234"/>
              <a:ext cx="515100" cy="97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F</a:t>
              </a:r>
              <a:r>
                <a:rPr b="1" baseline="-25000" i="0" lang="en" sz="1400" u="none" cap="none" strike="noStrike">
                  <a:solidFill>
                    <a:srgbClr val="000000"/>
                  </a:solidFill>
                  <a:latin typeface="Arial"/>
                  <a:ea typeface="Arial"/>
                  <a:cs typeface="Arial"/>
                  <a:sym typeface="Arial"/>
                </a:rPr>
                <a:t>0 </a:t>
              </a:r>
              <a:r>
                <a:rPr b="1" i="0" lang="en" sz="1400" u="none" cap="none" strike="noStrike">
                  <a:solidFill>
                    <a:srgbClr val="000000"/>
                  </a:solidFill>
                  <a:latin typeface="Arial"/>
                  <a:ea typeface="Arial"/>
                  <a:cs typeface="Arial"/>
                  <a:sym typeface="Arial"/>
                </a:rPr>
                <a:t>F</a:t>
              </a:r>
              <a:r>
                <a:rPr b="1" baseline="-25000" i="0" lang="en" sz="1400" u="none" cap="none" strike="noStrike">
                  <a:solidFill>
                    <a:srgbClr val="000000"/>
                  </a:solidFill>
                  <a:latin typeface="Arial"/>
                  <a:ea typeface="Arial"/>
                  <a:cs typeface="Arial"/>
                  <a:sym typeface="Arial"/>
                </a:rPr>
                <a:t>1 </a:t>
              </a:r>
              <a:r>
                <a:rPr b="1" i="0" lang="en" sz="1400" u="none" cap="none" strike="noStrike">
                  <a:solidFill>
                    <a:srgbClr val="000000"/>
                  </a:solidFill>
                  <a:latin typeface="Arial"/>
                  <a:ea typeface="Arial"/>
                  <a:cs typeface="Arial"/>
                  <a:sym typeface="Arial"/>
                </a:rPr>
                <a:t>F</a:t>
              </a:r>
              <a:r>
                <a:rPr b="1" baseline="-25000" i="0" lang="en" sz="1400" u="none" cap="none" strike="noStrike">
                  <a:solidFill>
                    <a:srgbClr val="000000"/>
                  </a:solidFill>
                  <a:latin typeface="Arial"/>
                  <a:ea typeface="Arial"/>
                  <a:cs typeface="Arial"/>
                  <a:sym typeface="Arial"/>
                </a:rPr>
                <a:t>2 </a:t>
              </a:r>
              <a:r>
                <a:rPr b="1" i="0" lang="en" sz="1400" u="none" cap="none" strike="noStrike">
                  <a:solidFill>
                    <a:srgbClr val="000000"/>
                  </a:solidFill>
                  <a:latin typeface="Arial"/>
                  <a:ea typeface="Arial"/>
                  <a:cs typeface="Arial"/>
                  <a:sym typeface="Arial"/>
                </a:rPr>
                <a:t>F</a:t>
              </a:r>
              <a:r>
                <a:rPr b="1" baseline="-25000" i="0" lang="en" sz="1400" u="none" cap="none" strike="noStrike">
                  <a:solidFill>
                    <a:srgbClr val="000000"/>
                  </a:solidFill>
                  <a:latin typeface="Arial"/>
                  <a:ea typeface="Arial"/>
                  <a:cs typeface="Arial"/>
                  <a:sym typeface="Arial"/>
                </a:rPr>
                <a:t>3</a:t>
              </a:r>
              <a:endParaRPr b="1" i="0" sz="1400" u="none" cap="none" strike="noStrike">
                <a:solidFill>
                  <a:srgbClr val="000000"/>
                </a:solidFill>
                <a:latin typeface="Arial"/>
                <a:ea typeface="Arial"/>
                <a:cs typeface="Arial"/>
                <a:sym typeface="Arial"/>
              </a:endParaRPr>
            </a:p>
          </p:txBody>
        </p:sp>
        <p:sp>
          <p:nvSpPr>
            <p:cNvPr id="255" name="Google Shape;255;p23"/>
            <p:cNvSpPr txBox="1"/>
            <p:nvPr/>
          </p:nvSpPr>
          <p:spPr>
            <a:xfrm>
              <a:off x="3251352" y="2679470"/>
              <a:ext cx="952500" cy="1033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Bulb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Bulb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Bulb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Bulb 3</a:t>
              </a:r>
              <a:endParaRPr b="0" i="0" sz="2000" u="none" cap="none" strike="noStrike">
                <a:solidFill>
                  <a:srgbClr val="000000"/>
                </a:solidFill>
                <a:latin typeface="Arial"/>
                <a:ea typeface="Arial"/>
                <a:cs typeface="Arial"/>
                <a:sym typeface="Arial"/>
              </a:endParaRPr>
            </a:p>
          </p:txBody>
        </p:sp>
      </p:grpSp>
      <p:graphicFrame>
        <p:nvGraphicFramePr>
          <p:cNvPr id="256" name="Google Shape;256;p23"/>
          <p:cNvGraphicFramePr/>
          <p:nvPr/>
        </p:nvGraphicFramePr>
        <p:xfrm>
          <a:off x="3341450" y="972838"/>
          <a:ext cx="3000000" cy="3000000"/>
        </p:xfrm>
        <a:graphic>
          <a:graphicData uri="http://schemas.openxmlformats.org/drawingml/2006/table">
            <a:tbl>
              <a:tblPr>
                <a:noFill/>
                <a:tableStyleId>{031C2276-671B-496E-B77D-804DC5F1F2AA}</a:tableStyleId>
              </a:tblPr>
              <a:tblGrid>
                <a:gridCol w="382900"/>
                <a:gridCol w="382900"/>
                <a:gridCol w="382900"/>
                <a:gridCol w="382900"/>
                <a:gridCol w="382900"/>
                <a:gridCol w="408050"/>
              </a:tblGrid>
              <a:tr h="293950">
                <a:tc>
                  <a:txBody>
                    <a:bodyPr/>
                    <a:lstStyle/>
                    <a:p>
                      <a:pPr indent="0" lvl="0" marL="0" marR="0" rtl="0" algn="ctr">
                        <a:lnSpc>
                          <a:spcPct val="100000"/>
                        </a:lnSpc>
                        <a:spcBef>
                          <a:spcPts val="0"/>
                        </a:spcBef>
                        <a:spcAft>
                          <a:spcPts val="0"/>
                        </a:spcAft>
                        <a:buNone/>
                      </a:pPr>
                      <a:r>
                        <a:rPr lang="en" sz="1300">
                          <a:latin typeface="Lexend"/>
                          <a:ea typeface="Lexend"/>
                          <a:cs typeface="Lexend"/>
                          <a:sym typeface="Lexend"/>
                        </a:rPr>
                        <a:t>X</a:t>
                      </a:r>
                      <a:endParaRPr sz="13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Lexend"/>
                          <a:ea typeface="Lexend"/>
                          <a:cs typeface="Lexend"/>
                          <a:sym typeface="Lexend"/>
                        </a:rPr>
                        <a:t>Y</a:t>
                      </a:r>
                      <a:endParaRPr sz="13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300">
                          <a:solidFill>
                            <a:schemeClr val="dk1"/>
                          </a:solidFill>
                          <a:latin typeface="Lexend"/>
                          <a:ea typeface="Lexend"/>
                          <a:cs typeface="Lexend"/>
                          <a:sym typeface="Lexend"/>
                        </a:rPr>
                        <a:t>F0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a:ea typeface="Lexend"/>
                          <a:cs typeface="Lexend"/>
                          <a:sym typeface="Lexend"/>
                        </a:rPr>
                        <a:t>F1</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a:ea typeface="Lexend"/>
                          <a:cs typeface="Lexend"/>
                          <a:sym typeface="Lexend"/>
                        </a:rPr>
                        <a:t>F2</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a:ea typeface="Lexend"/>
                          <a:cs typeface="Lexend"/>
                          <a:sym typeface="Lexend"/>
                        </a:rPr>
                        <a:t>F3</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300">
                          <a:solidFill>
                            <a:schemeClr val="dk1"/>
                          </a:solidFill>
                          <a:latin typeface="Lexend"/>
                          <a:ea typeface="Lexend"/>
                          <a:cs typeface="Lexend"/>
                          <a:sym typeface="Lexend"/>
                        </a:rPr>
                        <a:t>1</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300">
                          <a:solidFill>
                            <a:schemeClr val="dk1"/>
                          </a:solidFill>
                          <a:latin typeface="Lexend"/>
                          <a:ea typeface="Lexend"/>
                          <a:cs typeface="Lexend"/>
                          <a:sym typeface="Lexend"/>
                        </a:rPr>
                        <a:t>0</a:t>
                      </a:r>
                      <a:endParaRPr b="1" i="0" sz="1300" u="none">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300">
                          <a:solidFill>
                            <a:schemeClr val="dk1"/>
                          </a:solidFill>
                          <a:latin typeface="Lexend"/>
                          <a:ea typeface="Lexend"/>
                          <a:cs typeface="Lexend"/>
                          <a:sym typeface="Lexend"/>
                        </a:rPr>
                        <a:t>0</a:t>
                      </a:r>
                      <a:endParaRPr b="1" i="0" sz="1300" u="none">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300">
                          <a:solidFill>
                            <a:schemeClr val="dk1"/>
                          </a:solidFill>
                          <a:latin typeface="Lexend"/>
                          <a:ea typeface="Lexend"/>
                          <a:cs typeface="Lexend"/>
                          <a:sym typeface="Lexend"/>
                        </a:rPr>
                        <a:t>0</a:t>
                      </a:r>
                      <a:endParaRPr b="1" i="0" sz="1300" u="none">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1</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1</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1</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pic>
        <p:nvPicPr>
          <p:cNvPr id="257" name="Google Shape;257;p23"/>
          <p:cNvPicPr preferRelativeResize="0"/>
          <p:nvPr/>
        </p:nvPicPr>
        <p:blipFill>
          <a:blip r:embed="rId4">
            <a:alphaModFix/>
          </a:blip>
          <a:stretch>
            <a:fillRect/>
          </a:stretch>
        </p:blipFill>
        <p:spPr>
          <a:xfrm>
            <a:off x="5899050" y="1050700"/>
            <a:ext cx="3168750" cy="3483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3" name="Google Shape;263;p2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64" name="Google Shape;264;p2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65" name="Google Shape;265;p24"/>
          <p:cNvSpPr txBox="1"/>
          <p:nvPr/>
        </p:nvSpPr>
        <p:spPr>
          <a:xfrm>
            <a:off x="256650" y="9728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Design a 3×8 decoder by yourself.</a:t>
            </a:r>
            <a:endParaRPr sz="2000">
              <a:solidFill>
                <a:schemeClr val="dk1"/>
              </a:solidFill>
              <a:latin typeface="Lexend"/>
              <a:ea typeface="Lexend"/>
              <a:cs typeface="Lexend"/>
              <a:sym typeface="Lexend"/>
            </a:endParaRPr>
          </a:p>
        </p:txBody>
      </p:sp>
      <p:grpSp>
        <p:nvGrpSpPr>
          <p:cNvPr id="266" name="Google Shape;266;p24"/>
          <p:cNvGrpSpPr/>
          <p:nvPr/>
        </p:nvGrpSpPr>
        <p:grpSpPr>
          <a:xfrm>
            <a:off x="50480" y="122879"/>
            <a:ext cx="277873" cy="68400"/>
            <a:chOff x="411700" y="2416840"/>
            <a:chExt cx="277873" cy="68400"/>
          </a:xfrm>
        </p:grpSpPr>
        <p:sp>
          <p:nvSpPr>
            <p:cNvPr id="267" name="Google Shape;267;p2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 name="Google Shape;268;p2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2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70" name="Google Shape;270;p2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71" name="Google Shape;271;p2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72" name="Google Shape;272;p2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8" name="Google Shape;278;p2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79" name="Google Shape;279;p2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80" name="Google Shape;280;p25"/>
          <p:cNvSpPr txBox="1"/>
          <p:nvPr/>
        </p:nvSpPr>
        <p:spPr>
          <a:xfrm>
            <a:off x="256650" y="9728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Solution:</a:t>
            </a:r>
            <a:endParaRPr sz="2000">
              <a:solidFill>
                <a:schemeClr val="dk1"/>
              </a:solidFill>
              <a:latin typeface="Lexend"/>
              <a:ea typeface="Lexend"/>
              <a:cs typeface="Lexend"/>
              <a:sym typeface="Lexend"/>
            </a:endParaRPr>
          </a:p>
        </p:txBody>
      </p:sp>
      <p:grpSp>
        <p:nvGrpSpPr>
          <p:cNvPr id="281" name="Google Shape;281;p25"/>
          <p:cNvGrpSpPr/>
          <p:nvPr/>
        </p:nvGrpSpPr>
        <p:grpSpPr>
          <a:xfrm>
            <a:off x="50480" y="122879"/>
            <a:ext cx="277873" cy="68400"/>
            <a:chOff x="411700" y="2416840"/>
            <a:chExt cx="277873" cy="68400"/>
          </a:xfrm>
        </p:grpSpPr>
        <p:sp>
          <p:nvSpPr>
            <p:cNvPr id="282" name="Google Shape;282;p2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3" name="Google Shape;283;p2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2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85" name="Google Shape;285;p2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86" name="Google Shape;286;p2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87" name="Google Shape;287;p2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288" name="Google Shape;288;p25"/>
          <p:cNvPicPr preferRelativeResize="0"/>
          <p:nvPr/>
        </p:nvPicPr>
        <p:blipFill>
          <a:blip r:embed="rId4">
            <a:alphaModFix/>
          </a:blip>
          <a:stretch>
            <a:fillRect/>
          </a:stretch>
        </p:blipFill>
        <p:spPr>
          <a:xfrm>
            <a:off x="4707340" y="208225"/>
            <a:ext cx="4436660" cy="4541050"/>
          </a:xfrm>
          <a:prstGeom prst="rect">
            <a:avLst/>
          </a:prstGeom>
          <a:noFill/>
          <a:ln>
            <a:noFill/>
          </a:ln>
        </p:spPr>
      </p:pic>
      <p:graphicFrame>
        <p:nvGraphicFramePr>
          <p:cNvPr id="289" name="Google Shape;289;p25"/>
          <p:cNvGraphicFramePr/>
          <p:nvPr/>
        </p:nvGraphicFramePr>
        <p:xfrm>
          <a:off x="403600" y="1560213"/>
          <a:ext cx="3000000" cy="3000000"/>
        </p:xfrm>
        <a:graphic>
          <a:graphicData uri="http://schemas.openxmlformats.org/drawingml/2006/table">
            <a:tbl>
              <a:tblPr>
                <a:noFill/>
                <a:tableStyleId>{031C2276-671B-496E-B77D-804DC5F1F2AA}</a:tableStyleId>
              </a:tblPr>
              <a:tblGrid>
                <a:gridCol w="382900"/>
                <a:gridCol w="382900"/>
                <a:gridCol w="382900"/>
                <a:gridCol w="382900"/>
                <a:gridCol w="382900"/>
                <a:gridCol w="382900"/>
                <a:gridCol w="382900"/>
                <a:gridCol w="382900"/>
                <a:gridCol w="382900"/>
                <a:gridCol w="382900"/>
                <a:gridCol w="382900"/>
              </a:tblGrid>
              <a:tr h="407575">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x</a:t>
                      </a:r>
                      <a:endParaRPr sz="1500">
                        <a:latin typeface="Lexend"/>
                        <a:ea typeface="Lexend"/>
                        <a:cs typeface="Lexend"/>
                        <a:sym typeface="Lexend"/>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a:ea typeface="Lexend"/>
                          <a:cs typeface="Lexend"/>
                          <a:sym typeface="Lexend"/>
                        </a:rPr>
                        <a:t>y</a:t>
                      </a:r>
                      <a:endParaRPr sz="1500">
                        <a:latin typeface="Lexend"/>
                        <a:ea typeface="Lexend"/>
                        <a:cs typeface="Lexend"/>
                        <a:sym typeface="Lexend"/>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a:ea typeface="Lexend"/>
                          <a:cs typeface="Lexend"/>
                          <a:sym typeface="Lexend"/>
                        </a:rPr>
                        <a:t>z</a:t>
                      </a:r>
                      <a:endParaRPr sz="1500">
                        <a:latin typeface="Lexend"/>
                        <a:ea typeface="Lexend"/>
                        <a:cs typeface="Lexend"/>
                        <a:sym typeface="Lexend"/>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0</a:t>
                      </a:r>
                      <a:endParaRPr baseline="-25000"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1</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2</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3</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4</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5</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6</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7</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0</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0</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1</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1</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latin typeface="Lexend"/>
                        <a:ea typeface="Lexend"/>
                        <a:cs typeface="Lexend"/>
                        <a:sym typeface="Lexend"/>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5" name="Google Shape;295;p2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96" name="Google Shape;296;p2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97" name="Google Shape;297;p26"/>
          <p:cNvSpPr txBox="1"/>
          <p:nvPr/>
        </p:nvSpPr>
        <p:spPr>
          <a:xfrm>
            <a:off x="256650" y="9728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In general, for an n-bit code, a decoder could select up to 2</a:t>
            </a:r>
            <a:r>
              <a:rPr baseline="30000"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p:txBody>
      </p:sp>
      <p:grpSp>
        <p:nvGrpSpPr>
          <p:cNvPr id="298" name="Google Shape;298;p26"/>
          <p:cNvGrpSpPr/>
          <p:nvPr/>
        </p:nvGrpSpPr>
        <p:grpSpPr>
          <a:xfrm>
            <a:off x="50480" y="122879"/>
            <a:ext cx="277873" cy="68400"/>
            <a:chOff x="411700" y="2416840"/>
            <a:chExt cx="277873" cy="68400"/>
          </a:xfrm>
        </p:grpSpPr>
        <p:sp>
          <p:nvSpPr>
            <p:cNvPr id="299" name="Google Shape;299;p2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2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2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02" name="Google Shape;302;p2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303" name="Google Shape;303;p2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04" name="Google Shape;304;p2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305" name="Google Shape;305;p26"/>
          <p:cNvGrpSpPr/>
          <p:nvPr/>
        </p:nvGrpSpPr>
        <p:grpSpPr>
          <a:xfrm>
            <a:off x="1800225" y="1722725"/>
            <a:ext cx="5543400" cy="1428750"/>
            <a:chOff x="1800225" y="1722725"/>
            <a:chExt cx="5543400" cy="1428750"/>
          </a:xfrm>
        </p:grpSpPr>
        <p:sp>
          <p:nvSpPr>
            <p:cNvPr id="306" name="Google Shape;306;p26"/>
            <p:cNvSpPr/>
            <p:nvPr/>
          </p:nvSpPr>
          <p:spPr>
            <a:xfrm>
              <a:off x="3400425" y="1722725"/>
              <a:ext cx="1905000" cy="1428750"/>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307" name="Google Shape;307;p26"/>
            <p:cNvCxnSpPr/>
            <p:nvPr/>
          </p:nvCxnSpPr>
          <p:spPr>
            <a:xfrm>
              <a:off x="2937080" y="19513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308" name="Google Shape;308;p26"/>
            <p:cNvCxnSpPr/>
            <p:nvPr/>
          </p:nvCxnSpPr>
          <p:spPr>
            <a:xfrm>
              <a:off x="2937080" y="21799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309" name="Google Shape;309;p26"/>
            <p:cNvCxnSpPr/>
            <p:nvPr/>
          </p:nvCxnSpPr>
          <p:spPr>
            <a:xfrm>
              <a:off x="2937080" y="2789525"/>
              <a:ext cx="476400" cy="0"/>
            </a:xfrm>
            <a:prstGeom prst="straightConnector1">
              <a:avLst/>
            </a:prstGeom>
            <a:noFill/>
            <a:ln cap="flat" cmpd="sng" w="15875">
              <a:solidFill>
                <a:srgbClr val="000000"/>
              </a:solidFill>
              <a:prstDash val="solid"/>
              <a:round/>
              <a:headEnd len="sm" w="sm" type="none"/>
              <a:tailEnd len="med" w="med" type="triangle"/>
            </a:ln>
          </p:spPr>
        </p:cxnSp>
        <p:sp>
          <p:nvSpPr>
            <p:cNvPr id="310" name="Google Shape;310;p26"/>
            <p:cNvSpPr txBox="1"/>
            <p:nvPr/>
          </p:nvSpPr>
          <p:spPr>
            <a:xfrm>
              <a:off x="2897750" y="2259125"/>
              <a:ext cx="4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cxnSp>
          <p:nvCxnSpPr>
            <p:cNvPr id="311" name="Google Shape;311;p26"/>
            <p:cNvCxnSpPr/>
            <p:nvPr/>
          </p:nvCxnSpPr>
          <p:spPr>
            <a:xfrm>
              <a:off x="5305425" y="1798925"/>
              <a:ext cx="476250" cy="0"/>
            </a:xfrm>
            <a:prstGeom prst="straightConnector1">
              <a:avLst/>
            </a:prstGeom>
            <a:noFill/>
            <a:ln cap="flat" cmpd="sng" w="15875">
              <a:solidFill>
                <a:srgbClr val="000000"/>
              </a:solidFill>
              <a:prstDash val="solid"/>
              <a:round/>
              <a:headEnd len="sm" w="sm" type="none"/>
              <a:tailEnd len="med" w="med" type="triangle"/>
            </a:ln>
          </p:spPr>
        </p:cxnSp>
        <p:cxnSp>
          <p:nvCxnSpPr>
            <p:cNvPr id="312" name="Google Shape;312;p26"/>
            <p:cNvCxnSpPr/>
            <p:nvPr/>
          </p:nvCxnSpPr>
          <p:spPr>
            <a:xfrm>
              <a:off x="5305425" y="2027525"/>
              <a:ext cx="476250" cy="0"/>
            </a:xfrm>
            <a:prstGeom prst="straightConnector1">
              <a:avLst/>
            </a:prstGeom>
            <a:noFill/>
            <a:ln cap="flat" cmpd="sng" w="15875">
              <a:solidFill>
                <a:srgbClr val="000000"/>
              </a:solidFill>
              <a:prstDash val="solid"/>
              <a:round/>
              <a:headEnd len="sm" w="sm" type="none"/>
              <a:tailEnd len="med" w="med" type="triangle"/>
            </a:ln>
          </p:spPr>
        </p:cxnSp>
        <p:cxnSp>
          <p:nvCxnSpPr>
            <p:cNvPr id="313" name="Google Shape;313;p26"/>
            <p:cNvCxnSpPr/>
            <p:nvPr/>
          </p:nvCxnSpPr>
          <p:spPr>
            <a:xfrm>
              <a:off x="5305425" y="2789525"/>
              <a:ext cx="476250" cy="0"/>
            </a:xfrm>
            <a:prstGeom prst="straightConnector1">
              <a:avLst/>
            </a:prstGeom>
            <a:noFill/>
            <a:ln cap="flat" cmpd="sng" w="15875">
              <a:solidFill>
                <a:srgbClr val="000000"/>
              </a:solidFill>
              <a:prstDash val="solid"/>
              <a:round/>
              <a:headEnd len="sm" w="sm" type="none"/>
              <a:tailEnd len="med" w="med" type="triangle"/>
            </a:ln>
          </p:spPr>
        </p:cxnSp>
        <p:sp>
          <p:nvSpPr>
            <p:cNvPr id="314" name="Google Shape;314;p26"/>
            <p:cNvSpPr txBox="1"/>
            <p:nvPr/>
          </p:nvSpPr>
          <p:spPr>
            <a:xfrm>
              <a:off x="5457825" y="2256125"/>
              <a:ext cx="4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cxnSp>
          <p:nvCxnSpPr>
            <p:cNvPr id="315" name="Google Shape;315;p26"/>
            <p:cNvCxnSpPr/>
            <p:nvPr/>
          </p:nvCxnSpPr>
          <p:spPr>
            <a:xfrm>
              <a:off x="5305425" y="1951325"/>
              <a:ext cx="476250" cy="0"/>
            </a:xfrm>
            <a:prstGeom prst="straightConnector1">
              <a:avLst/>
            </a:prstGeom>
            <a:noFill/>
            <a:ln cap="flat" cmpd="sng" w="15875">
              <a:solidFill>
                <a:srgbClr val="000000"/>
              </a:solidFill>
              <a:prstDash val="solid"/>
              <a:round/>
              <a:headEnd len="sm" w="sm" type="none"/>
              <a:tailEnd len="med" w="med" type="triangle"/>
            </a:ln>
          </p:spPr>
        </p:cxnSp>
        <p:cxnSp>
          <p:nvCxnSpPr>
            <p:cNvPr id="316" name="Google Shape;316;p26"/>
            <p:cNvCxnSpPr/>
            <p:nvPr/>
          </p:nvCxnSpPr>
          <p:spPr>
            <a:xfrm>
              <a:off x="5305425" y="1875125"/>
              <a:ext cx="476250" cy="0"/>
            </a:xfrm>
            <a:prstGeom prst="straightConnector1">
              <a:avLst/>
            </a:prstGeom>
            <a:noFill/>
            <a:ln cap="flat" cmpd="sng" w="15875">
              <a:solidFill>
                <a:srgbClr val="000000"/>
              </a:solidFill>
              <a:prstDash val="solid"/>
              <a:round/>
              <a:headEnd len="sm" w="sm" type="none"/>
              <a:tailEnd len="med" w="med" type="triangle"/>
            </a:ln>
          </p:spPr>
        </p:cxnSp>
        <p:cxnSp>
          <p:nvCxnSpPr>
            <p:cNvPr id="317" name="Google Shape;317;p26"/>
            <p:cNvCxnSpPr/>
            <p:nvPr/>
          </p:nvCxnSpPr>
          <p:spPr>
            <a:xfrm>
              <a:off x="5305425" y="2103725"/>
              <a:ext cx="476250" cy="0"/>
            </a:xfrm>
            <a:prstGeom prst="straightConnector1">
              <a:avLst/>
            </a:prstGeom>
            <a:noFill/>
            <a:ln cap="flat" cmpd="sng" w="15875">
              <a:solidFill>
                <a:srgbClr val="000000"/>
              </a:solidFill>
              <a:prstDash val="solid"/>
              <a:round/>
              <a:headEnd len="sm" w="sm" type="none"/>
              <a:tailEnd len="med" w="med" type="triangle"/>
            </a:ln>
          </p:spPr>
        </p:cxnSp>
        <p:sp>
          <p:nvSpPr>
            <p:cNvPr id="318" name="Google Shape;318;p26"/>
            <p:cNvSpPr txBox="1"/>
            <p:nvPr/>
          </p:nvSpPr>
          <p:spPr>
            <a:xfrm>
              <a:off x="1800225" y="1951325"/>
              <a:ext cx="9525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1" lang="en" sz="2000" u="none" cap="none" strike="noStrike">
                  <a:solidFill>
                    <a:srgbClr val="000000"/>
                  </a:solidFill>
                  <a:latin typeface="Lexend"/>
                  <a:ea typeface="Lexend"/>
                  <a:cs typeface="Lexend"/>
                  <a:sym typeface="Lexend"/>
                </a:rPr>
                <a:t>n</a:t>
              </a:r>
              <a:r>
                <a:rPr i="0" lang="en" sz="2000" u="none" cap="none" strike="noStrike">
                  <a:solidFill>
                    <a:srgbClr val="000000"/>
                  </a:solidFill>
                  <a:latin typeface="Lexend"/>
                  <a:ea typeface="Lexend"/>
                  <a:cs typeface="Lexend"/>
                  <a:sym typeface="Lexend"/>
                </a:rPr>
                <a:t>-bit</a:t>
              </a:r>
              <a:endParaRPr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code</a:t>
              </a:r>
              <a:endParaRPr i="0" sz="1800" u="none" cap="none" strike="noStrike">
                <a:solidFill>
                  <a:srgbClr val="000000"/>
                </a:solidFill>
                <a:latin typeface="Lexend"/>
                <a:ea typeface="Lexend"/>
                <a:cs typeface="Lexend"/>
                <a:sym typeface="Lexend"/>
              </a:endParaRPr>
            </a:p>
          </p:txBody>
        </p:sp>
        <p:sp>
          <p:nvSpPr>
            <p:cNvPr id="319" name="Google Shape;319;p26"/>
            <p:cNvSpPr txBox="1"/>
            <p:nvPr/>
          </p:nvSpPr>
          <p:spPr>
            <a:xfrm>
              <a:off x="3629025" y="1951325"/>
              <a:ext cx="14286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1" lang="en" sz="2000" u="none" cap="none" strike="noStrike">
                  <a:solidFill>
                    <a:srgbClr val="000000"/>
                  </a:solidFill>
                  <a:latin typeface="Lexend"/>
                  <a:ea typeface="Lexend"/>
                  <a:cs typeface="Lexend"/>
                  <a:sym typeface="Lexend"/>
                </a:rPr>
                <a:t>n</a:t>
              </a:r>
              <a:r>
                <a:rPr i="0" lang="en" sz="2000" u="none" cap="none" strike="noStrike">
                  <a:solidFill>
                    <a:srgbClr val="000000"/>
                  </a:solidFill>
                  <a:latin typeface="Lexend"/>
                  <a:ea typeface="Lexend"/>
                  <a:cs typeface="Lexend"/>
                  <a:sym typeface="Lexend"/>
                </a:rPr>
                <a:t> to 2</a:t>
              </a:r>
              <a:r>
                <a:rPr baseline="30000" i="1" lang="en" sz="2000" u="none" cap="none" strike="noStrike">
                  <a:solidFill>
                    <a:srgbClr val="000000"/>
                  </a:solidFill>
                  <a:latin typeface="Lexend"/>
                  <a:ea typeface="Lexend"/>
                  <a:cs typeface="Lexend"/>
                  <a:sym typeface="Lexend"/>
                </a:rPr>
                <a:t>n</a:t>
              </a:r>
              <a:endParaRPr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decoder</a:t>
              </a:r>
              <a:endParaRPr i="0" sz="1800" u="none" cap="none" strike="noStrike">
                <a:solidFill>
                  <a:srgbClr val="000000"/>
                </a:solidFill>
                <a:latin typeface="Lexend"/>
                <a:ea typeface="Lexend"/>
                <a:cs typeface="Lexend"/>
                <a:sym typeface="Lexend"/>
              </a:endParaRPr>
            </a:p>
          </p:txBody>
        </p:sp>
        <p:sp>
          <p:nvSpPr>
            <p:cNvPr id="320" name="Google Shape;320;p26"/>
            <p:cNvSpPr txBox="1"/>
            <p:nvPr/>
          </p:nvSpPr>
          <p:spPr>
            <a:xfrm>
              <a:off x="5915025" y="1951325"/>
              <a:ext cx="14286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up to 2</a:t>
              </a:r>
              <a:r>
                <a:rPr baseline="30000" i="1" lang="en" sz="2000" u="none" cap="none" strike="noStrike">
                  <a:solidFill>
                    <a:srgbClr val="000000"/>
                  </a:solidFill>
                  <a:latin typeface="Lexend"/>
                  <a:ea typeface="Lexend"/>
                  <a:cs typeface="Lexend"/>
                  <a:sym typeface="Lexend"/>
                </a:rPr>
                <a:t>n</a:t>
              </a:r>
              <a:endParaRPr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output lines</a:t>
              </a:r>
              <a:endParaRPr i="0" sz="1800" u="none" cap="none" strike="noStrike">
                <a:solidFill>
                  <a:srgbClr val="000000"/>
                </a:solidFill>
                <a:latin typeface="Lexend"/>
                <a:ea typeface="Lexend"/>
                <a:cs typeface="Lexend"/>
                <a:sym typeface="Lexend"/>
              </a:endParaRPr>
            </a:p>
          </p:txBody>
        </p:sp>
      </p:grpSp>
      <p:sp>
        <p:nvSpPr>
          <p:cNvPr id="321" name="Google Shape;321;p26"/>
          <p:cNvSpPr/>
          <p:nvPr/>
        </p:nvSpPr>
        <p:spPr>
          <a:xfrm>
            <a:off x="927875" y="3439650"/>
            <a:ext cx="6946800" cy="1313100"/>
          </a:xfrm>
          <a:prstGeom prst="wedgeRoundRectCallout">
            <a:avLst>
              <a:gd fmla="val 13592" name="adj1"/>
              <a:gd fmla="val -60005" name="adj2"/>
              <a:gd fmla="val 0" name="adj3"/>
            </a:avLst>
          </a:prstGeom>
          <a:solidFill>
            <a:srgbClr val="00FFFF"/>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As n input generates 2^n output, which reminds us of canonical SOP, thus a decoder can be used to generate any function</a:t>
            </a:r>
            <a:endParaRPr sz="2400">
              <a:solidFill>
                <a:schemeClr val="dk1"/>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27" name="Google Shape;327;p2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28" name="Google Shape;328;p2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29" name="Google Shape;329;p27"/>
          <p:cNvSpPr txBox="1"/>
          <p:nvPr/>
        </p:nvSpPr>
        <p:spPr>
          <a:xfrm>
            <a:off x="256650" y="972850"/>
            <a:ext cx="8428500" cy="218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Example 1: Full adder circuit with decoder (3 x 8 decoder) </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We know,</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S(x,y,z) = ∑(1,2,4,7)</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C(x,y,z) = ∑(3,5,6,7)</a:t>
            </a:r>
            <a:endParaRPr sz="2000">
              <a:solidFill>
                <a:schemeClr val="dk1"/>
              </a:solidFill>
              <a:latin typeface="Lexend"/>
              <a:ea typeface="Lexend"/>
              <a:cs typeface="Lexend"/>
              <a:sym typeface="Lexend"/>
            </a:endParaRPr>
          </a:p>
        </p:txBody>
      </p:sp>
      <p:grpSp>
        <p:nvGrpSpPr>
          <p:cNvPr id="330" name="Google Shape;330;p27"/>
          <p:cNvGrpSpPr/>
          <p:nvPr/>
        </p:nvGrpSpPr>
        <p:grpSpPr>
          <a:xfrm>
            <a:off x="50480" y="122879"/>
            <a:ext cx="277873" cy="68400"/>
            <a:chOff x="411700" y="2416840"/>
            <a:chExt cx="277873" cy="68400"/>
          </a:xfrm>
        </p:grpSpPr>
        <p:sp>
          <p:nvSpPr>
            <p:cNvPr id="331" name="Google Shape;331;p2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2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p2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34" name="Google Shape;334;p2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335" name="Google Shape;335;p2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36" name="Google Shape;336;p2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337" name="Google Shape;337;p27"/>
          <p:cNvPicPr preferRelativeResize="0"/>
          <p:nvPr/>
        </p:nvPicPr>
        <p:blipFill rotWithShape="1">
          <a:blip r:embed="rId4">
            <a:alphaModFix/>
          </a:blip>
          <a:srcRect b="13487" l="0" r="0" t="0"/>
          <a:stretch/>
        </p:blipFill>
        <p:spPr>
          <a:xfrm>
            <a:off x="3930875" y="1619487"/>
            <a:ext cx="4625199" cy="30794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3" name="Google Shape;343;p2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44" name="Google Shape;344;p2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45" name="Google Shape;345;p28"/>
          <p:cNvSpPr txBox="1"/>
          <p:nvPr/>
        </p:nvSpPr>
        <p:spPr>
          <a:xfrm>
            <a:off x="256650" y="972838"/>
            <a:ext cx="8630700" cy="1169700"/>
          </a:xfrm>
          <a:prstGeom prst="rect">
            <a:avLst/>
          </a:prstGeom>
          <a:noFill/>
          <a:ln>
            <a:noFill/>
          </a:ln>
        </p:spPr>
        <p:txBody>
          <a:bodyPr anchorCtr="0" anchor="t" bIns="91425" lIns="91425" spcFirstLastPara="1" rIns="91425" wrap="square" tIns="91425">
            <a:spAutoFit/>
          </a:bodyPr>
          <a:lstStyle/>
          <a:p>
            <a:pPr indent="-172720" lvl="0" marL="2286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Given an input line and a set of selection lines, the demultiplexer will direct data from input to a </a:t>
            </a:r>
            <a:r>
              <a:rPr lang="en" sz="2000">
                <a:solidFill>
                  <a:srgbClr val="FF0000"/>
                </a:solidFill>
                <a:latin typeface="Lexend"/>
                <a:ea typeface="Lexend"/>
                <a:cs typeface="Lexend"/>
                <a:sym typeface="Lexend"/>
              </a:rPr>
              <a:t>selected output line.</a:t>
            </a:r>
            <a:endParaRPr sz="2000">
              <a:solidFill>
                <a:schemeClr val="dk1"/>
              </a:solidFill>
              <a:latin typeface="Lexend"/>
              <a:ea typeface="Lexend"/>
              <a:cs typeface="Lexend"/>
              <a:sym typeface="Lexend"/>
            </a:endParaRPr>
          </a:p>
          <a:p>
            <a:pPr indent="-172720" lvl="0" marL="228600" rtl="0" algn="l">
              <a:lnSpc>
                <a:spcPct val="90000"/>
              </a:lnSpc>
              <a:spcBef>
                <a:spcPts val="1200"/>
              </a:spcBef>
              <a:spcAft>
                <a:spcPts val="0"/>
              </a:spcAft>
              <a:buClr>
                <a:schemeClr val="dk1"/>
              </a:buClr>
              <a:buSzPts val="2000"/>
              <a:buFont typeface="Lexend"/>
              <a:buChar char="▪"/>
            </a:pPr>
            <a:r>
              <a:rPr lang="en" sz="2000">
                <a:solidFill>
                  <a:schemeClr val="dk1"/>
                </a:solidFill>
                <a:latin typeface="Lexend"/>
                <a:ea typeface="Lexend"/>
                <a:cs typeface="Lexend"/>
                <a:sym typeface="Lexend"/>
              </a:rPr>
              <a:t>An example of a 1-to-4 demultiplexer:</a:t>
            </a:r>
            <a:endParaRPr sz="2000">
              <a:solidFill>
                <a:schemeClr val="dk1"/>
              </a:solidFill>
              <a:latin typeface="Lexend"/>
              <a:ea typeface="Lexend"/>
              <a:cs typeface="Lexend"/>
              <a:sym typeface="Lexend"/>
            </a:endParaRPr>
          </a:p>
        </p:txBody>
      </p:sp>
      <p:grpSp>
        <p:nvGrpSpPr>
          <p:cNvPr id="346" name="Google Shape;346;p28"/>
          <p:cNvGrpSpPr/>
          <p:nvPr/>
        </p:nvGrpSpPr>
        <p:grpSpPr>
          <a:xfrm>
            <a:off x="50480" y="122879"/>
            <a:ext cx="277873" cy="68400"/>
            <a:chOff x="411700" y="2416840"/>
            <a:chExt cx="277873" cy="68400"/>
          </a:xfrm>
        </p:grpSpPr>
        <p:sp>
          <p:nvSpPr>
            <p:cNvPr id="347" name="Google Shape;347;p2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8" name="Google Shape;348;p2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2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50" name="Google Shape;350;p2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Demultiplexer</a:t>
            </a:r>
            <a:endParaRPr sz="3600">
              <a:solidFill>
                <a:schemeClr val="dk1"/>
              </a:solidFill>
              <a:latin typeface="Lexend"/>
              <a:ea typeface="Lexend"/>
              <a:cs typeface="Lexend"/>
              <a:sym typeface="Lexend"/>
            </a:endParaRPr>
          </a:p>
        </p:txBody>
      </p:sp>
      <p:sp>
        <p:nvSpPr>
          <p:cNvPr id="351" name="Google Shape;351;p2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52" name="Google Shape;352;p2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353" name="Google Shape;353;p28"/>
          <p:cNvGraphicFramePr/>
          <p:nvPr/>
        </p:nvGraphicFramePr>
        <p:xfrm>
          <a:off x="6149900" y="2334563"/>
          <a:ext cx="3000000" cy="3000000"/>
        </p:xfrm>
        <a:graphic>
          <a:graphicData uri="http://schemas.openxmlformats.org/drawingml/2006/table">
            <a:tbl>
              <a:tblPr>
                <a:noFill/>
                <a:tableStyleId>{031C2276-671B-496E-B77D-804DC5F1F2AA}</a:tableStyleId>
              </a:tblPr>
              <a:tblGrid>
                <a:gridCol w="382900"/>
                <a:gridCol w="382900"/>
                <a:gridCol w="382900"/>
                <a:gridCol w="382900"/>
                <a:gridCol w="382900"/>
                <a:gridCol w="408050"/>
              </a:tblGrid>
              <a:tr h="293950">
                <a:tc>
                  <a:txBody>
                    <a:bodyPr/>
                    <a:lstStyle/>
                    <a:p>
                      <a:pPr indent="0" lvl="0" marL="0" marR="0" rtl="0" algn="ctr">
                        <a:lnSpc>
                          <a:spcPct val="100000"/>
                        </a:lnSpc>
                        <a:spcBef>
                          <a:spcPts val="0"/>
                        </a:spcBef>
                        <a:spcAft>
                          <a:spcPts val="0"/>
                        </a:spcAft>
                        <a:buNone/>
                      </a:pPr>
                      <a:r>
                        <a:rPr b="1" lang="en" sz="1300">
                          <a:latin typeface="Lexend"/>
                          <a:ea typeface="Lexend"/>
                          <a:cs typeface="Lexend"/>
                          <a:sym typeface="Lexend"/>
                        </a:rPr>
                        <a:t>S</a:t>
                      </a:r>
                      <a:r>
                        <a:rPr b="1" baseline="-25000" lang="en" sz="1300">
                          <a:latin typeface="Lexend"/>
                          <a:ea typeface="Lexend"/>
                          <a:cs typeface="Lexend"/>
                          <a:sym typeface="Lexend"/>
                        </a:rPr>
                        <a:t>1</a:t>
                      </a:r>
                      <a:endParaRPr b="1" baseline="-25000" sz="13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Lexend"/>
                          <a:ea typeface="Lexend"/>
                          <a:cs typeface="Lexend"/>
                          <a:sym typeface="Lexend"/>
                        </a:rPr>
                        <a:t>S</a:t>
                      </a:r>
                      <a:r>
                        <a:rPr b="1" baseline="-25000" lang="en" sz="1300">
                          <a:solidFill>
                            <a:schemeClr val="dk1"/>
                          </a:solidFill>
                          <a:latin typeface="Lexend"/>
                          <a:ea typeface="Lexend"/>
                          <a:cs typeface="Lexend"/>
                          <a:sym typeface="Lexend"/>
                        </a:rPr>
                        <a:t>2</a:t>
                      </a:r>
                      <a:endParaRPr b="1" sz="13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300">
                          <a:solidFill>
                            <a:schemeClr val="dk1"/>
                          </a:solidFill>
                          <a:latin typeface="Lexend"/>
                          <a:ea typeface="Lexend"/>
                          <a:cs typeface="Lexend"/>
                          <a:sym typeface="Lexend"/>
                        </a:rPr>
                        <a:t>Y</a:t>
                      </a:r>
                      <a:r>
                        <a:rPr baseline="-25000" lang="en" sz="1300">
                          <a:solidFill>
                            <a:schemeClr val="dk1"/>
                          </a:solidFill>
                          <a:latin typeface="Lexend"/>
                          <a:ea typeface="Lexend"/>
                          <a:cs typeface="Lexend"/>
                          <a:sym typeface="Lexend"/>
                        </a:rPr>
                        <a:t>0</a:t>
                      </a:r>
                      <a:endParaRPr baseline="-25000"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a:ea typeface="Lexend"/>
                          <a:cs typeface="Lexend"/>
                          <a:sym typeface="Lexend"/>
                        </a:rPr>
                        <a:t>Y</a:t>
                      </a:r>
                      <a:r>
                        <a:rPr baseline="-25000" lang="en" sz="1300">
                          <a:solidFill>
                            <a:schemeClr val="dk1"/>
                          </a:solidFill>
                          <a:latin typeface="Lexend"/>
                          <a:ea typeface="Lexend"/>
                          <a:cs typeface="Lexend"/>
                          <a:sym typeface="Lexend"/>
                        </a:rPr>
                        <a:t>1</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a:ea typeface="Lexend"/>
                          <a:cs typeface="Lexend"/>
                          <a:sym typeface="Lexend"/>
                        </a:rPr>
                        <a:t>Y</a:t>
                      </a:r>
                      <a:r>
                        <a:rPr baseline="-25000" lang="en" sz="1300">
                          <a:solidFill>
                            <a:schemeClr val="dk1"/>
                          </a:solidFill>
                          <a:latin typeface="Lexend"/>
                          <a:ea typeface="Lexend"/>
                          <a:cs typeface="Lexend"/>
                          <a:sym typeface="Lexend"/>
                        </a:rPr>
                        <a:t>2</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a:ea typeface="Lexend"/>
                          <a:cs typeface="Lexend"/>
                          <a:sym typeface="Lexend"/>
                        </a:rPr>
                        <a:t>Y</a:t>
                      </a:r>
                      <a:r>
                        <a:rPr baseline="-25000" lang="en" sz="1300">
                          <a:solidFill>
                            <a:schemeClr val="dk1"/>
                          </a:solidFill>
                          <a:latin typeface="Lexend"/>
                          <a:ea typeface="Lexend"/>
                          <a:cs typeface="Lexend"/>
                          <a:sym typeface="Lexend"/>
                        </a:rPr>
                        <a:t>3</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300">
                          <a:solidFill>
                            <a:schemeClr val="dk1"/>
                          </a:solidFill>
                          <a:latin typeface="Lexend"/>
                          <a:ea typeface="Lexend"/>
                          <a:cs typeface="Lexend"/>
                          <a:sym typeface="Lexend"/>
                        </a:rPr>
                        <a:t>D</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D</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D</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D</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grpSp>
        <p:nvGrpSpPr>
          <p:cNvPr id="354" name="Google Shape;354;p28"/>
          <p:cNvGrpSpPr/>
          <p:nvPr/>
        </p:nvGrpSpPr>
        <p:grpSpPr>
          <a:xfrm>
            <a:off x="230759" y="2142550"/>
            <a:ext cx="4613773" cy="2672483"/>
            <a:chOff x="230759" y="2142550"/>
            <a:chExt cx="4613773" cy="2672483"/>
          </a:xfrm>
        </p:grpSpPr>
        <p:sp>
          <p:nvSpPr>
            <p:cNvPr id="355" name="Google Shape;355;p28"/>
            <p:cNvSpPr txBox="1"/>
            <p:nvPr/>
          </p:nvSpPr>
          <p:spPr>
            <a:xfrm>
              <a:off x="1785205" y="3163580"/>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demux</a:t>
              </a:r>
              <a:endParaRPr b="0" i="0" sz="2000" u="none" cap="none" strike="noStrike">
                <a:solidFill>
                  <a:srgbClr val="000000"/>
                </a:solidFill>
                <a:latin typeface="Arial"/>
                <a:ea typeface="Arial"/>
                <a:cs typeface="Arial"/>
                <a:sym typeface="Arial"/>
              </a:endParaRPr>
            </a:p>
          </p:txBody>
        </p:sp>
        <p:cxnSp>
          <p:nvCxnSpPr>
            <p:cNvPr id="356" name="Google Shape;356;p28"/>
            <p:cNvCxnSpPr/>
            <p:nvPr/>
          </p:nvCxnSpPr>
          <p:spPr>
            <a:xfrm>
              <a:off x="995326" y="3266425"/>
              <a:ext cx="455400" cy="0"/>
            </a:xfrm>
            <a:prstGeom prst="straightConnector1">
              <a:avLst/>
            </a:prstGeom>
            <a:noFill/>
            <a:ln cap="flat" cmpd="sng" w="15875">
              <a:solidFill>
                <a:srgbClr val="000000"/>
              </a:solidFill>
              <a:prstDash val="solid"/>
              <a:round/>
              <a:headEnd len="sm" w="sm" type="none"/>
              <a:tailEnd len="med" w="med" type="triangle"/>
            </a:ln>
          </p:spPr>
        </p:cxnSp>
        <p:cxnSp>
          <p:nvCxnSpPr>
            <p:cNvPr id="357" name="Google Shape;357;p28"/>
            <p:cNvCxnSpPr/>
            <p:nvPr/>
          </p:nvCxnSpPr>
          <p:spPr>
            <a:xfrm>
              <a:off x="2796050" y="3455300"/>
              <a:ext cx="245700" cy="0"/>
            </a:xfrm>
            <a:prstGeom prst="straightConnector1">
              <a:avLst/>
            </a:prstGeom>
            <a:noFill/>
            <a:ln cap="flat" cmpd="sng" w="15875">
              <a:solidFill>
                <a:srgbClr val="000000"/>
              </a:solidFill>
              <a:prstDash val="solid"/>
              <a:round/>
              <a:headEnd len="sm" w="sm" type="none"/>
              <a:tailEnd len="med" w="med" type="triangle"/>
            </a:ln>
          </p:spPr>
        </p:cxnSp>
        <p:cxnSp>
          <p:nvCxnSpPr>
            <p:cNvPr id="358" name="Google Shape;358;p28"/>
            <p:cNvCxnSpPr/>
            <p:nvPr/>
          </p:nvCxnSpPr>
          <p:spPr>
            <a:xfrm>
              <a:off x="2789900" y="2726000"/>
              <a:ext cx="251700" cy="0"/>
            </a:xfrm>
            <a:prstGeom prst="straightConnector1">
              <a:avLst/>
            </a:prstGeom>
            <a:noFill/>
            <a:ln cap="flat" cmpd="sng" w="15875">
              <a:solidFill>
                <a:srgbClr val="000000"/>
              </a:solidFill>
              <a:prstDash val="solid"/>
              <a:round/>
              <a:headEnd len="sm" w="sm" type="none"/>
              <a:tailEnd len="med" w="med" type="triangle"/>
            </a:ln>
          </p:spPr>
        </p:cxnSp>
        <p:cxnSp>
          <p:nvCxnSpPr>
            <p:cNvPr id="359" name="Google Shape;359;p28"/>
            <p:cNvCxnSpPr/>
            <p:nvPr/>
          </p:nvCxnSpPr>
          <p:spPr>
            <a:xfrm rot="10800000">
              <a:off x="1986026" y="3553179"/>
              <a:ext cx="0" cy="516900"/>
            </a:xfrm>
            <a:prstGeom prst="straightConnector1">
              <a:avLst/>
            </a:prstGeom>
            <a:noFill/>
            <a:ln cap="flat" cmpd="sng" w="15875">
              <a:solidFill>
                <a:srgbClr val="000000"/>
              </a:solidFill>
              <a:prstDash val="solid"/>
              <a:round/>
              <a:headEnd len="sm" w="sm" type="none"/>
              <a:tailEnd len="med" w="med" type="triangle"/>
            </a:ln>
          </p:spPr>
        </p:cxnSp>
        <p:cxnSp>
          <p:nvCxnSpPr>
            <p:cNvPr id="360" name="Google Shape;360;p28"/>
            <p:cNvCxnSpPr/>
            <p:nvPr/>
          </p:nvCxnSpPr>
          <p:spPr>
            <a:xfrm>
              <a:off x="2796050" y="3090650"/>
              <a:ext cx="245700" cy="0"/>
            </a:xfrm>
            <a:prstGeom prst="straightConnector1">
              <a:avLst/>
            </a:prstGeom>
            <a:noFill/>
            <a:ln cap="flat" cmpd="sng" w="15875">
              <a:solidFill>
                <a:srgbClr val="000000"/>
              </a:solidFill>
              <a:prstDash val="solid"/>
              <a:round/>
              <a:headEnd len="sm" w="sm" type="none"/>
              <a:tailEnd len="med" w="med" type="triangle"/>
            </a:ln>
          </p:spPr>
        </p:cxnSp>
        <p:cxnSp>
          <p:nvCxnSpPr>
            <p:cNvPr id="361" name="Google Shape;361;p28"/>
            <p:cNvCxnSpPr/>
            <p:nvPr/>
          </p:nvCxnSpPr>
          <p:spPr>
            <a:xfrm>
              <a:off x="2796050" y="3819950"/>
              <a:ext cx="245700" cy="0"/>
            </a:xfrm>
            <a:prstGeom prst="straightConnector1">
              <a:avLst/>
            </a:prstGeom>
            <a:noFill/>
            <a:ln cap="flat" cmpd="sng" w="15875">
              <a:solidFill>
                <a:srgbClr val="000000"/>
              </a:solidFill>
              <a:prstDash val="solid"/>
              <a:round/>
              <a:headEnd len="sm" w="sm" type="none"/>
              <a:tailEnd len="med" w="med" type="triangle"/>
            </a:ln>
          </p:spPr>
        </p:cxnSp>
        <p:sp>
          <p:nvSpPr>
            <p:cNvPr id="362" name="Google Shape;362;p28"/>
            <p:cNvSpPr txBox="1"/>
            <p:nvPr/>
          </p:nvSpPr>
          <p:spPr>
            <a:xfrm>
              <a:off x="230759" y="3094505"/>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Data D</a:t>
              </a:r>
              <a:endParaRPr b="0" i="0" sz="2000" u="none" cap="none" strike="noStrike">
                <a:solidFill>
                  <a:srgbClr val="000000"/>
                </a:solidFill>
                <a:latin typeface="Arial"/>
                <a:ea typeface="Arial"/>
                <a:cs typeface="Arial"/>
                <a:sym typeface="Arial"/>
              </a:endParaRPr>
            </a:p>
          </p:txBody>
        </p:sp>
        <p:sp>
          <p:nvSpPr>
            <p:cNvPr id="363" name="Google Shape;363;p28"/>
            <p:cNvSpPr txBox="1"/>
            <p:nvPr/>
          </p:nvSpPr>
          <p:spPr>
            <a:xfrm>
              <a:off x="3242060" y="2142550"/>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Outputs</a:t>
              </a:r>
              <a:endParaRPr b="0" i="0" sz="2000" u="none" cap="none" strike="noStrike">
                <a:solidFill>
                  <a:srgbClr val="000000"/>
                </a:solidFill>
                <a:latin typeface="Arial"/>
                <a:ea typeface="Arial"/>
                <a:cs typeface="Arial"/>
                <a:sym typeface="Arial"/>
              </a:endParaRPr>
            </a:p>
          </p:txBody>
        </p:sp>
        <p:sp>
          <p:nvSpPr>
            <p:cNvPr id="364" name="Google Shape;364;p28"/>
            <p:cNvSpPr/>
            <p:nvPr/>
          </p:nvSpPr>
          <p:spPr>
            <a:xfrm flipH="1" rot="-5400000">
              <a:off x="1420166" y="2580959"/>
              <a:ext cx="1367451" cy="1365801"/>
            </a:xfrm>
            <a:prstGeom prst="triangle">
              <a:avLst>
                <a:gd fmla="val 50000" name="adj"/>
              </a:avLst>
            </a:prstGeom>
            <a:noFill/>
            <a:ln cap="flat" cmpd="sng" w="158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365" name="Google Shape;365;p28"/>
            <p:cNvCxnSpPr/>
            <p:nvPr/>
          </p:nvCxnSpPr>
          <p:spPr>
            <a:xfrm rot="10800000">
              <a:off x="1621812" y="3359979"/>
              <a:ext cx="0" cy="710100"/>
            </a:xfrm>
            <a:prstGeom prst="straightConnector1">
              <a:avLst/>
            </a:prstGeom>
            <a:noFill/>
            <a:ln cap="flat" cmpd="sng" w="15875">
              <a:solidFill>
                <a:srgbClr val="000000"/>
              </a:solidFill>
              <a:prstDash val="solid"/>
              <a:round/>
              <a:headEnd len="sm" w="sm" type="none"/>
              <a:tailEnd len="med" w="med" type="triangle"/>
            </a:ln>
          </p:spPr>
        </p:cxnSp>
        <p:sp>
          <p:nvSpPr>
            <p:cNvPr id="366" name="Google Shape;366;p28"/>
            <p:cNvSpPr txBox="1"/>
            <p:nvPr/>
          </p:nvSpPr>
          <p:spPr>
            <a:xfrm>
              <a:off x="1566677" y="4476333"/>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select</a:t>
              </a:r>
              <a:endParaRPr b="0" i="0" sz="2000" u="none" cap="none" strike="noStrike">
                <a:solidFill>
                  <a:srgbClr val="000000"/>
                </a:solidFill>
                <a:latin typeface="Arial"/>
                <a:ea typeface="Arial"/>
                <a:cs typeface="Arial"/>
                <a:sym typeface="Arial"/>
              </a:endParaRPr>
            </a:p>
          </p:txBody>
        </p:sp>
        <p:sp>
          <p:nvSpPr>
            <p:cNvPr id="367" name="Google Shape;367;p28"/>
            <p:cNvSpPr txBox="1"/>
            <p:nvPr/>
          </p:nvSpPr>
          <p:spPr>
            <a:xfrm>
              <a:off x="1476127" y="4070079"/>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S</a:t>
              </a:r>
              <a:r>
                <a:rPr b="0" baseline="-25000" i="0" lang="en" sz="1600" u="none" cap="none" strike="noStrike">
                  <a:solidFill>
                    <a:srgbClr val="000000"/>
                  </a:solidFill>
                  <a:latin typeface="Arial"/>
                  <a:ea typeface="Arial"/>
                  <a:cs typeface="Arial"/>
                  <a:sym typeface="Arial"/>
                </a:rPr>
                <a:t>0</a:t>
              </a:r>
              <a:endParaRPr b="0" i="0" sz="2000" u="none" cap="none" strike="noStrike">
                <a:solidFill>
                  <a:srgbClr val="000000"/>
                </a:solidFill>
                <a:latin typeface="Arial"/>
                <a:ea typeface="Arial"/>
                <a:cs typeface="Arial"/>
                <a:sym typeface="Arial"/>
              </a:endParaRPr>
            </a:p>
          </p:txBody>
        </p:sp>
        <p:sp>
          <p:nvSpPr>
            <p:cNvPr id="368" name="Google Shape;368;p28"/>
            <p:cNvSpPr txBox="1"/>
            <p:nvPr/>
          </p:nvSpPr>
          <p:spPr>
            <a:xfrm>
              <a:off x="3023531" y="2580134"/>
              <a:ext cx="182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69" name="Google Shape;369;p28"/>
            <p:cNvSpPr txBox="1"/>
            <p:nvPr/>
          </p:nvSpPr>
          <p:spPr>
            <a:xfrm>
              <a:off x="3023531" y="2944788"/>
              <a:ext cx="182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370" name="Google Shape;370;p28"/>
            <p:cNvSpPr txBox="1"/>
            <p:nvPr/>
          </p:nvSpPr>
          <p:spPr>
            <a:xfrm>
              <a:off x="3023531" y="3309442"/>
              <a:ext cx="182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2</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71" name="Google Shape;371;p28"/>
            <p:cNvSpPr txBox="1"/>
            <p:nvPr/>
          </p:nvSpPr>
          <p:spPr>
            <a:xfrm>
              <a:off x="3023531" y="3674095"/>
              <a:ext cx="182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3</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77" name="Google Shape;377;p2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78" name="Google Shape;378;p2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379" name="Google Shape;379;p29"/>
          <p:cNvGrpSpPr/>
          <p:nvPr/>
        </p:nvGrpSpPr>
        <p:grpSpPr>
          <a:xfrm>
            <a:off x="50480" y="122879"/>
            <a:ext cx="277873" cy="68400"/>
            <a:chOff x="411700" y="2416840"/>
            <a:chExt cx="277873" cy="68400"/>
          </a:xfrm>
        </p:grpSpPr>
        <p:sp>
          <p:nvSpPr>
            <p:cNvPr id="380" name="Google Shape;380;p2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1" name="Google Shape;381;p2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2" name="Google Shape;382;p2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83" name="Google Shape;383;p2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84" name="Google Shape;384;p2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385" name="Google Shape;385;p29"/>
          <p:cNvPicPr preferRelativeResize="0"/>
          <p:nvPr>
            <p:ph idx="1" type="body"/>
          </p:nvPr>
        </p:nvPicPr>
        <p:blipFill rotWithShape="1">
          <a:blip r:embed="rId4">
            <a:alphaModFix/>
          </a:blip>
          <a:srcRect b="0" l="0" r="0" t="0"/>
          <a:stretch/>
        </p:blipFill>
        <p:spPr>
          <a:xfrm>
            <a:off x="1394400" y="206250"/>
            <a:ext cx="6355200" cy="4545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1" name="Google Shape;391;p3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92" name="Google Shape;392;p3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93" name="Google Shape;393;p30"/>
          <p:cNvSpPr txBox="1"/>
          <p:nvPr/>
        </p:nvSpPr>
        <p:spPr>
          <a:xfrm>
            <a:off x="256650" y="972838"/>
            <a:ext cx="8630700" cy="1490400"/>
          </a:xfrm>
          <a:prstGeom prst="rect">
            <a:avLst/>
          </a:prstGeom>
          <a:noFill/>
          <a:ln>
            <a:noFill/>
          </a:ln>
        </p:spPr>
        <p:txBody>
          <a:bodyPr anchorCtr="0" anchor="t" bIns="91425" lIns="91425" spcFirstLastPara="1" rIns="91425" wrap="square" tIns="91425">
            <a:spAutoFit/>
          </a:bodyPr>
          <a:lstStyle/>
          <a:p>
            <a:pPr indent="-336550" lvl="0" marL="457200" rtl="0" algn="l">
              <a:lnSpc>
                <a:spcPct val="90000"/>
              </a:lnSpc>
              <a:spcBef>
                <a:spcPts val="0"/>
              </a:spcBef>
              <a:spcAft>
                <a:spcPts val="0"/>
              </a:spcAft>
              <a:buClr>
                <a:schemeClr val="dk1"/>
              </a:buClr>
              <a:buSzPts val="1700"/>
              <a:buFont typeface="Lexend"/>
              <a:buChar char="▪"/>
            </a:pPr>
            <a:r>
              <a:rPr lang="en" sz="1700">
                <a:solidFill>
                  <a:schemeClr val="dk1"/>
                </a:solidFill>
                <a:latin typeface="Lexend"/>
                <a:ea typeface="Lexend"/>
                <a:cs typeface="Lexend"/>
                <a:sym typeface="Lexend"/>
              </a:rPr>
              <a:t>The demultiplexer is actually identical to a decoder with enable. A </a:t>
            </a:r>
            <a:r>
              <a:rPr lang="en" sz="1700">
                <a:solidFill>
                  <a:srgbClr val="FF0000"/>
                </a:solidFill>
                <a:latin typeface="Lexend"/>
                <a:ea typeface="Lexend"/>
                <a:cs typeface="Lexend"/>
                <a:sym typeface="Lexend"/>
              </a:rPr>
              <a:t>decoder with an enable</a:t>
            </a:r>
            <a:r>
              <a:rPr lang="en" sz="1700">
                <a:solidFill>
                  <a:schemeClr val="dk1"/>
                </a:solidFill>
                <a:latin typeface="Lexend"/>
                <a:ea typeface="Lexend"/>
                <a:cs typeface="Lexend"/>
                <a:sym typeface="Lexend"/>
              </a:rPr>
              <a:t> input can function as a demultiplexer (or demux)</a:t>
            </a:r>
            <a:br>
              <a:rPr lang="en" sz="1700">
                <a:solidFill>
                  <a:schemeClr val="dk1"/>
                </a:solidFill>
                <a:latin typeface="Lexend"/>
                <a:ea typeface="Lexend"/>
                <a:cs typeface="Lexend"/>
                <a:sym typeface="Lexend"/>
              </a:rPr>
            </a:br>
            <a:r>
              <a:rPr lang="en" sz="1700">
                <a:solidFill>
                  <a:schemeClr val="dk1"/>
                </a:solidFill>
                <a:latin typeface="Lexend"/>
                <a:ea typeface="Lexend"/>
                <a:cs typeface="Lexend"/>
                <a:sym typeface="Lexend"/>
              </a:rPr>
              <a:t>Decoder + enable= demultiplexer</a:t>
            </a:r>
            <a:endParaRPr sz="1700">
              <a:solidFill>
                <a:schemeClr val="dk1"/>
              </a:solidFill>
              <a:latin typeface="Lexend"/>
              <a:ea typeface="Lexend"/>
              <a:cs typeface="Lexend"/>
              <a:sym typeface="Lexend"/>
            </a:endParaRPr>
          </a:p>
          <a:p>
            <a:pPr indent="-336550" lvl="0" marL="457200" rtl="0" algn="l">
              <a:lnSpc>
                <a:spcPct val="90000"/>
              </a:lnSpc>
              <a:spcBef>
                <a:spcPts val="1000"/>
              </a:spcBef>
              <a:spcAft>
                <a:spcPts val="0"/>
              </a:spcAft>
              <a:buClr>
                <a:schemeClr val="dk1"/>
              </a:buClr>
              <a:buSzPts val="1700"/>
              <a:buFont typeface="Lexend"/>
              <a:buChar char="▪"/>
            </a:pPr>
            <a:r>
              <a:rPr lang="en" sz="1700">
                <a:solidFill>
                  <a:schemeClr val="dk1"/>
                </a:solidFill>
                <a:latin typeface="Lexend"/>
                <a:ea typeface="Lexend"/>
                <a:cs typeface="Lexend"/>
                <a:sym typeface="Lexend"/>
              </a:rPr>
              <a:t>The selection of a specific output line is controlled by the bit values of ‘n’-selection lines.</a:t>
            </a:r>
            <a:endParaRPr sz="1700">
              <a:solidFill>
                <a:schemeClr val="dk1"/>
              </a:solidFill>
              <a:latin typeface="Lexend"/>
              <a:ea typeface="Lexend"/>
              <a:cs typeface="Lexend"/>
              <a:sym typeface="Lexend"/>
            </a:endParaRPr>
          </a:p>
        </p:txBody>
      </p:sp>
      <p:grpSp>
        <p:nvGrpSpPr>
          <p:cNvPr id="394" name="Google Shape;394;p30"/>
          <p:cNvGrpSpPr/>
          <p:nvPr/>
        </p:nvGrpSpPr>
        <p:grpSpPr>
          <a:xfrm>
            <a:off x="50480" y="122879"/>
            <a:ext cx="277873" cy="68400"/>
            <a:chOff x="411700" y="2416840"/>
            <a:chExt cx="277873" cy="68400"/>
          </a:xfrm>
        </p:grpSpPr>
        <p:sp>
          <p:nvSpPr>
            <p:cNvPr id="395" name="Google Shape;395;p3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6" name="Google Shape;396;p3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7" name="Google Shape;397;p3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98" name="Google Shape;398;p3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Demultiplexer</a:t>
            </a:r>
            <a:endParaRPr sz="3600">
              <a:solidFill>
                <a:schemeClr val="dk1"/>
              </a:solidFill>
              <a:latin typeface="Lexend"/>
              <a:ea typeface="Lexend"/>
              <a:cs typeface="Lexend"/>
              <a:sym typeface="Lexend"/>
            </a:endParaRPr>
          </a:p>
        </p:txBody>
      </p:sp>
      <p:sp>
        <p:nvSpPr>
          <p:cNvPr id="399" name="Google Shape;399;p3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00" name="Google Shape;400;p3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401" name="Google Shape;401;p30"/>
          <p:cNvSpPr txBox="1"/>
          <p:nvPr/>
        </p:nvSpPr>
        <p:spPr>
          <a:xfrm>
            <a:off x="5325600" y="2694338"/>
            <a:ext cx="9525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2x4 Decoder</a:t>
            </a:r>
            <a:endParaRPr b="0" i="0" sz="2000" u="none" cap="none" strike="noStrike">
              <a:solidFill>
                <a:srgbClr val="000000"/>
              </a:solidFill>
              <a:latin typeface="Arial"/>
              <a:ea typeface="Arial"/>
              <a:cs typeface="Arial"/>
              <a:sym typeface="Arial"/>
            </a:endParaRPr>
          </a:p>
        </p:txBody>
      </p:sp>
      <p:cxnSp>
        <p:nvCxnSpPr>
          <p:cNvPr id="402" name="Google Shape;402;p30"/>
          <p:cNvCxnSpPr/>
          <p:nvPr/>
        </p:nvCxnSpPr>
        <p:spPr>
          <a:xfrm>
            <a:off x="4792200" y="3075338"/>
            <a:ext cx="377700" cy="0"/>
          </a:xfrm>
          <a:prstGeom prst="straightConnector1">
            <a:avLst/>
          </a:prstGeom>
          <a:noFill/>
          <a:ln cap="flat" cmpd="sng" w="15875">
            <a:solidFill>
              <a:srgbClr val="000000"/>
            </a:solidFill>
            <a:prstDash val="solid"/>
            <a:round/>
            <a:headEnd len="sm" w="sm" type="none"/>
            <a:tailEnd len="med" w="med" type="triangle"/>
          </a:ln>
        </p:spPr>
      </p:cxnSp>
      <p:cxnSp>
        <p:nvCxnSpPr>
          <p:cNvPr id="403" name="Google Shape;403;p30"/>
          <p:cNvCxnSpPr/>
          <p:nvPr/>
        </p:nvCxnSpPr>
        <p:spPr>
          <a:xfrm>
            <a:off x="6601104" y="3377651"/>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404" name="Google Shape;404;p30"/>
          <p:cNvCxnSpPr/>
          <p:nvPr/>
        </p:nvCxnSpPr>
        <p:spPr>
          <a:xfrm>
            <a:off x="6601104" y="2615651"/>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405" name="Google Shape;405;p30"/>
          <p:cNvCxnSpPr/>
          <p:nvPr/>
        </p:nvCxnSpPr>
        <p:spPr>
          <a:xfrm rot="10800000">
            <a:off x="5825575" y="3894638"/>
            <a:ext cx="0" cy="476100"/>
          </a:xfrm>
          <a:prstGeom prst="straightConnector1">
            <a:avLst/>
          </a:prstGeom>
          <a:noFill/>
          <a:ln cap="flat" cmpd="sng" w="15875">
            <a:solidFill>
              <a:srgbClr val="000000"/>
            </a:solidFill>
            <a:prstDash val="solid"/>
            <a:round/>
            <a:headEnd len="sm" w="sm" type="none"/>
            <a:tailEnd len="med" w="med" type="triangle"/>
          </a:ln>
        </p:spPr>
      </p:cxnSp>
      <p:cxnSp>
        <p:nvCxnSpPr>
          <p:cNvPr id="406" name="Google Shape;406;p30"/>
          <p:cNvCxnSpPr/>
          <p:nvPr/>
        </p:nvCxnSpPr>
        <p:spPr>
          <a:xfrm>
            <a:off x="6601104" y="2996651"/>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407" name="Google Shape;407;p30"/>
          <p:cNvCxnSpPr/>
          <p:nvPr/>
        </p:nvCxnSpPr>
        <p:spPr>
          <a:xfrm>
            <a:off x="6601104" y="3758651"/>
            <a:ext cx="476400" cy="0"/>
          </a:xfrm>
          <a:prstGeom prst="straightConnector1">
            <a:avLst/>
          </a:prstGeom>
          <a:noFill/>
          <a:ln cap="flat" cmpd="sng" w="15875">
            <a:solidFill>
              <a:srgbClr val="000000"/>
            </a:solidFill>
            <a:prstDash val="solid"/>
            <a:round/>
            <a:headEnd len="sm" w="sm" type="none"/>
            <a:tailEnd len="med" w="med" type="triangle"/>
          </a:ln>
        </p:spPr>
      </p:cxnSp>
      <p:sp>
        <p:nvSpPr>
          <p:cNvPr id="408" name="Google Shape;408;p30"/>
          <p:cNvSpPr txBox="1"/>
          <p:nvPr/>
        </p:nvSpPr>
        <p:spPr>
          <a:xfrm>
            <a:off x="5649363" y="4370738"/>
            <a:ext cx="476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a:t>
            </a:r>
            <a:endParaRPr b="0" i="0" sz="2000" u="none" cap="none" strike="noStrike">
              <a:solidFill>
                <a:srgbClr val="000000"/>
              </a:solidFill>
              <a:latin typeface="Arial"/>
              <a:ea typeface="Arial"/>
              <a:cs typeface="Arial"/>
              <a:sym typeface="Arial"/>
            </a:endParaRPr>
          </a:p>
        </p:txBody>
      </p:sp>
      <p:sp>
        <p:nvSpPr>
          <p:cNvPr id="409" name="Google Shape;409;p30"/>
          <p:cNvSpPr txBox="1"/>
          <p:nvPr/>
        </p:nvSpPr>
        <p:spPr>
          <a:xfrm>
            <a:off x="4411200" y="2846738"/>
            <a:ext cx="476400" cy="687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2000" u="none" cap="none" strike="noStrike">
              <a:solidFill>
                <a:srgbClr val="000000"/>
              </a:solidFill>
              <a:latin typeface="Arial"/>
              <a:ea typeface="Arial"/>
              <a:cs typeface="Arial"/>
              <a:sym typeface="Arial"/>
            </a:endParaRPr>
          </a:p>
        </p:txBody>
      </p:sp>
      <p:sp>
        <p:nvSpPr>
          <p:cNvPr id="410" name="Google Shape;410;p30"/>
          <p:cNvSpPr txBox="1"/>
          <p:nvPr/>
        </p:nvSpPr>
        <p:spPr>
          <a:xfrm>
            <a:off x="7058304" y="2463251"/>
            <a:ext cx="1905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11" name="Google Shape;411;p30"/>
          <p:cNvSpPr txBox="1"/>
          <p:nvPr/>
        </p:nvSpPr>
        <p:spPr>
          <a:xfrm>
            <a:off x="7058304" y="2844251"/>
            <a:ext cx="1905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412" name="Google Shape;412;p30"/>
          <p:cNvSpPr txBox="1"/>
          <p:nvPr/>
        </p:nvSpPr>
        <p:spPr>
          <a:xfrm>
            <a:off x="7058304" y="3225251"/>
            <a:ext cx="1905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2</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13" name="Google Shape;413;p30"/>
          <p:cNvSpPr txBox="1"/>
          <p:nvPr/>
        </p:nvSpPr>
        <p:spPr>
          <a:xfrm>
            <a:off x="7058304" y="3606251"/>
            <a:ext cx="1905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3</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414" name="Google Shape;414;p30"/>
          <p:cNvSpPr/>
          <p:nvPr/>
        </p:nvSpPr>
        <p:spPr>
          <a:xfrm>
            <a:off x="5173200" y="2465738"/>
            <a:ext cx="1428600" cy="1428600"/>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415" name="Google Shape;415;p30"/>
          <p:cNvCxnSpPr/>
          <p:nvPr/>
        </p:nvCxnSpPr>
        <p:spPr>
          <a:xfrm>
            <a:off x="4792200" y="3380138"/>
            <a:ext cx="374100" cy="0"/>
          </a:xfrm>
          <a:prstGeom prst="straightConnector1">
            <a:avLst/>
          </a:prstGeom>
          <a:noFill/>
          <a:ln cap="flat" cmpd="sng" w="15875">
            <a:solidFill>
              <a:srgbClr val="000000"/>
            </a:solidFill>
            <a:prstDash val="solid"/>
            <a:round/>
            <a:headEnd len="sm" w="sm" type="none"/>
            <a:tailEnd len="med" w="med" type="triangle"/>
          </a:ln>
        </p:spPr>
      </p:cxnSp>
      <p:sp>
        <p:nvSpPr>
          <p:cNvPr id="416" name="Google Shape;416;p30"/>
          <p:cNvSpPr txBox="1"/>
          <p:nvPr/>
        </p:nvSpPr>
        <p:spPr>
          <a:xfrm>
            <a:off x="5584363" y="3608738"/>
            <a:ext cx="476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E</a:t>
            </a:r>
            <a:endParaRPr b="0" i="0" sz="2000" u="none" cap="none" strike="noStrike">
              <a:solidFill>
                <a:srgbClr val="000000"/>
              </a:solidFill>
              <a:latin typeface="Arial"/>
              <a:ea typeface="Arial"/>
              <a:cs typeface="Arial"/>
              <a:sym typeface="Arial"/>
            </a:endParaRPr>
          </a:p>
        </p:txBody>
      </p:sp>
      <p:sp>
        <p:nvSpPr>
          <p:cNvPr id="417" name="Google Shape;417;p30"/>
          <p:cNvSpPr/>
          <p:nvPr/>
        </p:nvSpPr>
        <p:spPr>
          <a:xfrm>
            <a:off x="3739688" y="3227738"/>
            <a:ext cx="549300" cy="381000"/>
          </a:xfrm>
          <a:prstGeom prst="rightArrow">
            <a:avLst>
              <a:gd fmla="val 50000" name="adj1"/>
              <a:gd fmla="val 50000" name="adj2"/>
            </a:avLst>
          </a:prstGeom>
          <a:solidFill>
            <a:srgbClr val="5B9BD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418" name="Google Shape;418;p30"/>
          <p:cNvGrpSpPr/>
          <p:nvPr/>
        </p:nvGrpSpPr>
        <p:grpSpPr>
          <a:xfrm>
            <a:off x="328349" y="2588937"/>
            <a:ext cx="4100560" cy="2256890"/>
            <a:chOff x="131244" y="2164205"/>
            <a:chExt cx="4713287" cy="2720128"/>
          </a:xfrm>
        </p:grpSpPr>
        <p:sp>
          <p:nvSpPr>
            <p:cNvPr id="419" name="Google Shape;419;p30"/>
            <p:cNvSpPr txBox="1"/>
            <p:nvPr/>
          </p:nvSpPr>
          <p:spPr>
            <a:xfrm>
              <a:off x="1785211" y="3163589"/>
              <a:ext cx="9822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demux</a:t>
              </a:r>
              <a:endParaRPr b="0" i="0" sz="2000" u="none" cap="none" strike="noStrike">
                <a:solidFill>
                  <a:srgbClr val="000000"/>
                </a:solidFill>
                <a:latin typeface="Arial"/>
                <a:ea typeface="Arial"/>
                <a:cs typeface="Arial"/>
                <a:sym typeface="Arial"/>
              </a:endParaRPr>
            </a:p>
          </p:txBody>
        </p:sp>
        <p:cxnSp>
          <p:nvCxnSpPr>
            <p:cNvPr id="420" name="Google Shape;420;p30"/>
            <p:cNvCxnSpPr/>
            <p:nvPr/>
          </p:nvCxnSpPr>
          <p:spPr>
            <a:xfrm>
              <a:off x="995326" y="3266425"/>
              <a:ext cx="455400" cy="0"/>
            </a:xfrm>
            <a:prstGeom prst="straightConnector1">
              <a:avLst/>
            </a:prstGeom>
            <a:noFill/>
            <a:ln cap="flat" cmpd="sng" w="15875">
              <a:solidFill>
                <a:srgbClr val="000000"/>
              </a:solidFill>
              <a:prstDash val="solid"/>
              <a:round/>
              <a:headEnd len="sm" w="sm" type="none"/>
              <a:tailEnd len="med" w="med" type="triangle"/>
            </a:ln>
          </p:spPr>
        </p:cxnSp>
        <p:cxnSp>
          <p:nvCxnSpPr>
            <p:cNvPr id="421" name="Google Shape;421;p30"/>
            <p:cNvCxnSpPr/>
            <p:nvPr/>
          </p:nvCxnSpPr>
          <p:spPr>
            <a:xfrm>
              <a:off x="2796050" y="3455300"/>
              <a:ext cx="245700" cy="0"/>
            </a:xfrm>
            <a:prstGeom prst="straightConnector1">
              <a:avLst/>
            </a:prstGeom>
            <a:noFill/>
            <a:ln cap="flat" cmpd="sng" w="15875">
              <a:solidFill>
                <a:srgbClr val="000000"/>
              </a:solidFill>
              <a:prstDash val="solid"/>
              <a:round/>
              <a:headEnd len="sm" w="sm" type="none"/>
              <a:tailEnd len="med" w="med" type="triangle"/>
            </a:ln>
          </p:spPr>
        </p:cxnSp>
        <p:cxnSp>
          <p:nvCxnSpPr>
            <p:cNvPr id="422" name="Google Shape;422;p30"/>
            <p:cNvCxnSpPr/>
            <p:nvPr/>
          </p:nvCxnSpPr>
          <p:spPr>
            <a:xfrm>
              <a:off x="2789900" y="2726000"/>
              <a:ext cx="251700" cy="0"/>
            </a:xfrm>
            <a:prstGeom prst="straightConnector1">
              <a:avLst/>
            </a:prstGeom>
            <a:noFill/>
            <a:ln cap="flat" cmpd="sng" w="15875">
              <a:solidFill>
                <a:srgbClr val="000000"/>
              </a:solidFill>
              <a:prstDash val="solid"/>
              <a:round/>
              <a:headEnd len="sm" w="sm" type="none"/>
              <a:tailEnd len="med" w="med" type="triangle"/>
            </a:ln>
          </p:spPr>
        </p:cxnSp>
        <p:cxnSp>
          <p:nvCxnSpPr>
            <p:cNvPr id="423" name="Google Shape;423;p30"/>
            <p:cNvCxnSpPr/>
            <p:nvPr/>
          </p:nvCxnSpPr>
          <p:spPr>
            <a:xfrm rot="10800000">
              <a:off x="1986026" y="3553179"/>
              <a:ext cx="0" cy="516900"/>
            </a:xfrm>
            <a:prstGeom prst="straightConnector1">
              <a:avLst/>
            </a:prstGeom>
            <a:noFill/>
            <a:ln cap="flat" cmpd="sng" w="15875">
              <a:solidFill>
                <a:srgbClr val="000000"/>
              </a:solidFill>
              <a:prstDash val="solid"/>
              <a:round/>
              <a:headEnd len="sm" w="sm" type="none"/>
              <a:tailEnd len="med" w="med" type="triangle"/>
            </a:ln>
          </p:spPr>
        </p:cxnSp>
        <p:cxnSp>
          <p:nvCxnSpPr>
            <p:cNvPr id="424" name="Google Shape;424;p30"/>
            <p:cNvCxnSpPr/>
            <p:nvPr/>
          </p:nvCxnSpPr>
          <p:spPr>
            <a:xfrm>
              <a:off x="2796050" y="3090650"/>
              <a:ext cx="245700" cy="0"/>
            </a:xfrm>
            <a:prstGeom prst="straightConnector1">
              <a:avLst/>
            </a:prstGeom>
            <a:noFill/>
            <a:ln cap="flat" cmpd="sng" w="15875">
              <a:solidFill>
                <a:srgbClr val="000000"/>
              </a:solidFill>
              <a:prstDash val="solid"/>
              <a:round/>
              <a:headEnd len="sm" w="sm" type="none"/>
              <a:tailEnd len="med" w="med" type="triangle"/>
            </a:ln>
          </p:spPr>
        </p:cxnSp>
        <p:cxnSp>
          <p:nvCxnSpPr>
            <p:cNvPr id="425" name="Google Shape;425;p30"/>
            <p:cNvCxnSpPr/>
            <p:nvPr/>
          </p:nvCxnSpPr>
          <p:spPr>
            <a:xfrm>
              <a:off x="2796050" y="3819950"/>
              <a:ext cx="245700" cy="0"/>
            </a:xfrm>
            <a:prstGeom prst="straightConnector1">
              <a:avLst/>
            </a:prstGeom>
            <a:noFill/>
            <a:ln cap="flat" cmpd="sng" w="15875">
              <a:solidFill>
                <a:srgbClr val="000000"/>
              </a:solidFill>
              <a:prstDash val="solid"/>
              <a:round/>
              <a:headEnd len="sm" w="sm" type="none"/>
              <a:tailEnd len="med" w="med" type="triangle"/>
            </a:ln>
          </p:spPr>
        </p:cxnSp>
        <p:sp>
          <p:nvSpPr>
            <p:cNvPr id="426" name="Google Shape;426;p30"/>
            <p:cNvSpPr txBox="1"/>
            <p:nvPr/>
          </p:nvSpPr>
          <p:spPr>
            <a:xfrm>
              <a:off x="131244" y="3094497"/>
              <a:ext cx="10101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Data D</a:t>
              </a:r>
              <a:endParaRPr b="0" i="0" sz="2000" u="none" cap="none" strike="noStrike">
                <a:solidFill>
                  <a:srgbClr val="000000"/>
                </a:solidFill>
                <a:latin typeface="Arial"/>
                <a:ea typeface="Arial"/>
                <a:cs typeface="Arial"/>
                <a:sym typeface="Arial"/>
              </a:endParaRPr>
            </a:p>
          </p:txBody>
        </p:sp>
        <p:sp>
          <p:nvSpPr>
            <p:cNvPr id="427" name="Google Shape;427;p30"/>
            <p:cNvSpPr txBox="1"/>
            <p:nvPr/>
          </p:nvSpPr>
          <p:spPr>
            <a:xfrm>
              <a:off x="2786921" y="2164205"/>
              <a:ext cx="10851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Outputs</a:t>
              </a:r>
              <a:endParaRPr b="0" i="0" sz="2000" u="none" cap="none" strike="noStrike">
                <a:solidFill>
                  <a:srgbClr val="000000"/>
                </a:solidFill>
                <a:latin typeface="Arial"/>
                <a:ea typeface="Arial"/>
                <a:cs typeface="Arial"/>
                <a:sym typeface="Arial"/>
              </a:endParaRPr>
            </a:p>
          </p:txBody>
        </p:sp>
        <p:sp>
          <p:nvSpPr>
            <p:cNvPr id="428" name="Google Shape;428;p30"/>
            <p:cNvSpPr/>
            <p:nvPr/>
          </p:nvSpPr>
          <p:spPr>
            <a:xfrm flipH="1" rot="-5400000">
              <a:off x="1420241" y="2580884"/>
              <a:ext cx="1367400" cy="1365900"/>
            </a:xfrm>
            <a:prstGeom prst="triangle">
              <a:avLst>
                <a:gd fmla="val 50000" name="adj"/>
              </a:avLst>
            </a:prstGeom>
            <a:noFill/>
            <a:ln cap="flat" cmpd="sng" w="158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429" name="Google Shape;429;p30"/>
            <p:cNvCxnSpPr/>
            <p:nvPr/>
          </p:nvCxnSpPr>
          <p:spPr>
            <a:xfrm rot="10800000">
              <a:off x="1621812" y="3359979"/>
              <a:ext cx="0" cy="710100"/>
            </a:xfrm>
            <a:prstGeom prst="straightConnector1">
              <a:avLst/>
            </a:prstGeom>
            <a:noFill/>
            <a:ln cap="flat" cmpd="sng" w="15875">
              <a:solidFill>
                <a:srgbClr val="000000"/>
              </a:solidFill>
              <a:prstDash val="solid"/>
              <a:round/>
              <a:headEnd len="sm" w="sm" type="none"/>
              <a:tailEnd len="med" w="med" type="triangle"/>
            </a:ln>
          </p:spPr>
        </p:cxnSp>
        <p:sp>
          <p:nvSpPr>
            <p:cNvPr id="430" name="Google Shape;430;p30"/>
            <p:cNvSpPr txBox="1"/>
            <p:nvPr/>
          </p:nvSpPr>
          <p:spPr>
            <a:xfrm>
              <a:off x="1566677" y="4476333"/>
              <a:ext cx="9105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select</a:t>
              </a:r>
              <a:endParaRPr b="0" i="0" sz="2000" u="none" cap="none" strike="noStrike">
                <a:solidFill>
                  <a:srgbClr val="000000"/>
                </a:solidFill>
                <a:latin typeface="Arial"/>
                <a:ea typeface="Arial"/>
                <a:cs typeface="Arial"/>
                <a:sym typeface="Arial"/>
              </a:endParaRPr>
            </a:p>
          </p:txBody>
        </p:sp>
        <p:sp>
          <p:nvSpPr>
            <p:cNvPr id="431" name="Google Shape;431;p30"/>
            <p:cNvSpPr txBox="1"/>
            <p:nvPr/>
          </p:nvSpPr>
          <p:spPr>
            <a:xfrm>
              <a:off x="1476127" y="4070079"/>
              <a:ext cx="9105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S</a:t>
              </a:r>
              <a:r>
                <a:rPr b="0" baseline="-25000" i="0" lang="en" sz="1600" u="none" cap="none" strike="noStrike">
                  <a:solidFill>
                    <a:srgbClr val="000000"/>
                  </a:solidFill>
                  <a:latin typeface="Arial"/>
                  <a:ea typeface="Arial"/>
                  <a:cs typeface="Arial"/>
                  <a:sym typeface="Arial"/>
                </a:rPr>
                <a:t>0</a:t>
              </a:r>
              <a:endParaRPr b="0" i="0" sz="2000" u="none" cap="none" strike="noStrike">
                <a:solidFill>
                  <a:srgbClr val="000000"/>
                </a:solidFill>
                <a:latin typeface="Arial"/>
                <a:ea typeface="Arial"/>
                <a:cs typeface="Arial"/>
                <a:sym typeface="Arial"/>
              </a:endParaRPr>
            </a:p>
          </p:txBody>
        </p:sp>
        <p:sp>
          <p:nvSpPr>
            <p:cNvPr id="432" name="Google Shape;432;p30"/>
            <p:cNvSpPr txBox="1"/>
            <p:nvPr/>
          </p:nvSpPr>
          <p:spPr>
            <a:xfrm>
              <a:off x="3023531" y="2580134"/>
              <a:ext cx="18210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33" name="Google Shape;433;p30"/>
            <p:cNvSpPr txBox="1"/>
            <p:nvPr/>
          </p:nvSpPr>
          <p:spPr>
            <a:xfrm>
              <a:off x="3023531" y="2944788"/>
              <a:ext cx="18210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a:t>
              </a:r>
              <a:endParaRPr b="0" i="0" sz="1600" u="none" cap="none" strike="noStrike">
                <a:solidFill>
                  <a:srgbClr val="000000"/>
                </a:solidFill>
                <a:latin typeface="Arial"/>
                <a:ea typeface="Arial"/>
                <a:cs typeface="Arial"/>
                <a:sym typeface="Arial"/>
              </a:endParaRPr>
            </a:p>
          </p:txBody>
        </p:sp>
        <p:sp>
          <p:nvSpPr>
            <p:cNvPr id="434" name="Google Shape;434;p30"/>
            <p:cNvSpPr txBox="1"/>
            <p:nvPr/>
          </p:nvSpPr>
          <p:spPr>
            <a:xfrm>
              <a:off x="3023531" y="3309442"/>
              <a:ext cx="18210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2</a:t>
              </a:r>
              <a:r>
                <a:rPr b="0" i="0" lang="en" sz="16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35" name="Google Shape;435;p30"/>
            <p:cNvSpPr txBox="1"/>
            <p:nvPr/>
          </p:nvSpPr>
          <p:spPr>
            <a:xfrm>
              <a:off x="3023531" y="3674095"/>
              <a:ext cx="18210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3</a:t>
              </a:r>
              <a:r>
                <a:rPr b="0" i="0" lang="en" sz="1600" u="none" cap="none" strike="noStrike">
                  <a:solidFill>
                    <a:srgbClr val="000000"/>
                  </a:solidFill>
                  <a:latin typeface="Arial"/>
                  <a:ea typeface="Arial"/>
                  <a:cs typeface="Arial"/>
                  <a:sym typeface="Arial"/>
                </a:rPr>
                <a:t> </a:t>
              </a:r>
              <a:endParaRPr b="0" i="0" sz="1600" u="none" cap="none" strike="noStrik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41" name="Google Shape;441;p3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42" name="Google Shape;442;p3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43" name="Google Shape;443;p31"/>
          <p:cNvSpPr txBox="1"/>
          <p:nvPr/>
        </p:nvSpPr>
        <p:spPr>
          <a:xfrm>
            <a:off x="256650" y="972838"/>
            <a:ext cx="86307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lang="en" sz="2000">
                <a:solidFill>
                  <a:schemeClr val="dk1"/>
                </a:solidFill>
                <a:latin typeface="Lexend"/>
                <a:ea typeface="Lexend"/>
                <a:cs typeface="Lexend"/>
                <a:sym typeface="Lexend"/>
              </a:rPr>
              <a:t>4-line-to-16 line Decoder constructed with two 3-line-to-8 line decoders with enables</a:t>
            </a:r>
            <a:endParaRPr sz="2000">
              <a:solidFill>
                <a:schemeClr val="dk1"/>
              </a:solidFill>
              <a:latin typeface="Lexend"/>
              <a:ea typeface="Lexend"/>
              <a:cs typeface="Lexend"/>
              <a:sym typeface="Lexend"/>
            </a:endParaRPr>
          </a:p>
        </p:txBody>
      </p:sp>
      <p:grpSp>
        <p:nvGrpSpPr>
          <p:cNvPr id="444" name="Google Shape;444;p31"/>
          <p:cNvGrpSpPr/>
          <p:nvPr/>
        </p:nvGrpSpPr>
        <p:grpSpPr>
          <a:xfrm>
            <a:off x="50480" y="122879"/>
            <a:ext cx="277873" cy="68400"/>
            <a:chOff x="411700" y="2416840"/>
            <a:chExt cx="277873" cy="68400"/>
          </a:xfrm>
        </p:grpSpPr>
        <p:sp>
          <p:nvSpPr>
            <p:cNvPr id="445" name="Google Shape;445;p3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3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3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48" name="Google Shape;448;p3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 (More Applications)</a:t>
            </a:r>
            <a:endParaRPr sz="3600">
              <a:solidFill>
                <a:schemeClr val="dk1"/>
              </a:solidFill>
              <a:latin typeface="Lexend"/>
              <a:ea typeface="Lexend"/>
              <a:cs typeface="Lexend"/>
              <a:sym typeface="Lexend"/>
            </a:endParaRPr>
          </a:p>
        </p:txBody>
      </p:sp>
      <p:sp>
        <p:nvSpPr>
          <p:cNvPr id="449" name="Google Shape;449;p3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50" name="Google Shape;450;p3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descr="AACFLPD0" id="451" name="Google Shape;451;p31"/>
          <p:cNvPicPr preferRelativeResize="0"/>
          <p:nvPr>
            <p:ph idx="1" type="body"/>
          </p:nvPr>
        </p:nvPicPr>
        <p:blipFill rotWithShape="1">
          <a:blip r:embed="rId4">
            <a:alphaModFix/>
          </a:blip>
          <a:srcRect b="0" l="0" r="0" t="0"/>
          <a:stretch/>
        </p:blipFill>
        <p:spPr>
          <a:xfrm>
            <a:off x="3500700" y="1532675"/>
            <a:ext cx="5130300" cy="3285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7" name="Google Shape;457;p3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58" name="Google Shape;458;p3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59" name="Google Shape;459;p32"/>
          <p:cNvSpPr txBox="1"/>
          <p:nvPr/>
        </p:nvSpPr>
        <p:spPr>
          <a:xfrm>
            <a:off x="256650" y="972850"/>
            <a:ext cx="6379200" cy="3783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lang="en" sz="2000">
                <a:solidFill>
                  <a:schemeClr val="dk1"/>
                </a:solidFill>
                <a:latin typeface="Lexend"/>
                <a:ea typeface="Lexend"/>
                <a:cs typeface="Lexend"/>
                <a:sym typeface="Lexend"/>
              </a:rPr>
              <a:t>4-line-to-16 line Decoder constructed with two 3-line-to-8 line decoders with enables</a:t>
            </a:r>
            <a:endParaRPr sz="2000">
              <a:solidFill>
                <a:schemeClr val="dk1"/>
              </a:solidFill>
              <a:latin typeface="Lexend"/>
              <a:ea typeface="Lexend"/>
              <a:cs typeface="Lexend"/>
              <a:sym typeface="Lexend"/>
            </a:endParaRPr>
          </a:p>
          <a:p>
            <a:pPr indent="0" lvl="0" marL="0" rtl="0" algn="l">
              <a:lnSpc>
                <a:spcPct val="90000"/>
              </a:lnSpc>
              <a:spcBef>
                <a:spcPts val="1000"/>
              </a:spcBef>
              <a:spcAft>
                <a:spcPts val="0"/>
              </a:spcAft>
              <a:buNone/>
            </a:pPr>
            <a:r>
              <a:t/>
            </a:r>
            <a:endParaRPr sz="1600">
              <a:solidFill>
                <a:schemeClr val="dk1"/>
              </a:solidFill>
              <a:latin typeface="Lexend"/>
              <a:ea typeface="Lexend"/>
              <a:cs typeface="Lexend"/>
              <a:sym typeface="Lexend"/>
            </a:endParaRPr>
          </a:p>
          <a:p>
            <a:pPr indent="-177800" lvl="0" marL="2286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When w=0, the top decoder is enabled and the other is disabled. The bottom decoder outputs are all 0’s , and the top eight outputs generate min-terms 0000 to 0111.</a:t>
            </a:r>
            <a:endParaRPr sz="2000">
              <a:solidFill>
                <a:schemeClr val="dk1"/>
              </a:solidFill>
              <a:latin typeface="Lexend"/>
              <a:ea typeface="Lexend"/>
              <a:cs typeface="Lexend"/>
              <a:sym typeface="Lexend"/>
            </a:endParaRPr>
          </a:p>
          <a:p>
            <a:pPr indent="-177800" lvl="0" marL="228600" rtl="0" algn="l">
              <a:lnSpc>
                <a:spcPct val="90000"/>
              </a:lnSpc>
              <a:spcBef>
                <a:spcPts val="1000"/>
              </a:spcBef>
              <a:spcAft>
                <a:spcPts val="0"/>
              </a:spcAft>
              <a:buClr>
                <a:schemeClr val="dk1"/>
              </a:buClr>
              <a:buSzPts val="2000"/>
              <a:buFont typeface="Lexend"/>
              <a:buChar char="•"/>
            </a:pPr>
            <a:r>
              <a:rPr lang="en" sz="2000">
                <a:solidFill>
                  <a:schemeClr val="dk1"/>
                </a:solidFill>
                <a:latin typeface="Lexend"/>
                <a:ea typeface="Lexend"/>
                <a:cs typeface="Lexend"/>
                <a:sym typeface="Lexend"/>
              </a:rPr>
              <a:t>When w=1, the enable conditions are reversed. The bottom decoder outputs generate min-terms 1000 to 1111, while the outputs of the top decoder are all 0’s.</a:t>
            </a:r>
            <a:endParaRPr sz="2000">
              <a:solidFill>
                <a:schemeClr val="dk1"/>
              </a:solidFill>
              <a:latin typeface="Lexend"/>
              <a:ea typeface="Lexend"/>
              <a:cs typeface="Lexend"/>
              <a:sym typeface="Lexend"/>
            </a:endParaRPr>
          </a:p>
          <a:p>
            <a:pPr indent="0" lvl="0" marL="0" rtl="0" algn="l">
              <a:lnSpc>
                <a:spcPct val="90000"/>
              </a:lnSpc>
              <a:spcBef>
                <a:spcPts val="1000"/>
              </a:spcBef>
              <a:spcAft>
                <a:spcPts val="0"/>
              </a:spcAft>
              <a:buNone/>
            </a:pPr>
            <a:r>
              <a:t/>
            </a:r>
            <a:endParaRPr sz="1600">
              <a:solidFill>
                <a:schemeClr val="dk1"/>
              </a:solidFill>
              <a:latin typeface="Lexend"/>
              <a:ea typeface="Lexend"/>
              <a:cs typeface="Lexend"/>
              <a:sym typeface="Lexend"/>
            </a:endParaRPr>
          </a:p>
        </p:txBody>
      </p:sp>
      <p:grpSp>
        <p:nvGrpSpPr>
          <p:cNvPr id="460" name="Google Shape;460;p32"/>
          <p:cNvGrpSpPr/>
          <p:nvPr/>
        </p:nvGrpSpPr>
        <p:grpSpPr>
          <a:xfrm>
            <a:off x="50480" y="122879"/>
            <a:ext cx="277873" cy="68400"/>
            <a:chOff x="411700" y="2416840"/>
            <a:chExt cx="277873" cy="68400"/>
          </a:xfrm>
        </p:grpSpPr>
        <p:sp>
          <p:nvSpPr>
            <p:cNvPr id="461" name="Google Shape;461;p3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3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3" name="Google Shape;463;p3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64" name="Google Shape;464;p3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65" name="Google Shape;465;p3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66" name="Google Shape;466;p3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467" name="Google Shape;467;p32"/>
          <p:cNvGraphicFramePr/>
          <p:nvPr/>
        </p:nvGraphicFramePr>
        <p:xfrm>
          <a:off x="6786950" y="351688"/>
          <a:ext cx="3000000" cy="3000000"/>
        </p:xfrm>
        <a:graphic>
          <a:graphicData uri="http://schemas.openxmlformats.org/drawingml/2006/table">
            <a:tbl>
              <a:tblPr>
                <a:noFill/>
                <a:tableStyleId>{031C2276-671B-496E-B77D-804DC5F1F2AA}</a:tableStyleId>
              </a:tblPr>
              <a:tblGrid>
                <a:gridCol w="410250"/>
                <a:gridCol w="410250"/>
                <a:gridCol w="410250"/>
                <a:gridCol w="410250"/>
              </a:tblGrid>
              <a:tr h="271250">
                <a:tc>
                  <a:txBody>
                    <a:bodyPr/>
                    <a:lstStyle/>
                    <a:p>
                      <a:pPr indent="0" lvl="0" marL="0" marR="0" rtl="0" algn="ctr">
                        <a:lnSpc>
                          <a:spcPct val="100000"/>
                        </a:lnSpc>
                        <a:spcBef>
                          <a:spcPts val="0"/>
                        </a:spcBef>
                        <a:spcAft>
                          <a:spcPts val="0"/>
                        </a:spcAft>
                        <a:buNone/>
                      </a:pPr>
                      <a:r>
                        <a:rPr b="1" lang="en" sz="1100">
                          <a:latin typeface="Lexend"/>
                          <a:ea typeface="Lexend"/>
                          <a:cs typeface="Lexend"/>
                          <a:sym typeface="Lexend"/>
                        </a:rPr>
                        <a:t>W</a:t>
                      </a:r>
                      <a:endParaRPr b="1"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n" sz="1100">
                          <a:latin typeface="Lexend"/>
                          <a:ea typeface="Lexend"/>
                          <a:cs typeface="Lexend"/>
                          <a:sym typeface="Lexend"/>
                        </a:rPr>
                        <a:t>X</a:t>
                      </a:r>
                      <a:endParaRPr b="1"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n" sz="1100">
                          <a:latin typeface="Lexend"/>
                          <a:ea typeface="Lexend"/>
                          <a:cs typeface="Lexend"/>
                          <a:sym typeface="Lexend"/>
                        </a:rPr>
                        <a:t>Y</a:t>
                      </a:r>
                      <a:endParaRPr b="1"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n" sz="1100">
                          <a:latin typeface="Lexend"/>
                          <a:ea typeface="Lexend"/>
                          <a:cs typeface="Lexend"/>
                          <a:sym typeface="Lexend"/>
                        </a:rPr>
                        <a:t>Z</a:t>
                      </a:r>
                      <a:endParaRPr b="1"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r>
              <a:tr h="271250">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085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71250">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3"/>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73" name="Google Shape;473;p3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74" name="Google Shape;474;p3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75" name="Google Shape;475;p33"/>
          <p:cNvSpPr txBox="1"/>
          <p:nvPr/>
        </p:nvSpPr>
        <p:spPr>
          <a:xfrm>
            <a:off x="256650" y="972850"/>
            <a:ext cx="38433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F(a,b,c,d)=∑(0,1,3,5,12,13)</a:t>
            </a:r>
            <a:r>
              <a:rPr lang="en" sz="1700">
                <a:solidFill>
                  <a:schemeClr val="dk1"/>
                </a:solidFill>
                <a:latin typeface="Lexend"/>
                <a:ea typeface="Lexend"/>
                <a:cs typeface="Lexend"/>
                <a:sym typeface="Lexend"/>
              </a:rPr>
              <a:t>  </a:t>
            </a:r>
            <a:endParaRPr sz="400">
              <a:solidFill>
                <a:schemeClr val="dk1"/>
              </a:solidFill>
              <a:latin typeface="Lexend"/>
              <a:ea typeface="Lexend"/>
              <a:cs typeface="Lexend"/>
              <a:sym typeface="Lexend"/>
            </a:endParaRPr>
          </a:p>
          <a:p>
            <a:pPr indent="0" lvl="0" marL="0" rtl="0" algn="l">
              <a:spcBef>
                <a:spcPts val="0"/>
              </a:spcBef>
              <a:spcAft>
                <a:spcPts val="0"/>
              </a:spcAft>
              <a:buNone/>
            </a:pPr>
            <a:r>
              <a:rPr lang="en" sz="1900">
                <a:solidFill>
                  <a:schemeClr val="dk1"/>
                </a:solidFill>
                <a:latin typeface="Lexend"/>
                <a:ea typeface="Lexend"/>
                <a:cs typeface="Lexend"/>
                <a:sym typeface="Lexend"/>
              </a:rPr>
              <a:t>Implement the above boolean </a:t>
            </a:r>
            <a:endParaRPr sz="1900">
              <a:solidFill>
                <a:schemeClr val="dk1"/>
              </a:solidFill>
              <a:latin typeface="Lexend"/>
              <a:ea typeface="Lexend"/>
              <a:cs typeface="Lexend"/>
              <a:sym typeface="Lexend"/>
            </a:endParaRPr>
          </a:p>
          <a:p>
            <a:pPr indent="0" lvl="0" marL="0" rtl="0" algn="l">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function using  </a:t>
            </a:r>
            <a:endParaRPr sz="1700">
              <a:solidFill>
                <a:schemeClr val="dk1"/>
              </a:solidFill>
              <a:latin typeface="Lexend"/>
              <a:ea typeface="Lexend"/>
              <a:cs typeface="Lexend"/>
              <a:sym typeface="Lexend"/>
            </a:endParaRPr>
          </a:p>
          <a:p>
            <a:pPr indent="0" lvl="0" marL="457200" rtl="0" algn="l">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a. 3:8 Decoder(s).      </a:t>
            </a:r>
            <a:endParaRPr sz="1300">
              <a:solidFill>
                <a:schemeClr val="dk1"/>
              </a:solidFill>
              <a:latin typeface="Lexend"/>
              <a:ea typeface="Lexend"/>
              <a:cs typeface="Lexend"/>
              <a:sym typeface="Lexend"/>
            </a:endParaRPr>
          </a:p>
          <a:p>
            <a:pPr indent="0" lvl="0" marL="457200" rtl="0" algn="l">
              <a:spcBef>
                <a:spcPts val="0"/>
              </a:spcBef>
              <a:spcAft>
                <a:spcPts val="0"/>
              </a:spcAft>
              <a:buNone/>
            </a:pPr>
            <a:r>
              <a:rPr lang="en" sz="1900">
                <a:solidFill>
                  <a:schemeClr val="dk1"/>
                </a:solidFill>
                <a:latin typeface="Lexend"/>
                <a:ea typeface="Lexend"/>
                <a:cs typeface="Lexend"/>
                <a:sym typeface="Lexend"/>
              </a:rPr>
              <a:t>b. 2:4 Decoder(s) only.</a:t>
            </a:r>
            <a:endParaRPr sz="1900">
              <a:solidFill>
                <a:schemeClr val="dk1"/>
              </a:solidFill>
              <a:latin typeface="Lexend"/>
              <a:ea typeface="Lexend"/>
              <a:cs typeface="Lexend"/>
              <a:sym typeface="Lexend"/>
            </a:endParaRPr>
          </a:p>
        </p:txBody>
      </p:sp>
      <p:grpSp>
        <p:nvGrpSpPr>
          <p:cNvPr id="476" name="Google Shape;476;p33"/>
          <p:cNvGrpSpPr/>
          <p:nvPr/>
        </p:nvGrpSpPr>
        <p:grpSpPr>
          <a:xfrm>
            <a:off x="50480" y="122879"/>
            <a:ext cx="277873" cy="68400"/>
            <a:chOff x="411700" y="2416840"/>
            <a:chExt cx="277873" cy="68400"/>
          </a:xfrm>
        </p:grpSpPr>
        <p:sp>
          <p:nvSpPr>
            <p:cNvPr id="477" name="Google Shape;477;p3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 name="Google Shape;478;p3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 name="Google Shape;479;p3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80" name="Google Shape;480;p3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81" name="Google Shape;481;p3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82" name="Google Shape;482;p3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483" name="Google Shape;483;p33"/>
          <p:cNvPicPr preferRelativeResize="0"/>
          <p:nvPr/>
        </p:nvPicPr>
        <p:blipFill rotWithShape="1">
          <a:blip r:embed="rId4">
            <a:alphaModFix/>
          </a:blip>
          <a:srcRect b="13325" l="8983" r="0" t="5571"/>
          <a:stretch/>
        </p:blipFill>
        <p:spPr>
          <a:xfrm>
            <a:off x="4040725" y="553050"/>
            <a:ext cx="4634525" cy="41766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89" name="Google Shape;489;p34"/>
          <p:cNvPicPr preferRelativeResize="0"/>
          <p:nvPr/>
        </p:nvPicPr>
        <p:blipFill rotWithShape="1">
          <a:blip r:embed="rId3">
            <a:alphaModFix/>
          </a:blip>
          <a:srcRect b="0" l="0" r="0" t="0"/>
          <a:stretch/>
        </p:blipFill>
        <p:spPr>
          <a:xfrm>
            <a:off x="3763552" y="644775"/>
            <a:ext cx="5304248" cy="4153537"/>
          </a:xfrm>
          <a:prstGeom prst="rect">
            <a:avLst/>
          </a:prstGeom>
          <a:noFill/>
          <a:ln>
            <a:noFill/>
          </a:ln>
        </p:spPr>
      </p:pic>
      <p:pic>
        <p:nvPicPr>
          <p:cNvPr id="490" name="Google Shape;490;p34"/>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491" name="Google Shape;491;p3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92" name="Google Shape;492;p34"/>
          <p:cNvSpPr txBox="1"/>
          <p:nvPr/>
        </p:nvSpPr>
        <p:spPr>
          <a:xfrm>
            <a:off x="256650" y="972850"/>
            <a:ext cx="38433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1"/>
                </a:solidFill>
                <a:latin typeface="Lexend"/>
                <a:ea typeface="Lexend"/>
                <a:cs typeface="Lexend"/>
                <a:sym typeface="Lexend"/>
              </a:rPr>
              <a:t>F(a,b,c,d)=∑(0,1,3,5,12,13)</a:t>
            </a:r>
            <a:r>
              <a:rPr lang="en" sz="1700">
                <a:solidFill>
                  <a:schemeClr val="dk1"/>
                </a:solidFill>
                <a:latin typeface="Lexend"/>
                <a:ea typeface="Lexend"/>
                <a:cs typeface="Lexend"/>
                <a:sym typeface="Lexend"/>
              </a:rPr>
              <a:t>  </a:t>
            </a:r>
            <a:endParaRPr sz="400">
              <a:solidFill>
                <a:schemeClr val="dk1"/>
              </a:solidFill>
              <a:latin typeface="Lexend"/>
              <a:ea typeface="Lexend"/>
              <a:cs typeface="Lexend"/>
              <a:sym typeface="Lexend"/>
            </a:endParaRPr>
          </a:p>
          <a:p>
            <a:pPr indent="0" lvl="0" marL="0" rtl="0" algn="l">
              <a:spcBef>
                <a:spcPts val="0"/>
              </a:spcBef>
              <a:spcAft>
                <a:spcPts val="0"/>
              </a:spcAft>
              <a:buNone/>
            </a:pPr>
            <a:r>
              <a:rPr lang="en" sz="1900">
                <a:solidFill>
                  <a:schemeClr val="dk1"/>
                </a:solidFill>
                <a:latin typeface="Lexend"/>
                <a:ea typeface="Lexend"/>
                <a:cs typeface="Lexend"/>
                <a:sym typeface="Lexend"/>
              </a:rPr>
              <a:t>Implement the above boolean </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 sz="1900">
                <a:solidFill>
                  <a:schemeClr val="dk1"/>
                </a:solidFill>
                <a:latin typeface="Lexend"/>
                <a:ea typeface="Lexend"/>
                <a:cs typeface="Lexend"/>
                <a:sym typeface="Lexend"/>
              </a:rPr>
              <a:t>function using  </a:t>
            </a:r>
            <a:endParaRPr sz="1700">
              <a:solidFill>
                <a:schemeClr val="dk1"/>
              </a:solidFill>
              <a:latin typeface="Lexend"/>
              <a:ea typeface="Lexend"/>
              <a:cs typeface="Lexend"/>
              <a:sym typeface="Lexend"/>
            </a:endParaRPr>
          </a:p>
          <a:p>
            <a:pPr indent="0" lvl="0" marL="457200" rtl="0" algn="l">
              <a:spcBef>
                <a:spcPts val="0"/>
              </a:spcBef>
              <a:spcAft>
                <a:spcPts val="0"/>
              </a:spcAft>
              <a:buNone/>
            </a:pPr>
            <a:r>
              <a:rPr lang="en" sz="1900">
                <a:solidFill>
                  <a:schemeClr val="dk1"/>
                </a:solidFill>
                <a:latin typeface="Lexend"/>
                <a:ea typeface="Lexend"/>
                <a:cs typeface="Lexend"/>
                <a:sym typeface="Lexend"/>
              </a:rPr>
              <a:t>a. 3:8 Decoder(s).      </a:t>
            </a:r>
            <a:endParaRPr sz="1300">
              <a:solidFill>
                <a:schemeClr val="dk1"/>
              </a:solidFill>
              <a:latin typeface="Lexend"/>
              <a:ea typeface="Lexend"/>
              <a:cs typeface="Lexend"/>
              <a:sym typeface="Lexend"/>
            </a:endParaRPr>
          </a:p>
          <a:p>
            <a:pPr indent="0" lvl="0" marL="457200" rtl="0" algn="l">
              <a:spcBef>
                <a:spcPts val="0"/>
              </a:spcBef>
              <a:spcAft>
                <a:spcPts val="0"/>
              </a:spcAft>
              <a:buNone/>
            </a:pPr>
            <a:r>
              <a:rPr lang="en" sz="1900">
                <a:solidFill>
                  <a:schemeClr val="dk1"/>
                </a:solidFill>
                <a:latin typeface="Lexend"/>
                <a:ea typeface="Lexend"/>
                <a:cs typeface="Lexend"/>
                <a:sym typeface="Lexend"/>
              </a:rPr>
              <a:t>b. 2:4 Decoder(s) only.</a:t>
            </a:r>
            <a:endParaRPr sz="1900">
              <a:solidFill>
                <a:schemeClr val="dk1"/>
              </a:solidFill>
              <a:latin typeface="Lexend"/>
              <a:ea typeface="Lexend"/>
              <a:cs typeface="Lexend"/>
              <a:sym typeface="Lexend"/>
            </a:endParaRPr>
          </a:p>
        </p:txBody>
      </p:sp>
      <p:grpSp>
        <p:nvGrpSpPr>
          <p:cNvPr id="493" name="Google Shape;493;p34"/>
          <p:cNvGrpSpPr/>
          <p:nvPr/>
        </p:nvGrpSpPr>
        <p:grpSpPr>
          <a:xfrm>
            <a:off x="50480" y="122879"/>
            <a:ext cx="277873" cy="68400"/>
            <a:chOff x="411700" y="2416840"/>
            <a:chExt cx="277873" cy="68400"/>
          </a:xfrm>
        </p:grpSpPr>
        <p:sp>
          <p:nvSpPr>
            <p:cNvPr id="494" name="Google Shape;494;p3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5" name="Google Shape;495;p3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6" name="Google Shape;496;p3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97" name="Google Shape;497;p3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98" name="Google Shape;498;p3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99" name="Google Shape;499;p3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3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05" name="Google Shape;505;p3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06" name="Google Shape;506;p3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07" name="Google Shape;507;p35"/>
          <p:cNvSpPr txBox="1"/>
          <p:nvPr/>
        </p:nvSpPr>
        <p:spPr>
          <a:xfrm>
            <a:off x="256650" y="972850"/>
            <a:ext cx="8428500" cy="2524200"/>
          </a:xfrm>
          <a:prstGeom prst="rect">
            <a:avLst/>
          </a:prstGeom>
          <a:noFill/>
          <a:ln>
            <a:noFill/>
          </a:ln>
        </p:spPr>
        <p:txBody>
          <a:bodyPr anchorCtr="0" anchor="t" bIns="91425" lIns="91425" spcFirstLastPara="1" rIns="91425" wrap="square" tIns="91425">
            <a:spAutoFit/>
          </a:bodyPr>
          <a:lstStyle/>
          <a:p>
            <a:pPr indent="-172720" lvl="0" marL="2286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A multiplexer is a device which has</a:t>
            </a:r>
            <a:endParaRPr sz="2000">
              <a:solidFill>
                <a:schemeClr val="dk1"/>
              </a:solidFill>
              <a:latin typeface="Lexend"/>
              <a:ea typeface="Lexend"/>
              <a:cs typeface="Lexend"/>
              <a:sym typeface="Lexend"/>
            </a:endParaRPr>
          </a:p>
          <a:p>
            <a:pPr indent="-228600" lvl="0" marL="228600" rtl="0" algn="l">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 a number of </a:t>
            </a:r>
            <a:r>
              <a:rPr i="1" lang="en" sz="2000">
                <a:solidFill>
                  <a:schemeClr val="dk1"/>
                </a:solidFill>
                <a:latin typeface="Lexend"/>
                <a:ea typeface="Lexend"/>
                <a:cs typeface="Lexend"/>
                <a:sym typeface="Lexend"/>
              </a:rPr>
              <a:t>input</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a:p>
            <a:pPr indent="-228600" lvl="0" marL="228600" rtl="0" algn="l">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(ii) a number of </a:t>
            </a:r>
            <a:r>
              <a:rPr i="1" lang="en" sz="2000">
                <a:solidFill>
                  <a:schemeClr val="dk1"/>
                </a:solidFill>
                <a:latin typeface="Lexend"/>
                <a:ea typeface="Lexend"/>
                <a:cs typeface="Lexend"/>
                <a:sym typeface="Lexend"/>
              </a:rPr>
              <a:t>selection</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a:p>
            <a:pPr indent="-228600" lvl="0" marL="228600" rtl="0" algn="l">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(iii) one </a:t>
            </a:r>
            <a:r>
              <a:rPr i="1" lang="en" sz="2000">
                <a:solidFill>
                  <a:schemeClr val="dk1"/>
                </a:solidFill>
                <a:latin typeface="Lexend"/>
                <a:ea typeface="Lexend"/>
                <a:cs typeface="Lexend"/>
                <a:sym typeface="Lexend"/>
              </a:rPr>
              <a:t>output</a:t>
            </a:r>
            <a:r>
              <a:rPr lang="en" sz="2000">
                <a:solidFill>
                  <a:schemeClr val="dk1"/>
                </a:solidFill>
                <a:latin typeface="Lexend"/>
                <a:ea typeface="Lexend"/>
                <a:cs typeface="Lexend"/>
                <a:sym typeface="Lexend"/>
              </a:rPr>
              <a:t> line</a:t>
            </a:r>
            <a:endParaRPr sz="2000">
              <a:solidFill>
                <a:schemeClr val="dk1"/>
              </a:solidFill>
              <a:latin typeface="Lexend"/>
              <a:ea typeface="Lexend"/>
              <a:cs typeface="Lexend"/>
              <a:sym typeface="Lexend"/>
            </a:endParaRPr>
          </a:p>
          <a:p>
            <a:pPr indent="-172720" lvl="0" marL="228600" rtl="0" algn="l">
              <a:lnSpc>
                <a:spcPct val="90000"/>
              </a:lnSpc>
              <a:spcBef>
                <a:spcPts val="1200"/>
              </a:spcBef>
              <a:spcAft>
                <a:spcPts val="0"/>
              </a:spcAft>
              <a:buClr>
                <a:schemeClr val="dk1"/>
              </a:buClr>
              <a:buSzPts val="2000"/>
              <a:buFont typeface="Lexend"/>
              <a:buChar char="▪"/>
            </a:pPr>
            <a:r>
              <a:rPr lang="en" sz="2000">
                <a:solidFill>
                  <a:schemeClr val="dk1"/>
                </a:solidFill>
                <a:latin typeface="Lexend"/>
                <a:ea typeface="Lexend"/>
                <a:cs typeface="Lexend"/>
                <a:sym typeface="Lexend"/>
              </a:rPr>
              <a:t>A Multiplexer steers one of 2</a:t>
            </a:r>
            <a:r>
              <a:rPr baseline="30000"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inputs to a single output line, using </a:t>
            </a:r>
            <a:r>
              <a:rPr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selection lines.  Also known as a </a:t>
            </a:r>
            <a:r>
              <a:rPr i="1" lang="en" sz="2000">
                <a:solidFill>
                  <a:srgbClr val="FF0000"/>
                </a:solidFill>
                <a:latin typeface="Lexend"/>
                <a:ea typeface="Lexend"/>
                <a:cs typeface="Lexend"/>
                <a:sym typeface="Lexend"/>
              </a:rPr>
              <a:t>data selector</a:t>
            </a:r>
            <a:r>
              <a:rPr lang="en" sz="2000">
                <a:solidFill>
                  <a:srgbClr val="FF0000"/>
                </a:solidFill>
                <a:latin typeface="Lexend"/>
                <a:ea typeface="Lexend"/>
                <a:cs typeface="Lexend"/>
                <a:sym typeface="Lexend"/>
              </a:rPr>
              <a:t>.</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2000">
              <a:solidFill>
                <a:schemeClr val="dk1"/>
              </a:solidFill>
              <a:latin typeface="Lexend"/>
              <a:ea typeface="Lexend"/>
              <a:cs typeface="Lexend"/>
              <a:sym typeface="Lexend"/>
            </a:endParaRPr>
          </a:p>
        </p:txBody>
      </p:sp>
      <p:grpSp>
        <p:nvGrpSpPr>
          <p:cNvPr id="508" name="Google Shape;508;p35"/>
          <p:cNvGrpSpPr/>
          <p:nvPr/>
        </p:nvGrpSpPr>
        <p:grpSpPr>
          <a:xfrm>
            <a:off x="50480" y="122879"/>
            <a:ext cx="277873" cy="68400"/>
            <a:chOff x="411700" y="2416840"/>
            <a:chExt cx="277873" cy="68400"/>
          </a:xfrm>
        </p:grpSpPr>
        <p:sp>
          <p:nvSpPr>
            <p:cNvPr id="509" name="Google Shape;509;p3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0" name="Google Shape;510;p3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1" name="Google Shape;511;p3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12" name="Google Shape;512;p3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rgbClr val="000000"/>
              </a:buClr>
              <a:buSzPts val="1100"/>
              <a:buFont typeface="Arial"/>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13" name="Google Shape;513;p3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14" name="Google Shape;514;p3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515" name="Google Shape;515;p35"/>
          <p:cNvSpPr/>
          <p:nvPr/>
        </p:nvSpPr>
        <p:spPr>
          <a:xfrm>
            <a:off x="4000500" y="3023125"/>
            <a:ext cx="1219200" cy="1066800"/>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516" name="Google Shape;516;p35"/>
          <p:cNvSpPr txBox="1"/>
          <p:nvPr/>
        </p:nvSpPr>
        <p:spPr>
          <a:xfrm>
            <a:off x="4000500" y="3251726"/>
            <a:ext cx="12954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2</a:t>
            </a:r>
            <a:r>
              <a:rPr b="0" baseline="30000" i="0" lang="en" sz="1600" u="none" cap="none" strike="noStrike">
                <a:solidFill>
                  <a:srgbClr val="000000"/>
                </a:solidFill>
                <a:latin typeface="Arial"/>
                <a:ea typeface="Arial"/>
                <a:cs typeface="Arial"/>
                <a:sym typeface="Arial"/>
              </a:rPr>
              <a:t>n</a:t>
            </a:r>
            <a:r>
              <a:rPr b="0" i="0" lang="en" sz="16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Multiplexer</a:t>
            </a:r>
            <a:endParaRPr b="0" i="0" sz="2000" u="none" cap="none" strike="noStrike">
              <a:solidFill>
                <a:srgbClr val="000000"/>
              </a:solidFill>
              <a:latin typeface="Arial"/>
              <a:ea typeface="Arial"/>
              <a:cs typeface="Arial"/>
              <a:sym typeface="Arial"/>
            </a:endParaRPr>
          </a:p>
        </p:txBody>
      </p:sp>
      <p:cxnSp>
        <p:nvCxnSpPr>
          <p:cNvPr id="517" name="Google Shape;517;p35"/>
          <p:cNvCxnSpPr/>
          <p:nvPr/>
        </p:nvCxnSpPr>
        <p:spPr>
          <a:xfrm>
            <a:off x="5219700" y="3556525"/>
            <a:ext cx="457200" cy="0"/>
          </a:xfrm>
          <a:prstGeom prst="straightConnector1">
            <a:avLst/>
          </a:prstGeom>
          <a:noFill/>
          <a:ln cap="flat" cmpd="sng" w="15875">
            <a:solidFill>
              <a:srgbClr val="000000"/>
            </a:solidFill>
            <a:prstDash val="solid"/>
            <a:round/>
            <a:headEnd len="sm" w="sm" type="none"/>
            <a:tailEnd len="med" w="med" type="triangle"/>
          </a:ln>
        </p:spPr>
      </p:cxnSp>
      <p:cxnSp>
        <p:nvCxnSpPr>
          <p:cNvPr id="518" name="Google Shape;518;p35"/>
          <p:cNvCxnSpPr/>
          <p:nvPr/>
        </p:nvCxnSpPr>
        <p:spPr>
          <a:xfrm>
            <a:off x="3543300" y="3327925"/>
            <a:ext cx="457200" cy="0"/>
          </a:xfrm>
          <a:prstGeom prst="straightConnector1">
            <a:avLst/>
          </a:prstGeom>
          <a:noFill/>
          <a:ln cap="flat" cmpd="sng" w="15875">
            <a:solidFill>
              <a:srgbClr val="000000"/>
            </a:solidFill>
            <a:prstDash val="solid"/>
            <a:round/>
            <a:headEnd len="sm" w="sm" type="none"/>
            <a:tailEnd len="med" w="med" type="triangle"/>
          </a:ln>
        </p:spPr>
      </p:cxnSp>
      <p:cxnSp>
        <p:nvCxnSpPr>
          <p:cNvPr id="519" name="Google Shape;519;p35"/>
          <p:cNvCxnSpPr/>
          <p:nvPr/>
        </p:nvCxnSpPr>
        <p:spPr>
          <a:xfrm>
            <a:off x="3543300" y="3175525"/>
            <a:ext cx="457200" cy="0"/>
          </a:xfrm>
          <a:prstGeom prst="straightConnector1">
            <a:avLst/>
          </a:prstGeom>
          <a:noFill/>
          <a:ln cap="flat" cmpd="sng" w="15875">
            <a:solidFill>
              <a:srgbClr val="000000"/>
            </a:solidFill>
            <a:prstDash val="solid"/>
            <a:round/>
            <a:headEnd len="sm" w="sm" type="none"/>
            <a:tailEnd len="med" w="med" type="triangle"/>
          </a:ln>
        </p:spPr>
      </p:cxnSp>
      <p:cxnSp>
        <p:nvCxnSpPr>
          <p:cNvPr id="520" name="Google Shape;520;p35"/>
          <p:cNvCxnSpPr/>
          <p:nvPr/>
        </p:nvCxnSpPr>
        <p:spPr>
          <a:xfrm rot="10800000">
            <a:off x="4305300" y="4089925"/>
            <a:ext cx="0" cy="381000"/>
          </a:xfrm>
          <a:prstGeom prst="straightConnector1">
            <a:avLst/>
          </a:prstGeom>
          <a:noFill/>
          <a:ln cap="flat" cmpd="sng" w="15875">
            <a:solidFill>
              <a:srgbClr val="000000"/>
            </a:solidFill>
            <a:prstDash val="solid"/>
            <a:round/>
            <a:headEnd len="sm" w="sm" type="none"/>
            <a:tailEnd len="med" w="med" type="triangle"/>
          </a:ln>
        </p:spPr>
      </p:cxnSp>
      <p:cxnSp>
        <p:nvCxnSpPr>
          <p:cNvPr id="521" name="Google Shape;521;p35"/>
          <p:cNvCxnSpPr/>
          <p:nvPr/>
        </p:nvCxnSpPr>
        <p:spPr>
          <a:xfrm>
            <a:off x="3543300" y="3480325"/>
            <a:ext cx="457200" cy="0"/>
          </a:xfrm>
          <a:prstGeom prst="straightConnector1">
            <a:avLst/>
          </a:prstGeom>
          <a:noFill/>
          <a:ln cap="flat" cmpd="sng" w="15875">
            <a:solidFill>
              <a:srgbClr val="000000"/>
            </a:solidFill>
            <a:prstDash val="solid"/>
            <a:round/>
            <a:headEnd len="sm" w="sm" type="none"/>
            <a:tailEnd len="med" w="med" type="triangle"/>
          </a:ln>
        </p:spPr>
      </p:cxnSp>
      <p:cxnSp>
        <p:nvCxnSpPr>
          <p:cNvPr id="522" name="Google Shape;522;p35"/>
          <p:cNvCxnSpPr/>
          <p:nvPr/>
        </p:nvCxnSpPr>
        <p:spPr>
          <a:xfrm>
            <a:off x="3543300" y="3937525"/>
            <a:ext cx="457200" cy="0"/>
          </a:xfrm>
          <a:prstGeom prst="straightConnector1">
            <a:avLst/>
          </a:prstGeom>
          <a:noFill/>
          <a:ln cap="flat" cmpd="sng" w="15875">
            <a:solidFill>
              <a:srgbClr val="000000"/>
            </a:solidFill>
            <a:prstDash val="solid"/>
            <a:round/>
            <a:headEnd len="sm" w="sm" type="none"/>
            <a:tailEnd len="med" w="med" type="triangle"/>
          </a:ln>
        </p:spPr>
      </p:cxnSp>
      <p:sp>
        <p:nvSpPr>
          <p:cNvPr id="523" name="Google Shape;523;p35"/>
          <p:cNvSpPr txBox="1"/>
          <p:nvPr/>
        </p:nvSpPr>
        <p:spPr>
          <a:xfrm>
            <a:off x="5676900" y="3404126"/>
            <a:ext cx="83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output</a:t>
            </a:r>
            <a:endParaRPr b="0" i="0" sz="1400" u="none" cap="none" strike="noStrike">
              <a:solidFill>
                <a:srgbClr val="000000"/>
              </a:solidFill>
              <a:latin typeface="Arial"/>
              <a:ea typeface="Arial"/>
              <a:cs typeface="Arial"/>
              <a:sym typeface="Arial"/>
            </a:endParaRPr>
          </a:p>
        </p:txBody>
      </p:sp>
      <p:sp>
        <p:nvSpPr>
          <p:cNvPr id="524" name="Google Shape;524;p35"/>
          <p:cNvSpPr txBox="1"/>
          <p:nvPr/>
        </p:nvSpPr>
        <p:spPr>
          <a:xfrm>
            <a:off x="2628900" y="3404126"/>
            <a:ext cx="83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inputs</a:t>
            </a:r>
            <a:endParaRPr b="0" i="0" sz="2000" u="none" cap="none" strike="noStrike">
              <a:solidFill>
                <a:srgbClr val="000000"/>
              </a:solidFill>
              <a:latin typeface="Arial"/>
              <a:ea typeface="Arial"/>
              <a:cs typeface="Arial"/>
              <a:sym typeface="Arial"/>
            </a:endParaRPr>
          </a:p>
        </p:txBody>
      </p:sp>
      <p:cxnSp>
        <p:nvCxnSpPr>
          <p:cNvPr id="525" name="Google Shape;525;p35"/>
          <p:cNvCxnSpPr/>
          <p:nvPr/>
        </p:nvCxnSpPr>
        <p:spPr>
          <a:xfrm rot="10800000">
            <a:off x="4457700" y="4089925"/>
            <a:ext cx="0" cy="381000"/>
          </a:xfrm>
          <a:prstGeom prst="straightConnector1">
            <a:avLst/>
          </a:prstGeom>
          <a:noFill/>
          <a:ln cap="flat" cmpd="sng" w="15875">
            <a:solidFill>
              <a:srgbClr val="000000"/>
            </a:solidFill>
            <a:prstDash val="solid"/>
            <a:round/>
            <a:headEnd len="sm" w="sm" type="none"/>
            <a:tailEnd len="med" w="med" type="triangle"/>
          </a:ln>
        </p:spPr>
      </p:cxnSp>
      <p:sp>
        <p:nvSpPr>
          <p:cNvPr id="526" name="Google Shape;526;p35"/>
          <p:cNvSpPr txBox="1"/>
          <p:nvPr/>
        </p:nvSpPr>
        <p:spPr>
          <a:xfrm>
            <a:off x="3619500" y="3556525"/>
            <a:ext cx="228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cxnSp>
        <p:nvCxnSpPr>
          <p:cNvPr id="527" name="Google Shape;527;p35"/>
          <p:cNvCxnSpPr/>
          <p:nvPr/>
        </p:nvCxnSpPr>
        <p:spPr>
          <a:xfrm>
            <a:off x="3543300" y="3632725"/>
            <a:ext cx="457200" cy="0"/>
          </a:xfrm>
          <a:prstGeom prst="straightConnector1">
            <a:avLst/>
          </a:prstGeom>
          <a:noFill/>
          <a:ln cap="flat" cmpd="sng" w="15875">
            <a:solidFill>
              <a:srgbClr val="000000"/>
            </a:solidFill>
            <a:prstDash val="solid"/>
            <a:round/>
            <a:headEnd len="sm" w="sm" type="none"/>
            <a:tailEnd len="med" w="med" type="triangle"/>
          </a:ln>
        </p:spPr>
      </p:cxnSp>
      <p:sp>
        <p:nvSpPr>
          <p:cNvPr id="528" name="Google Shape;528;p35"/>
          <p:cNvSpPr txBox="1"/>
          <p:nvPr/>
        </p:nvSpPr>
        <p:spPr>
          <a:xfrm>
            <a:off x="4229100" y="4470926"/>
            <a:ext cx="914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select</a:t>
            </a:r>
            <a:endParaRPr b="0" i="0" sz="2000" u="none" cap="none" strike="noStrike">
              <a:solidFill>
                <a:srgbClr val="000000"/>
              </a:solidFill>
              <a:latin typeface="Arial"/>
              <a:ea typeface="Arial"/>
              <a:cs typeface="Arial"/>
              <a:sym typeface="Arial"/>
            </a:endParaRPr>
          </a:p>
        </p:txBody>
      </p:sp>
      <p:cxnSp>
        <p:nvCxnSpPr>
          <p:cNvPr id="529" name="Google Shape;529;p35"/>
          <p:cNvCxnSpPr/>
          <p:nvPr/>
        </p:nvCxnSpPr>
        <p:spPr>
          <a:xfrm rot="10800000">
            <a:off x="4610100" y="4089925"/>
            <a:ext cx="0" cy="381000"/>
          </a:xfrm>
          <a:prstGeom prst="straightConnector1">
            <a:avLst/>
          </a:prstGeom>
          <a:noFill/>
          <a:ln cap="flat" cmpd="sng" w="15875">
            <a:solidFill>
              <a:srgbClr val="000000"/>
            </a:solidFill>
            <a:prstDash val="solid"/>
            <a:round/>
            <a:headEnd len="sm" w="sm" type="none"/>
            <a:tailEnd len="med" w="med" type="triangle"/>
          </a:ln>
        </p:spPr>
      </p:cxnSp>
      <p:cxnSp>
        <p:nvCxnSpPr>
          <p:cNvPr id="530" name="Google Shape;530;p35"/>
          <p:cNvCxnSpPr/>
          <p:nvPr/>
        </p:nvCxnSpPr>
        <p:spPr>
          <a:xfrm rot="10800000">
            <a:off x="5067300" y="4089925"/>
            <a:ext cx="0" cy="381000"/>
          </a:xfrm>
          <a:prstGeom prst="straightConnector1">
            <a:avLst/>
          </a:prstGeom>
          <a:noFill/>
          <a:ln cap="flat" cmpd="sng" w="15875">
            <a:solidFill>
              <a:srgbClr val="000000"/>
            </a:solidFill>
            <a:prstDash val="solid"/>
            <a:round/>
            <a:headEnd len="sm" w="sm" type="none"/>
            <a:tailEnd len="med" w="med" type="triangle"/>
          </a:ln>
        </p:spPr>
      </p:cxnSp>
      <p:sp>
        <p:nvSpPr>
          <p:cNvPr id="531" name="Google Shape;531;p35"/>
          <p:cNvSpPr txBox="1"/>
          <p:nvPr/>
        </p:nvSpPr>
        <p:spPr>
          <a:xfrm>
            <a:off x="4686300" y="4166125"/>
            <a:ext cx="38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3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37" name="Google Shape;537;p3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38" name="Google Shape;538;p3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39" name="Google Shape;539;p36"/>
          <p:cNvSpPr txBox="1"/>
          <p:nvPr/>
        </p:nvSpPr>
        <p:spPr>
          <a:xfrm>
            <a:off x="256650" y="8204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Truth table for a 4-to-1 multiplexer:</a:t>
            </a:r>
            <a:endParaRPr sz="2000">
              <a:solidFill>
                <a:schemeClr val="dk1"/>
              </a:solidFill>
              <a:latin typeface="Lexend"/>
              <a:ea typeface="Lexend"/>
              <a:cs typeface="Lexend"/>
              <a:sym typeface="Lexend"/>
            </a:endParaRPr>
          </a:p>
        </p:txBody>
      </p:sp>
      <p:grpSp>
        <p:nvGrpSpPr>
          <p:cNvPr id="540" name="Google Shape;540;p36"/>
          <p:cNvGrpSpPr/>
          <p:nvPr/>
        </p:nvGrpSpPr>
        <p:grpSpPr>
          <a:xfrm>
            <a:off x="50480" y="122879"/>
            <a:ext cx="277873" cy="68400"/>
            <a:chOff x="411700" y="2416840"/>
            <a:chExt cx="277873" cy="68400"/>
          </a:xfrm>
        </p:grpSpPr>
        <p:sp>
          <p:nvSpPr>
            <p:cNvPr id="541" name="Google Shape;541;p3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3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3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44" name="Google Shape;544;p3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45" name="Google Shape;545;p3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graphicFrame>
        <p:nvGraphicFramePr>
          <p:cNvPr id="546" name="Google Shape;546;p36"/>
          <p:cNvGraphicFramePr/>
          <p:nvPr/>
        </p:nvGraphicFramePr>
        <p:xfrm>
          <a:off x="209775" y="1282138"/>
          <a:ext cx="3000000" cy="3000000"/>
        </p:xfrm>
        <a:graphic>
          <a:graphicData uri="http://schemas.openxmlformats.org/drawingml/2006/table">
            <a:tbl>
              <a:tblPr>
                <a:noFill/>
                <a:tableStyleId>{031C2276-671B-496E-B77D-804DC5F1F2AA}</a:tableStyleId>
              </a:tblPr>
              <a:tblGrid>
                <a:gridCol w="429425"/>
                <a:gridCol w="429425"/>
                <a:gridCol w="429425"/>
                <a:gridCol w="429425"/>
                <a:gridCol w="429425"/>
                <a:gridCol w="457650"/>
                <a:gridCol w="457650"/>
              </a:tblGrid>
              <a:tr h="347775">
                <a:tc>
                  <a:txBody>
                    <a:bodyPr/>
                    <a:lstStyle/>
                    <a:p>
                      <a:pPr indent="0" lvl="0" marL="0" marR="0" rtl="0" algn="ctr">
                        <a:lnSpc>
                          <a:spcPct val="100000"/>
                        </a:lnSpc>
                        <a:spcBef>
                          <a:spcPts val="0"/>
                        </a:spcBef>
                        <a:spcAft>
                          <a:spcPts val="0"/>
                        </a:spcAft>
                        <a:buNone/>
                      </a:pPr>
                      <a:r>
                        <a:rPr b="1" lang="en" sz="1500">
                          <a:latin typeface="Lexend"/>
                          <a:ea typeface="Lexend"/>
                          <a:cs typeface="Lexend"/>
                          <a:sym typeface="Lexend"/>
                        </a:rPr>
                        <a:t>I</a:t>
                      </a:r>
                      <a:r>
                        <a:rPr b="1" baseline="-25000" lang="en" sz="1500">
                          <a:latin typeface="Lexend"/>
                          <a:ea typeface="Lexend"/>
                          <a:cs typeface="Lexend"/>
                          <a:sym typeface="Lexend"/>
                        </a:rPr>
                        <a:t>0</a:t>
                      </a:r>
                      <a:endParaRPr b="1" baseline="-25000"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I</a:t>
                      </a:r>
                      <a:r>
                        <a:rPr b="1" baseline="-25000" lang="en" sz="1500">
                          <a:solidFill>
                            <a:schemeClr val="dk1"/>
                          </a:solidFill>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I</a:t>
                      </a:r>
                      <a:r>
                        <a:rPr b="1" baseline="-25000" lang="en" sz="1500">
                          <a:solidFill>
                            <a:schemeClr val="dk1"/>
                          </a:solidFill>
                          <a:latin typeface="Lexend"/>
                          <a:ea typeface="Lexend"/>
                          <a:cs typeface="Lexend"/>
                          <a:sym typeface="Lexend"/>
                        </a:rPr>
                        <a:t>2</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I</a:t>
                      </a:r>
                      <a:r>
                        <a:rPr b="1" baseline="-25000" lang="en" sz="1500">
                          <a:solidFill>
                            <a:schemeClr val="dk1"/>
                          </a:solidFill>
                          <a:latin typeface="Lexend"/>
                          <a:ea typeface="Lexend"/>
                          <a:cs typeface="Lexend"/>
                          <a:sym typeface="Lexend"/>
                        </a:rPr>
                        <a:t>3</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d</a:t>
                      </a:r>
                      <a:r>
                        <a:rPr baseline="-25000" lang="en" sz="1300">
                          <a:latin typeface="Lexend Medium"/>
                          <a:ea typeface="Lexend Medium"/>
                          <a:cs typeface="Lexend Medium"/>
                          <a:sym typeface="Lexend Medium"/>
                        </a:rPr>
                        <a:t>0</a:t>
                      </a:r>
                      <a:endParaRPr baseline="-25000"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
        <p:nvSpPr>
          <p:cNvPr id="547" name="Google Shape;547;p3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548" name="Google Shape;548;p36"/>
          <p:cNvGraphicFramePr/>
          <p:nvPr/>
        </p:nvGraphicFramePr>
        <p:xfrm>
          <a:off x="4261350" y="1282138"/>
          <a:ext cx="3000000" cy="3000000"/>
        </p:xfrm>
        <a:graphic>
          <a:graphicData uri="http://schemas.openxmlformats.org/drawingml/2006/table">
            <a:tbl>
              <a:tblPr>
                <a:noFill/>
                <a:tableStyleId>{031C2276-671B-496E-B77D-804DC5F1F2AA}</a:tableStyleId>
              </a:tblPr>
              <a:tblGrid>
                <a:gridCol w="429425"/>
                <a:gridCol w="457650"/>
                <a:gridCol w="457650"/>
              </a:tblGrid>
              <a:tr h="347775">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
        <p:nvSpPr>
          <p:cNvPr id="549" name="Google Shape;549;p36"/>
          <p:cNvSpPr/>
          <p:nvPr/>
        </p:nvSpPr>
        <p:spPr>
          <a:xfrm>
            <a:off x="3425526" y="2019975"/>
            <a:ext cx="682500" cy="304800"/>
          </a:xfrm>
          <a:prstGeom prst="rightArrow">
            <a:avLst>
              <a:gd fmla="val 50000" name="adj1"/>
              <a:gd fmla="val 50000" name="adj2"/>
            </a:avLst>
          </a:prstGeom>
          <a:solidFill>
            <a:srgbClr val="5B9BD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550" name="Google Shape;550;p36"/>
          <p:cNvPicPr preferRelativeResize="0"/>
          <p:nvPr/>
        </p:nvPicPr>
        <p:blipFill>
          <a:blip r:embed="rId4">
            <a:alphaModFix/>
          </a:blip>
          <a:stretch>
            <a:fillRect/>
          </a:stretch>
        </p:blipFill>
        <p:spPr>
          <a:xfrm>
            <a:off x="1180550" y="3199500"/>
            <a:ext cx="2091642" cy="1547475"/>
          </a:xfrm>
          <a:prstGeom prst="rect">
            <a:avLst/>
          </a:prstGeom>
          <a:noFill/>
          <a:ln>
            <a:noFill/>
          </a:ln>
        </p:spPr>
      </p:pic>
      <p:pic>
        <p:nvPicPr>
          <p:cNvPr id="551" name="Google Shape;551;p36"/>
          <p:cNvPicPr preferRelativeResize="0"/>
          <p:nvPr/>
        </p:nvPicPr>
        <p:blipFill>
          <a:blip r:embed="rId5">
            <a:alphaModFix/>
          </a:blip>
          <a:stretch>
            <a:fillRect/>
          </a:stretch>
        </p:blipFill>
        <p:spPr>
          <a:xfrm>
            <a:off x="5962569" y="2198950"/>
            <a:ext cx="2722575" cy="22565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3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7" name="Google Shape;557;p3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58" name="Google Shape;558;p3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559" name="Google Shape;559;p37"/>
          <p:cNvGrpSpPr/>
          <p:nvPr/>
        </p:nvGrpSpPr>
        <p:grpSpPr>
          <a:xfrm>
            <a:off x="50480" y="122879"/>
            <a:ext cx="277873" cy="68400"/>
            <a:chOff x="411700" y="2416840"/>
            <a:chExt cx="277873" cy="68400"/>
          </a:xfrm>
        </p:grpSpPr>
        <p:sp>
          <p:nvSpPr>
            <p:cNvPr id="560" name="Google Shape;560;p3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1" name="Google Shape;561;p3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2" name="Google Shape;562;p3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63" name="Google Shape;563;p3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64" name="Google Shape;564;p3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565" name="Google Shape;565;p37"/>
          <p:cNvPicPr preferRelativeResize="0"/>
          <p:nvPr/>
        </p:nvPicPr>
        <p:blipFill rotWithShape="1">
          <a:blip r:embed="rId4">
            <a:alphaModFix/>
          </a:blip>
          <a:srcRect b="0" l="0" r="0" t="0"/>
          <a:stretch/>
        </p:blipFill>
        <p:spPr>
          <a:xfrm>
            <a:off x="1229063" y="78450"/>
            <a:ext cx="6685862" cy="48006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3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71" name="Google Shape;571;p3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2" name="Google Shape;572;p3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73" name="Google Shape;573;p38"/>
          <p:cNvSpPr txBox="1"/>
          <p:nvPr/>
        </p:nvSpPr>
        <p:spPr>
          <a:xfrm>
            <a:off x="256650" y="972850"/>
            <a:ext cx="8428500" cy="3036300"/>
          </a:xfrm>
          <a:prstGeom prst="rect">
            <a:avLst/>
          </a:prstGeom>
          <a:noFill/>
          <a:ln>
            <a:noFill/>
          </a:ln>
        </p:spPr>
        <p:txBody>
          <a:bodyPr anchorCtr="0" anchor="t" bIns="91425" lIns="91425" spcFirstLastPara="1" rIns="91425" wrap="square" tIns="91425">
            <a:spAutoFit/>
          </a:bodyPr>
          <a:lstStyle/>
          <a:p>
            <a:pPr indent="-154940" lvl="0" marL="228600" rtl="0" algn="l">
              <a:lnSpc>
                <a:spcPct val="90000"/>
              </a:lnSpc>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Output of multiplexer is</a:t>
            </a:r>
            <a:endParaRPr sz="2200">
              <a:solidFill>
                <a:schemeClr val="dk1"/>
              </a:solidFill>
              <a:latin typeface="Lexend"/>
              <a:ea typeface="Lexend"/>
              <a:cs typeface="Lexend"/>
              <a:sym typeface="Lexend"/>
            </a:endParaRPr>
          </a:p>
          <a:p>
            <a:pPr indent="-228600" lvl="0" marL="228600" rtl="0" algn="l">
              <a:lnSpc>
                <a:spcPct val="90000"/>
              </a:lnSpc>
              <a:spcBef>
                <a:spcPts val="1000"/>
              </a:spcBef>
              <a:spcAft>
                <a:spcPts val="0"/>
              </a:spcAft>
              <a:buClr>
                <a:schemeClr val="dk1"/>
              </a:buClr>
              <a:buSzPts val="3100"/>
              <a:buFont typeface="Calibri"/>
              <a:buNone/>
            </a:pPr>
            <a:r>
              <a:rPr lang="en" sz="2200">
                <a:solidFill>
                  <a:schemeClr val="dk1"/>
                </a:solidFill>
                <a:latin typeface="Lexend"/>
                <a:ea typeface="Lexend"/>
                <a:cs typeface="Lexend"/>
                <a:sym typeface="Lexend"/>
              </a:rPr>
              <a:t>	    “sum of the (product of </a:t>
            </a:r>
            <a:r>
              <a:rPr i="1" lang="en" sz="2200">
                <a:solidFill>
                  <a:schemeClr val="dk1"/>
                </a:solidFill>
                <a:latin typeface="Lexend"/>
                <a:ea typeface="Lexend"/>
                <a:cs typeface="Lexend"/>
                <a:sym typeface="Lexend"/>
              </a:rPr>
              <a:t>data lines</a:t>
            </a:r>
            <a:r>
              <a:rPr lang="en" sz="2200">
                <a:solidFill>
                  <a:schemeClr val="dk1"/>
                </a:solidFill>
                <a:latin typeface="Lexend"/>
                <a:ea typeface="Lexend"/>
                <a:cs typeface="Lexend"/>
                <a:sym typeface="Lexend"/>
              </a:rPr>
              <a:t> and </a:t>
            </a:r>
            <a:r>
              <a:rPr i="1" lang="en" sz="2200">
                <a:solidFill>
                  <a:schemeClr val="dk1"/>
                </a:solidFill>
                <a:latin typeface="Lexend"/>
                <a:ea typeface="Lexend"/>
                <a:cs typeface="Lexend"/>
                <a:sym typeface="Lexend"/>
              </a:rPr>
              <a:t>selection lines</a:t>
            </a:r>
            <a:r>
              <a:rPr lang="en"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indent="-171450" lvl="0" marL="228600" rtl="0" algn="l">
              <a:lnSpc>
                <a:spcPct val="90000"/>
              </a:lnSpc>
              <a:spcBef>
                <a:spcPts val="1000"/>
              </a:spcBef>
              <a:spcAft>
                <a:spcPts val="0"/>
              </a:spcAft>
              <a:buClr>
                <a:schemeClr val="dk1"/>
              </a:buClr>
              <a:buSzPts val="2200"/>
              <a:buFont typeface="Lexend"/>
              <a:buChar char="▪"/>
            </a:pPr>
            <a:r>
              <a:rPr lang="en" sz="2200">
                <a:solidFill>
                  <a:schemeClr val="dk1"/>
                </a:solidFill>
                <a:latin typeface="Lexend"/>
                <a:ea typeface="Lexend"/>
                <a:cs typeface="Lexend"/>
                <a:sym typeface="Lexend"/>
              </a:rPr>
              <a:t>Often known as Data selector as it selects one of the many inputs and steers the binary information to the output line.</a:t>
            </a:r>
            <a:endParaRPr sz="2200">
              <a:solidFill>
                <a:schemeClr val="dk1"/>
              </a:solidFill>
              <a:latin typeface="Lexend"/>
              <a:ea typeface="Lexend"/>
              <a:cs typeface="Lexend"/>
              <a:sym typeface="Lexend"/>
            </a:endParaRPr>
          </a:p>
          <a:p>
            <a:pPr indent="-154940" lvl="0" marL="228600" rtl="0" algn="l">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Example: the output of a 4-to-1 multiplexer is:</a:t>
            </a:r>
            <a:endParaRPr sz="2200">
              <a:solidFill>
                <a:schemeClr val="dk1"/>
              </a:solidFill>
              <a:latin typeface="Lexend"/>
              <a:ea typeface="Lexend"/>
              <a:cs typeface="Lexend"/>
              <a:sym typeface="Lexend"/>
            </a:endParaRPr>
          </a:p>
          <a:p>
            <a:pPr indent="-228600" lvl="0" marL="228600" rtl="0" algn="l">
              <a:lnSpc>
                <a:spcPct val="90000"/>
              </a:lnSpc>
              <a:spcBef>
                <a:spcPts val="1000"/>
              </a:spcBef>
              <a:spcAft>
                <a:spcPts val="0"/>
              </a:spcAft>
              <a:buClr>
                <a:srgbClr val="FF0000"/>
              </a:buClr>
              <a:buSzPts val="2800"/>
              <a:buFont typeface="Calibri"/>
              <a:buNone/>
            </a:pPr>
            <a:r>
              <a:rPr b="1" lang="en" sz="2200">
                <a:solidFill>
                  <a:srgbClr val="FF0000"/>
                </a:solidFill>
                <a:latin typeface="Lexend"/>
                <a:ea typeface="Lexend"/>
                <a:cs typeface="Lexend"/>
                <a:sym typeface="Lexend"/>
              </a:rPr>
              <a:t>Y = I</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 + I</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 + I</a:t>
            </a:r>
            <a:r>
              <a:rPr b="1" baseline="-25000" lang="en" sz="2200">
                <a:solidFill>
                  <a:srgbClr val="FF0000"/>
                </a:solidFill>
                <a:latin typeface="Lexend"/>
                <a:ea typeface="Lexend"/>
                <a:cs typeface="Lexend"/>
                <a:sym typeface="Lexend"/>
              </a:rPr>
              <a:t>2</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 + I</a:t>
            </a:r>
            <a:r>
              <a:rPr b="1" baseline="-25000" lang="en" sz="2200">
                <a:solidFill>
                  <a:srgbClr val="FF0000"/>
                </a:solidFill>
                <a:latin typeface="Lexend"/>
                <a:ea typeface="Lexend"/>
                <a:cs typeface="Lexend"/>
                <a:sym typeface="Lexend"/>
              </a:rPr>
              <a:t>3</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a:t>
            </a:r>
            <a:endParaRPr sz="22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574" name="Google Shape;574;p38"/>
          <p:cNvGrpSpPr/>
          <p:nvPr/>
        </p:nvGrpSpPr>
        <p:grpSpPr>
          <a:xfrm>
            <a:off x="50480" y="122879"/>
            <a:ext cx="277873" cy="68400"/>
            <a:chOff x="411700" y="2416840"/>
            <a:chExt cx="277873" cy="68400"/>
          </a:xfrm>
        </p:grpSpPr>
        <p:sp>
          <p:nvSpPr>
            <p:cNvPr id="575" name="Google Shape;575;p3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6" name="Google Shape;576;p3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3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78" name="Google Shape;578;p3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79" name="Google Shape;579;p3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80" name="Google Shape;580;p3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3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86" name="Google Shape;586;p3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87" name="Google Shape;587;p3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88" name="Google Shape;588;p39"/>
          <p:cNvSpPr txBox="1"/>
          <p:nvPr/>
        </p:nvSpPr>
        <p:spPr>
          <a:xfrm>
            <a:off x="256650" y="972850"/>
            <a:ext cx="8428500" cy="837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800">
                <a:solidFill>
                  <a:schemeClr val="dk1"/>
                </a:solidFill>
                <a:latin typeface="Lexend"/>
                <a:ea typeface="Lexend"/>
                <a:cs typeface="Lexend"/>
                <a:sym typeface="Lexend"/>
              </a:rPr>
              <a:t>Draw the internal circuit diagram (logic diagram) of a 4-to-1 multiplexer.</a:t>
            </a:r>
            <a:endParaRPr sz="18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1800">
                <a:solidFill>
                  <a:schemeClr val="dk1"/>
                </a:solidFill>
                <a:latin typeface="Lexend"/>
                <a:ea typeface="Lexend"/>
                <a:cs typeface="Lexend"/>
                <a:sym typeface="Lexend"/>
              </a:rPr>
              <a:t>Solution: </a:t>
            </a:r>
            <a:r>
              <a:rPr lang="en" sz="1600">
                <a:solidFill>
                  <a:schemeClr val="dk1"/>
                </a:solidFill>
                <a:latin typeface="Lexend"/>
                <a:ea typeface="Lexend"/>
                <a:cs typeface="Lexend"/>
                <a:sym typeface="Lexend"/>
              </a:rPr>
              <a:t>Y = I</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baseline="-25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baseline="-25000" lang="en" sz="1600">
                <a:solidFill>
                  <a:schemeClr val="dk1"/>
                </a:solidFill>
                <a:latin typeface="Lexend"/>
                <a:ea typeface="Lexend"/>
                <a:cs typeface="Lexend"/>
                <a:sym typeface="Lexend"/>
              </a:rPr>
              <a:t>3</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a:t>
            </a:r>
            <a:endParaRPr sz="1600">
              <a:solidFill>
                <a:schemeClr val="dk1"/>
              </a:solidFill>
              <a:latin typeface="Lexend"/>
              <a:ea typeface="Lexend"/>
              <a:cs typeface="Lexend"/>
              <a:sym typeface="Lexend"/>
            </a:endParaRPr>
          </a:p>
        </p:txBody>
      </p:sp>
      <p:grpSp>
        <p:nvGrpSpPr>
          <p:cNvPr id="589" name="Google Shape;589;p39"/>
          <p:cNvGrpSpPr/>
          <p:nvPr/>
        </p:nvGrpSpPr>
        <p:grpSpPr>
          <a:xfrm>
            <a:off x="50480" y="122879"/>
            <a:ext cx="277873" cy="68400"/>
            <a:chOff x="411700" y="2416840"/>
            <a:chExt cx="277873" cy="68400"/>
          </a:xfrm>
        </p:grpSpPr>
        <p:sp>
          <p:nvSpPr>
            <p:cNvPr id="590" name="Google Shape;590;p3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1" name="Google Shape;591;p3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2" name="Google Shape;592;p3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93" name="Google Shape;593;p3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Try it yourself</a:t>
            </a:r>
            <a:endParaRPr sz="3600">
              <a:solidFill>
                <a:schemeClr val="dk1"/>
              </a:solidFill>
              <a:latin typeface="Lexend"/>
              <a:ea typeface="Lexend"/>
              <a:cs typeface="Lexend"/>
              <a:sym typeface="Lexend"/>
            </a:endParaRPr>
          </a:p>
        </p:txBody>
      </p:sp>
      <p:sp>
        <p:nvSpPr>
          <p:cNvPr id="594" name="Google Shape;594;p3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95" name="Google Shape;595;p3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596" name="Google Shape;596;p39"/>
          <p:cNvPicPr preferRelativeResize="0"/>
          <p:nvPr/>
        </p:nvPicPr>
        <p:blipFill>
          <a:blip r:embed="rId4">
            <a:alphaModFix/>
          </a:blip>
          <a:stretch>
            <a:fillRect/>
          </a:stretch>
        </p:blipFill>
        <p:spPr>
          <a:xfrm>
            <a:off x="0" y="1699463"/>
            <a:ext cx="4941376" cy="3185525"/>
          </a:xfrm>
          <a:prstGeom prst="rect">
            <a:avLst/>
          </a:prstGeom>
          <a:noFill/>
          <a:ln>
            <a:noFill/>
          </a:ln>
        </p:spPr>
      </p:pic>
      <p:graphicFrame>
        <p:nvGraphicFramePr>
          <p:cNvPr id="597" name="Google Shape;597;p39"/>
          <p:cNvGraphicFramePr/>
          <p:nvPr/>
        </p:nvGraphicFramePr>
        <p:xfrm>
          <a:off x="6908300" y="1628038"/>
          <a:ext cx="3000000" cy="3000000"/>
        </p:xfrm>
        <a:graphic>
          <a:graphicData uri="http://schemas.openxmlformats.org/drawingml/2006/table">
            <a:tbl>
              <a:tblPr>
                <a:noFill/>
                <a:tableStyleId>{031C2276-671B-496E-B77D-804DC5F1F2AA}</a:tableStyleId>
              </a:tblPr>
              <a:tblGrid>
                <a:gridCol w="388625"/>
                <a:gridCol w="414150"/>
                <a:gridCol w="414150"/>
              </a:tblGrid>
              <a:tr h="306900">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10150">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101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101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101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pic>
        <p:nvPicPr>
          <p:cNvPr id="598" name="Google Shape;598;p39"/>
          <p:cNvPicPr preferRelativeResize="0"/>
          <p:nvPr/>
        </p:nvPicPr>
        <p:blipFill>
          <a:blip r:embed="rId5">
            <a:alphaModFix/>
          </a:blip>
          <a:stretch>
            <a:fillRect/>
          </a:stretch>
        </p:blipFill>
        <p:spPr>
          <a:xfrm>
            <a:off x="6289100" y="3408525"/>
            <a:ext cx="2091642" cy="1547475"/>
          </a:xfrm>
          <a:prstGeom prst="rect">
            <a:avLst/>
          </a:prstGeom>
          <a:noFill/>
          <a:ln>
            <a:noFill/>
          </a:ln>
        </p:spPr>
      </p:pic>
      <p:sp>
        <p:nvSpPr>
          <p:cNvPr id="599" name="Google Shape;599;p39"/>
          <p:cNvSpPr txBox="1"/>
          <p:nvPr/>
        </p:nvSpPr>
        <p:spPr>
          <a:xfrm>
            <a:off x="2425700" y="2231150"/>
            <a:ext cx="22818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a:solidFill>
                  <a:srgbClr val="674EA7"/>
                </a:solidFill>
                <a:latin typeface="Lexend"/>
                <a:ea typeface="Lexend"/>
                <a:cs typeface="Lexend"/>
                <a:sym typeface="Lexend"/>
              </a:rPr>
              <a:t>(a) </a:t>
            </a:r>
            <a:r>
              <a:rPr lang="en" sz="1300">
                <a:solidFill>
                  <a:srgbClr val="674EA7"/>
                </a:solidFill>
                <a:latin typeface="Lexend"/>
                <a:ea typeface="Lexend"/>
                <a:cs typeface="Lexend"/>
                <a:sym typeface="Lexend"/>
              </a:rPr>
              <a:t>Logic Diagram</a:t>
            </a:r>
            <a:endParaRPr sz="1100">
              <a:solidFill>
                <a:srgbClr val="674EA7"/>
              </a:solidFill>
              <a:latin typeface="Lexend"/>
              <a:ea typeface="Lexend"/>
              <a:cs typeface="Lexend"/>
              <a:sym typeface="Lexend"/>
            </a:endParaRPr>
          </a:p>
        </p:txBody>
      </p:sp>
      <p:sp>
        <p:nvSpPr>
          <p:cNvPr id="600" name="Google Shape;600;p39"/>
          <p:cNvSpPr txBox="1"/>
          <p:nvPr/>
        </p:nvSpPr>
        <p:spPr>
          <a:xfrm>
            <a:off x="5137850" y="1866350"/>
            <a:ext cx="17052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a:solidFill>
                  <a:srgbClr val="674EA7"/>
                </a:solidFill>
                <a:latin typeface="Lexend"/>
                <a:ea typeface="Lexend"/>
                <a:cs typeface="Lexend"/>
                <a:sym typeface="Lexend"/>
              </a:rPr>
              <a:t>(b) Function Table</a:t>
            </a:r>
            <a:endParaRPr sz="1100">
              <a:solidFill>
                <a:srgbClr val="674EA7"/>
              </a:solidFill>
              <a:latin typeface="Lexend"/>
              <a:ea typeface="Lexend"/>
              <a:cs typeface="Lexend"/>
              <a:sym typeface="Lexend"/>
            </a:endParaRPr>
          </a:p>
        </p:txBody>
      </p:sp>
      <p:sp>
        <p:nvSpPr>
          <p:cNvPr id="601" name="Google Shape;601;p39"/>
          <p:cNvSpPr txBox="1"/>
          <p:nvPr/>
        </p:nvSpPr>
        <p:spPr>
          <a:xfrm>
            <a:off x="5218175" y="3109838"/>
            <a:ext cx="22818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a:solidFill>
                  <a:srgbClr val="674EA7"/>
                </a:solidFill>
                <a:latin typeface="Lexend"/>
                <a:ea typeface="Lexend"/>
                <a:cs typeface="Lexend"/>
                <a:sym typeface="Lexend"/>
              </a:rPr>
              <a:t>(c) Block Diagram</a:t>
            </a:r>
            <a:endParaRPr sz="1100">
              <a:solidFill>
                <a:srgbClr val="674EA7"/>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4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07" name="Google Shape;607;p4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08" name="Google Shape;608;p4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09" name="Google Shape;609;p40"/>
          <p:cNvSpPr txBox="1"/>
          <p:nvPr/>
        </p:nvSpPr>
        <p:spPr>
          <a:xfrm>
            <a:off x="256650" y="972850"/>
            <a:ext cx="8428500" cy="932700"/>
          </a:xfrm>
          <a:prstGeom prst="rect">
            <a:avLst/>
          </a:prstGeom>
          <a:noFill/>
          <a:ln>
            <a:noFill/>
          </a:ln>
        </p:spPr>
        <p:txBody>
          <a:bodyPr anchorCtr="0" anchor="t" bIns="91425" lIns="91425" spcFirstLastPara="1" rIns="91425" wrap="square" tIns="91425">
            <a:spAutoFit/>
          </a:bodyPr>
          <a:lstStyle/>
          <a:p>
            <a:pPr indent="-342900" lvl="0" marL="457200" rtl="0" algn="l">
              <a:lnSpc>
                <a:spcPct val="90000"/>
              </a:lnSpc>
              <a:spcBef>
                <a:spcPts val="1200"/>
              </a:spcBef>
              <a:spcAft>
                <a:spcPts val="0"/>
              </a:spcAft>
              <a:buClr>
                <a:schemeClr val="dk1"/>
              </a:buClr>
              <a:buSzPts val="1800"/>
              <a:buFont typeface="Lexend"/>
              <a:buChar char="●"/>
            </a:pPr>
            <a:r>
              <a:rPr lang="en" sz="1800">
                <a:solidFill>
                  <a:schemeClr val="dk1"/>
                </a:solidFill>
                <a:latin typeface="Lexend"/>
                <a:ea typeface="Lexend"/>
                <a:cs typeface="Lexend"/>
                <a:sym typeface="Lexend"/>
              </a:rPr>
              <a:t>Larger multiplexers can be constructed from smaller ones.</a:t>
            </a:r>
            <a:endParaRPr sz="1800">
              <a:solidFill>
                <a:schemeClr val="dk1"/>
              </a:solidFill>
              <a:latin typeface="Lexend"/>
              <a:ea typeface="Lexend"/>
              <a:cs typeface="Lexend"/>
              <a:sym typeface="Lexend"/>
            </a:endParaRPr>
          </a:p>
          <a:p>
            <a:pPr indent="-342900" lvl="0" marL="457200" rtl="0" algn="l">
              <a:lnSpc>
                <a:spcPct val="90000"/>
              </a:lnSpc>
              <a:spcBef>
                <a:spcPts val="0"/>
              </a:spcBef>
              <a:spcAft>
                <a:spcPts val="0"/>
              </a:spcAft>
              <a:buClr>
                <a:srgbClr val="C00000"/>
              </a:buClr>
              <a:buSzPts val="1800"/>
              <a:buFont typeface="Lexend"/>
              <a:buChar char="●"/>
            </a:pPr>
            <a:r>
              <a:rPr lang="en" sz="1800">
                <a:solidFill>
                  <a:srgbClr val="C00000"/>
                </a:solidFill>
                <a:latin typeface="Lexend"/>
                <a:ea typeface="Lexend"/>
                <a:cs typeface="Lexend"/>
                <a:sym typeface="Lexend"/>
              </a:rPr>
              <a:t>An 8-to-1 multiplexer can be constructed from smaller multiplexers like this (from two 4x1 and one 2x1):</a:t>
            </a:r>
            <a:endParaRPr sz="1800">
              <a:solidFill>
                <a:schemeClr val="dk1"/>
              </a:solidFill>
              <a:latin typeface="Lexend"/>
              <a:ea typeface="Lexend"/>
              <a:cs typeface="Lexend"/>
              <a:sym typeface="Lexend"/>
            </a:endParaRPr>
          </a:p>
        </p:txBody>
      </p:sp>
      <p:grpSp>
        <p:nvGrpSpPr>
          <p:cNvPr id="610" name="Google Shape;610;p40"/>
          <p:cNvGrpSpPr/>
          <p:nvPr/>
        </p:nvGrpSpPr>
        <p:grpSpPr>
          <a:xfrm>
            <a:off x="50480" y="122879"/>
            <a:ext cx="277873" cy="68400"/>
            <a:chOff x="411700" y="2416840"/>
            <a:chExt cx="277873" cy="68400"/>
          </a:xfrm>
        </p:grpSpPr>
        <p:sp>
          <p:nvSpPr>
            <p:cNvPr id="611" name="Google Shape;611;p4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2" name="Google Shape;612;p4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3" name="Google Shape;613;p4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14" name="Google Shape;614;p4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15" name="Google Shape;615;p4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16" name="Google Shape;616;p4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617" name="Google Shape;617;p40"/>
          <p:cNvPicPr preferRelativeResize="0"/>
          <p:nvPr/>
        </p:nvPicPr>
        <p:blipFill>
          <a:blip r:embed="rId4">
            <a:alphaModFix/>
          </a:blip>
          <a:stretch>
            <a:fillRect/>
          </a:stretch>
        </p:blipFill>
        <p:spPr>
          <a:xfrm>
            <a:off x="937450" y="1905550"/>
            <a:ext cx="3510420" cy="2971251"/>
          </a:xfrm>
          <a:prstGeom prst="rect">
            <a:avLst/>
          </a:prstGeom>
          <a:noFill/>
          <a:ln>
            <a:noFill/>
          </a:ln>
        </p:spPr>
      </p:pic>
      <p:graphicFrame>
        <p:nvGraphicFramePr>
          <p:cNvPr id="618" name="Google Shape;618;p40"/>
          <p:cNvGraphicFramePr/>
          <p:nvPr/>
        </p:nvGraphicFramePr>
        <p:xfrm>
          <a:off x="5390875" y="1643088"/>
          <a:ext cx="3000000" cy="3000000"/>
        </p:xfrm>
        <a:graphic>
          <a:graphicData uri="http://schemas.openxmlformats.org/drawingml/2006/table">
            <a:tbl>
              <a:tblPr>
                <a:noFill/>
                <a:tableStyleId>{031C2276-671B-496E-B77D-804DC5F1F2AA}</a:tableStyleId>
              </a:tblPr>
              <a:tblGrid>
                <a:gridCol w="382900"/>
                <a:gridCol w="382900"/>
                <a:gridCol w="382900"/>
                <a:gridCol w="382900"/>
              </a:tblGrid>
              <a:tr h="211175">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2</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4</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5</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6</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7</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24" name="Google Shape;624;p4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25" name="Google Shape;625;p4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26" name="Google Shape;626;p41"/>
          <p:cNvSpPr txBox="1"/>
          <p:nvPr/>
        </p:nvSpPr>
        <p:spPr>
          <a:xfrm>
            <a:off x="256650" y="972850"/>
            <a:ext cx="8428500" cy="683400"/>
          </a:xfrm>
          <a:prstGeom prst="rect">
            <a:avLst/>
          </a:prstGeom>
          <a:noFill/>
          <a:ln>
            <a:noFill/>
          </a:ln>
        </p:spPr>
        <p:txBody>
          <a:bodyPr anchorCtr="0" anchor="t" bIns="91425" lIns="91425" spcFirstLastPara="1" rIns="91425" wrap="square" tIns="91425">
            <a:spAutoFit/>
          </a:bodyPr>
          <a:lstStyle/>
          <a:p>
            <a:pPr indent="-342900" lvl="0" marL="457200" rtl="0" algn="l">
              <a:lnSpc>
                <a:spcPct val="90000"/>
              </a:lnSpc>
              <a:spcBef>
                <a:spcPts val="1200"/>
              </a:spcBef>
              <a:spcAft>
                <a:spcPts val="0"/>
              </a:spcAft>
              <a:buClr>
                <a:srgbClr val="C00000"/>
              </a:buClr>
              <a:buSzPts val="1800"/>
              <a:buFont typeface="Lexend"/>
              <a:buChar char="●"/>
            </a:pPr>
            <a:r>
              <a:rPr lang="en" sz="1800">
                <a:solidFill>
                  <a:srgbClr val="C00000"/>
                </a:solidFill>
                <a:latin typeface="Lexend"/>
                <a:ea typeface="Lexend"/>
                <a:cs typeface="Lexend"/>
                <a:sym typeface="Lexend"/>
              </a:rPr>
              <a:t>Another implementation of an 8-to-1 multiplexer using smaller multiplexers (four 2x1 and one 4x1):</a:t>
            </a:r>
            <a:endParaRPr sz="1800">
              <a:solidFill>
                <a:srgbClr val="C00000"/>
              </a:solidFill>
              <a:latin typeface="Lexend"/>
              <a:ea typeface="Lexend"/>
              <a:cs typeface="Lexend"/>
              <a:sym typeface="Lexend"/>
            </a:endParaRPr>
          </a:p>
        </p:txBody>
      </p:sp>
      <p:grpSp>
        <p:nvGrpSpPr>
          <p:cNvPr id="627" name="Google Shape;627;p41"/>
          <p:cNvGrpSpPr/>
          <p:nvPr/>
        </p:nvGrpSpPr>
        <p:grpSpPr>
          <a:xfrm>
            <a:off x="50480" y="122879"/>
            <a:ext cx="277873" cy="68400"/>
            <a:chOff x="411700" y="2416840"/>
            <a:chExt cx="277873" cy="68400"/>
          </a:xfrm>
        </p:grpSpPr>
        <p:sp>
          <p:nvSpPr>
            <p:cNvPr id="628" name="Google Shape;628;p4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9" name="Google Shape;629;p4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0" name="Google Shape;630;p4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31" name="Google Shape;631;p4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32" name="Google Shape;632;p4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33" name="Google Shape;633;p4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634" name="Google Shape;634;p41"/>
          <p:cNvGraphicFramePr/>
          <p:nvPr/>
        </p:nvGraphicFramePr>
        <p:xfrm>
          <a:off x="5390875" y="1643088"/>
          <a:ext cx="3000000" cy="3000000"/>
        </p:xfrm>
        <a:graphic>
          <a:graphicData uri="http://schemas.openxmlformats.org/drawingml/2006/table">
            <a:tbl>
              <a:tblPr>
                <a:noFill/>
                <a:tableStyleId>{031C2276-671B-496E-B77D-804DC5F1F2AA}</a:tableStyleId>
              </a:tblPr>
              <a:tblGrid>
                <a:gridCol w="382900"/>
                <a:gridCol w="382900"/>
                <a:gridCol w="382900"/>
                <a:gridCol w="382900"/>
              </a:tblGrid>
              <a:tr h="211175">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2</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4</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5</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6</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7</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pic>
        <p:nvPicPr>
          <p:cNvPr id="635" name="Google Shape;635;p41"/>
          <p:cNvPicPr preferRelativeResize="0"/>
          <p:nvPr/>
        </p:nvPicPr>
        <p:blipFill>
          <a:blip r:embed="rId4">
            <a:alphaModFix/>
          </a:blip>
          <a:stretch>
            <a:fillRect/>
          </a:stretch>
        </p:blipFill>
        <p:spPr>
          <a:xfrm>
            <a:off x="741525" y="1631425"/>
            <a:ext cx="3705175" cy="3188724"/>
          </a:xfrm>
          <a:prstGeom prst="rect">
            <a:avLst/>
          </a:prstGeom>
          <a:noFill/>
          <a:ln>
            <a:noFill/>
          </a:ln>
        </p:spPr>
      </p:pic>
      <p:sp>
        <p:nvSpPr>
          <p:cNvPr id="636" name="Google Shape;636;p41"/>
          <p:cNvSpPr/>
          <p:nvPr/>
        </p:nvSpPr>
        <p:spPr>
          <a:xfrm>
            <a:off x="4283850" y="4539600"/>
            <a:ext cx="4188600" cy="337200"/>
          </a:xfrm>
          <a:prstGeom prst="wedgeRoundRectCallout">
            <a:avLst>
              <a:gd fmla="val 11276" name="adj1"/>
              <a:gd fmla="val -80531" name="adj2"/>
              <a:gd fmla="val 0" name="adj3"/>
            </a:avLst>
          </a:prstGeom>
          <a:solidFill>
            <a:srgbClr val="00FFFF"/>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rgbClr val="008000"/>
                </a:solidFill>
                <a:latin typeface="Lexend"/>
                <a:ea typeface="Lexend"/>
                <a:cs typeface="Lexend"/>
                <a:sym typeface="Lexend"/>
              </a:rPr>
              <a:t>Q: Can we use only 2:1 multiplexers?</a:t>
            </a:r>
            <a:endParaRPr sz="1700">
              <a:solidFill>
                <a:srgbClr val="008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4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42" name="Google Shape;642;p42"/>
          <p:cNvPicPr preferRelativeResize="0"/>
          <p:nvPr/>
        </p:nvPicPr>
        <p:blipFill rotWithShape="1">
          <a:blip r:embed="rId3">
            <a:alphaModFix/>
          </a:blip>
          <a:srcRect b="0" l="0" r="0" t="0"/>
          <a:stretch/>
        </p:blipFill>
        <p:spPr>
          <a:xfrm>
            <a:off x="4192682" y="647302"/>
            <a:ext cx="4748295" cy="4284850"/>
          </a:xfrm>
          <a:prstGeom prst="rect">
            <a:avLst/>
          </a:prstGeom>
          <a:noFill/>
          <a:ln>
            <a:noFill/>
          </a:ln>
        </p:spPr>
      </p:pic>
      <p:pic>
        <p:nvPicPr>
          <p:cNvPr id="643" name="Google Shape;643;p42"/>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644" name="Google Shape;644;p4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45" name="Google Shape;645;p42"/>
          <p:cNvSpPr txBox="1"/>
          <p:nvPr/>
        </p:nvSpPr>
        <p:spPr>
          <a:xfrm>
            <a:off x="256650" y="972850"/>
            <a:ext cx="8428500" cy="837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800">
                <a:solidFill>
                  <a:srgbClr val="C00000"/>
                </a:solidFill>
                <a:latin typeface="Lexend"/>
                <a:ea typeface="Lexend"/>
                <a:cs typeface="Lexend"/>
                <a:sym typeface="Lexend"/>
              </a:rPr>
              <a:t>Q: Can we use only</a:t>
            </a:r>
            <a:endParaRPr sz="1800">
              <a:solidFill>
                <a:srgbClr val="C00000"/>
              </a:solidFill>
              <a:latin typeface="Lexend"/>
              <a:ea typeface="Lexend"/>
              <a:cs typeface="Lexend"/>
              <a:sym typeface="Lexend"/>
            </a:endParaRPr>
          </a:p>
          <a:p>
            <a:pPr indent="0" lvl="0" marL="0" rtl="0" algn="l">
              <a:lnSpc>
                <a:spcPct val="90000"/>
              </a:lnSpc>
              <a:spcBef>
                <a:spcPts val="1200"/>
              </a:spcBef>
              <a:spcAft>
                <a:spcPts val="0"/>
              </a:spcAft>
              <a:buNone/>
            </a:pPr>
            <a:r>
              <a:rPr lang="en" sz="1800">
                <a:solidFill>
                  <a:srgbClr val="C00000"/>
                </a:solidFill>
                <a:latin typeface="Lexend"/>
                <a:ea typeface="Lexend"/>
                <a:cs typeface="Lexend"/>
                <a:sym typeface="Lexend"/>
              </a:rPr>
              <a:t> 2:1 multiplexers?</a:t>
            </a:r>
            <a:endParaRPr sz="1800">
              <a:solidFill>
                <a:srgbClr val="C00000"/>
              </a:solidFill>
              <a:latin typeface="Lexend"/>
              <a:ea typeface="Lexend"/>
              <a:cs typeface="Lexend"/>
              <a:sym typeface="Lexend"/>
            </a:endParaRPr>
          </a:p>
        </p:txBody>
      </p:sp>
      <p:grpSp>
        <p:nvGrpSpPr>
          <p:cNvPr id="646" name="Google Shape;646;p42"/>
          <p:cNvGrpSpPr/>
          <p:nvPr/>
        </p:nvGrpSpPr>
        <p:grpSpPr>
          <a:xfrm>
            <a:off x="50480" y="122879"/>
            <a:ext cx="277873" cy="68400"/>
            <a:chOff x="411700" y="2416840"/>
            <a:chExt cx="277873" cy="68400"/>
          </a:xfrm>
        </p:grpSpPr>
        <p:sp>
          <p:nvSpPr>
            <p:cNvPr id="647" name="Google Shape;647;p4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8" name="Google Shape;648;p4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9" name="Google Shape;649;p4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50" name="Google Shape;650;p4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51" name="Google Shape;651;p4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52" name="Google Shape;652;p4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43"/>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58" name="Google Shape;658;p4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59" name="Google Shape;659;p4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60" name="Google Shape;660;p43"/>
          <p:cNvSpPr txBox="1"/>
          <p:nvPr/>
        </p:nvSpPr>
        <p:spPr>
          <a:xfrm>
            <a:off x="256650" y="972850"/>
            <a:ext cx="8428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800">
                <a:solidFill>
                  <a:srgbClr val="C00000"/>
                </a:solidFill>
                <a:latin typeface="Lexend"/>
                <a:ea typeface="Lexend"/>
                <a:cs typeface="Lexend"/>
                <a:sym typeface="Lexend"/>
              </a:rPr>
              <a:t>Q: </a:t>
            </a:r>
            <a:r>
              <a:rPr lang="en" sz="1800">
                <a:solidFill>
                  <a:srgbClr val="C00000"/>
                </a:solidFill>
                <a:latin typeface="Lexend"/>
                <a:ea typeface="Lexend"/>
                <a:cs typeface="Lexend"/>
                <a:sym typeface="Lexend"/>
              </a:rPr>
              <a:t>A 16-to-1 multiplexer can be constructed from only 4-to-1 multiplexers:</a:t>
            </a:r>
            <a:endParaRPr sz="1800">
              <a:solidFill>
                <a:srgbClr val="C00000"/>
              </a:solidFill>
              <a:latin typeface="Lexend"/>
              <a:ea typeface="Lexend"/>
              <a:cs typeface="Lexend"/>
              <a:sym typeface="Lexend"/>
            </a:endParaRPr>
          </a:p>
        </p:txBody>
      </p:sp>
      <p:grpSp>
        <p:nvGrpSpPr>
          <p:cNvPr id="661" name="Google Shape;661;p43"/>
          <p:cNvGrpSpPr/>
          <p:nvPr/>
        </p:nvGrpSpPr>
        <p:grpSpPr>
          <a:xfrm>
            <a:off x="50480" y="122879"/>
            <a:ext cx="277873" cy="68400"/>
            <a:chOff x="411700" y="2416840"/>
            <a:chExt cx="277873" cy="68400"/>
          </a:xfrm>
        </p:grpSpPr>
        <p:sp>
          <p:nvSpPr>
            <p:cNvPr id="662" name="Google Shape;662;p4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3" name="Google Shape;663;p4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4" name="Google Shape;664;p4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65" name="Google Shape;665;p4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Try it yourself: Larger Multiplexers</a:t>
            </a:r>
            <a:endParaRPr sz="3600">
              <a:solidFill>
                <a:schemeClr val="dk1"/>
              </a:solidFill>
              <a:latin typeface="Lexend"/>
              <a:ea typeface="Lexend"/>
              <a:cs typeface="Lexend"/>
              <a:sym typeface="Lexend"/>
            </a:endParaRPr>
          </a:p>
        </p:txBody>
      </p:sp>
      <p:sp>
        <p:nvSpPr>
          <p:cNvPr id="666" name="Google Shape;666;p4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67" name="Google Shape;667;p4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4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73" name="Google Shape;673;p4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74" name="Google Shape;674;p4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75" name="Google Shape;675;p44"/>
          <p:cNvSpPr txBox="1"/>
          <p:nvPr/>
        </p:nvSpPr>
        <p:spPr>
          <a:xfrm>
            <a:off x="256650" y="972850"/>
            <a:ext cx="8428500" cy="1169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Encoder is a digital function that produces a </a:t>
            </a:r>
            <a:r>
              <a:rPr lang="en" sz="2000">
                <a:solidFill>
                  <a:srgbClr val="FF0000"/>
                </a:solidFill>
                <a:latin typeface="Lexend"/>
                <a:ea typeface="Lexend"/>
                <a:cs typeface="Lexend"/>
                <a:sym typeface="Lexend"/>
              </a:rPr>
              <a:t>reverse </a:t>
            </a:r>
            <a:r>
              <a:rPr lang="en" sz="2000">
                <a:solidFill>
                  <a:schemeClr val="dk1"/>
                </a:solidFill>
                <a:latin typeface="Lexend"/>
                <a:ea typeface="Lexend"/>
                <a:cs typeface="Lexend"/>
                <a:sym typeface="Lexend"/>
              </a:rPr>
              <a:t>operation </a:t>
            </a:r>
            <a:r>
              <a:rPr lang="en" sz="2000">
                <a:solidFill>
                  <a:srgbClr val="FF0000"/>
                </a:solidFill>
                <a:latin typeface="Lexend"/>
                <a:ea typeface="Lexend"/>
                <a:cs typeface="Lexend"/>
                <a:sym typeface="Lexend"/>
              </a:rPr>
              <a:t>of a decoder</a:t>
            </a:r>
            <a:r>
              <a:rPr lang="en"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It has 2</a:t>
            </a:r>
            <a:r>
              <a:rPr baseline="30000"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input lines and n output lines</a:t>
            </a:r>
            <a:endParaRPr sz="2000">
              <a:solidFill>
                <a:schemeClr val="dk1"/>
              </a:solidFill>
              <a:latin typeface="Lexend"/>
              <a:ea typeface="Lexend"/>
              <a:cs typeface="Lexend"/>
              <a:sym typeface="Lexend"/>
            </a:endParaRPr>
          </a:p>
        </p:txBody>
      </p:sp>
      <p:grpSp>
        <p:nvGrpSpPr>
          <p:cNvPr id="676" name="Google Shape;676;p44"/>
          <p:cNvGrpSpPr/>
          <p:nvPr/>
        </p:nvGrpSpPr>
        <p:grpSpPr>
          <a:xfrm>
            <a:off x="50480" y="122879"/>
            <a:ext cx="277873" cy="68400"/>
            <a:chOff x="411700" y="2416840"/>
            <a:chExt cx="277873" cy="68400"/>
          </a:xfrm>
        </p:grpSpPr>
        <p:sp>
          <p:nvSpPr>
            <p:cNvPr id="677" name="Google Shape;677;p4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8" name="Google Shape;678;p4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9" name="Google Shape;679;p4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80" name="Google Shape;680;p4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Encoder</a:t>
            </a:r>
            <a:endParaRPr sz="3600">
              <a:solidFill>
                <a:schemeClr val="dk1"/>
              </a:solidFill>
              <a:latin typeface="Lexend"/>
              <a:ea typeface="Lexend"/>
              <a:cs typeface="Lexend"/>
              <a:sym typeface="Lexend"/>
            </a:endParaRPr>
          </a:p>
        </p:txBody>
      </p:sp>
      <p:sp>
        <p:nvSpPr>
          <p:cNvPr id="681" name="Google Shape;681;p4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82" name="Google Shape;682;p4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683" name="Google Shape;683;p44"/>
          <p:cNvPicPr preferRelativeResize="0"/>
          <p:nvPr/>
        </p:nvPicPr>
        <p:blipFill>
          <a:blip r:embed="rId4">
            <a:alphaModFix/>
          </a:blip>
          <a:stretch>
            <a:fillRect/>
          </a:stretch>
        </p:blipFill>
        <p:spPr>
          <a:xfrm>
            <a:off x="2815825" y="2641575"/>
            <a:ext cx="3512349" cy="13691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4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89" name="Google Shape;689;p4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90" name="Google Shape;690;p4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91" name="Google Shape;691;p45"/>
          <p:cNvSpPr txBox="1"/>
          <p:nvPr/>
        </p:nvSpPr>
        <p:spPr>
          <a:xfrm>
            <a:off x="6129550" y="3153575"/>
            <a:ext cx="2690100" cy="1323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X = D</a:t>
            </a:r>
            <a:r>
              <a:rPr baseline="-25000" lang="en" sz="2000">
                <a:solidFill>
                  <a:schemeClr val="dk1"/>
                </a:solidFill>
                <a:latin typeface="Lexend"/>
                <a:ea typeface="Lexend"/>
                <a:cs typeface="Lexend"/>
                <a:sym typeface="Lexend"/>
              </a:rPr>
              <a:t>4</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Y = D</a:t>
            </a:r>
            <a:r>
              <a:rPr baseline="-25000" lang="en" sz="2000">
                <a:solidFill>
                  <a:schemeClr val="dk1"/>
                </a:solidFill>
                <a:latin typeface="Lexend"/>
                <a:ea typeface="Lexend"/>
                <a:cs typeface="Lexend"/>
                <a:sym typeface="Lexend"/>
              </a:rPr>
              <a:t>2</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Z = D</a:t>
            </a:r>
            <a:r>
              <a:rPr baseline="-25000" lang="en" sz="2000">
                <a:solidFill>
                  <a:schemeClr val="dk1"/>
                </a:solidFill>
                <a:latin typeface="Lexend"/>
                <a:ea typeface="Lexend"/>
                <a:cs typeface="Lexend"/>
                <a:sym typeface="Lexend"/>
              </a:rPr>
              <a:t>1</a:t>
            </a:r>
            <a:r>
              <a:rPr lang="en" sz="2000">
                <a:solidFill>
                  <a:schemeClr val="dk1"/>
                </a:solidFill>
                <a:latin typeface="Lexend"/>
                <a:ea typeface="Lexend"/>
                <a:cs typeface="Lexend"/>
                <a:sym typeface="Lexend"/>
              </a:rPr>
              <a:t> + </a:t>
            </a:r>
            <a:r>
              <a:rPr lang="en" sz="2000">
                <a:solidFill>
                  <a:schemeClr val="dk1"/>
                </a:solidFill>
                <a:latin typeface="Lexend"/>
                <a:ea typeface="Lexend"/>
                <a:cs typeface="Lexend"/>
                <a:sym typeface="Lexend"/>
              </a:rPr>
              <a:t>D</a:t>
            </a:r>
            <a:r>
              <a:rPr baseline="-25000" lang="en" sz="2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p:txBody>
      </p:sp>
      <p:grpSp>
        <p:nvGrpSpPr>
          <p:cNvPr id="692" name="Google Shape;692;p45"/>
          <p:cNvGrpSpPr/>
          <p:nvPr/>
        </p:nvGrpSpPr>
        <p:grpSpPr>
          <a:xfrm>
            <a:off x="50480" y="122879"/>
            <a:ext cx="277873" cy="68400"/>
            <a:chOff x="411700" y="2416840"/>
            <a:chExt cx="277873" cy="68400"/>
          </a:xfrm>
        </p:grpSpPr>
        <p:sp>
          <p:nvSpPr>
            <p:cNvPr id="693" name="Google Shape;693;p4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4" name="Google Shape;694;p4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5" name="Google Shape;695;p4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96" name="Google Shape;696;p4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Octal-binary encoder</a:t>
            </a:r>
            <a:endParaRPr sz="3600">
              <a:solidFill>
                <a:schemeClr val="dk1"/>
              </a:solidFill>
              <a:latin typeface="Lexend"/>
              <a:ea typeface="Lexend"/>
              <a:cs typeface="Lexend"/>
              <a:sym typeface="Lexend"/>
            </a:endParaRPr>
          </a:p>
        </p:txBody>
      </p:sp>
      <p:sp>
        <p:nvSpPr>
          <p:cNvPr id="697" name="Google Shape;697;p4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98" name="Google Shape;698;p4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699" name="Google Shape;699;p45"/>
          <p:cNvGraphicFramePr/>
          <p:nvPr/>
        </p:nvGraphicFramePr>
        <p:xfrm>
          <a:off x="328350" y="1052725"/>
          <a:ext cx="3000000" cy="3000000"/>
        </p:xfrm>
        <a:graphic>
          <a:graphicData uri="http://schemas.openxmlformats.org/drawingml/2006/table">
            <a:tbl>
              <a:tblPr>
                <a:noFill/>
                <a:tableStyleId>{031C2276-671B-496E-B77D-804DC5F1F2AA}</a:tableStyleId>
              </a:tblPr>
              <a:tblGrid>
                <a:gridCol w="468675"/>
                <a:gridCol w="468675"/>
                <a:gridCol w="468675"/>
                <a:gridCol w="468675"/>
                <a:gridCol w="468675"/>
                <a:gridCol w="468675"/>
                <a:gridCol w="543575"/>
                <a:gridCol w="543575"/>
                <a:gridCol w="543575"/>
                <a:gridCol w="543575"/>
                <a:gridCol w="543575"/>
              </a:tblGrid>
              <a:tr h="328825">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D</a:t>
                      </a:r>
                      <a:r>
                        <a:rPr baseline="-25000" lang="en" sz="1500">
                          <a:latin typeface="Lexend"/>
                          <a:ea typeface="Lexend"/>
                          <a:cs typeface="Lexend"/>
                          <a:sym typeface="Lexend"/>
                        </a:rPr>
                        <a:t>0</a:t>
                      </a:r>
                      <a:endParaRPr baseline="-25000"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1</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2</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3</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4</a:t>
                      </a:r>
                      <a:endParaRPr sz="1500">
                        <a:solidFill>
                          <a:srgbClr val="000080"/>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5</a:t>
                      </a:r>
                      <a:endParaRPr sz="1500">
                        <a:solidFill>
                          <a:srgbClr val="C00000"/>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6</a:t>
                      </a:r>
                      <a:endParaRPr sz="1500">
                        <a:solidFill>
                          <a:srgbClr val="0000FF"/>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7</a:t>
                      </a:r>
                      <a:endParaRPr sz="1500">
                        <a:solidFill>
                          <a:srgbClr val="000080"/>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a:ea typeface="Lexend"/>
                          <a:cs typeface="Lexend"/>
                          <a:sym typeface="Lexend"/>
                        </a:rPr>
                        <a:t>x</a:t>
                      </a:r>
                      <a:endParaRPr sz="1500">
                        <a:solidFill>
                          <a:srgbClr val="C00000"/>
                        </a:solidFill>
                        <a:latin typeface="Lexend"/>
                        <a:ea typeface="Lexend"/>
                        <a:cs typeface="Lexend"/>
                        <a:sym typeface="Lexend"/>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a:ea typeface="Lexend"/>
                          <a:cs typeface="Lexend"/>
                          <a:sym typeface="Lexend"/>
                        </a:rPr>
                        <a:t>y</a:t>
                      </a:r>
                      <a:endParaRPr sz="1500">
                        <a:solidFill>
                          <a:srgbClr val="0000FF"/>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a:ea typeface="Lexend"/>
                          <a:cs typeface="Lexend"/>
                          <a:sym typeface="Lexend"/>
                        </a:rPr>
                        <a:t>z</a:t>
                      </a:r>
                      <a:endParaRPr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2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4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05" name="Google Shape;705;p4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06" name="Google Shape;706;p4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07" name="Google Shape;707;p46"/>
          <p:cNvSpPr txBox="1"/>
          <p:nvPr/>
        </p:nvSpPr>
        <p:spPr>
          <a:xfrm>
            <a:off x="3539275" y="1308300"/>
            <a:ext cx="26901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X = D</a:t>
            </a:r>
            <a:r>
              <a:rPr baseline="-25000" lang="en" sz="2000">
                <a:solidFill>
                  <a:schemeClr val="dk1"/>
                </a:solidFill>
                <a:latin typeface="Lexend"/>
                <a:ea typeface="Lexend"/>
                <a:cs typeface="Lexend"/>
                <a:sym typeface="Lexend"/>
              </a:rPr>
              <a:t>4</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p:txBody>
      </p:sp>
      <p:grpSp>
        <p:nvGrpSpPr>
          <p:cNvPr id="708" name="Google Shape;708;p46"/>
          <p:cNvGrpSpPr/>
          <p:nvPr/>
        </p:nvGrpSpPr>
        <p:grpSpPr>
          <a:xfrm>
            <a:off x="50480" y="122879"/>
            <a:ext cx="277873" cy="68400"/>
            <a:chOff x="411700" y="2416840"/>
            <a:chExt cx="277873" cy="68400"/>
          </a:xfrm>
        </p:grpSpPr>
        <p:sp>
          <p:nvSpPr>
            <p:cNvPr id="709" name="Google Shape;709;p4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0" name="Google Shape;710;p4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1" name="Google Shape;711;p4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12" name="Google Shape;712;p4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Octal-binary encoder</a:t>
            </a:r>
            <a:endParaRPr sz="3600">
              <a:solidFill>
                <a:schemeClr val="dk1"/>
              </a:solidFill>
              <a:latin typeface="Lexend"/>
              <a:ea typeface="Lexend"/>
              <a:cs typeface="Lexend"/>
              <a:sym typeface="Lexend"/>
            </a:endParaRPr>
          </a:p>
        </p:txBody>
      </p:sp>
      <p:sp>
        <p:nvSpPr>
          <p:cNvPr id="713" name="Google Shape;713;p4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14" name="Google Shape;714;p4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715" name="Google Shape;715;p46"/>
          <p:cNvPicPr preferRelativeResize="0"/>
          <p:nvPr/>
        </p:nvPicPr>
        <p:blipFill>
          <a:blip r:embed="rId4">
            <a:alphaModFix/>
          </a:blip>
          <a:stretch>
            <a:fillRect/>
          </a:stretch>
        </p:blipFill>
        <p:spPr>
          <a:xfrm>
            <a:off x="328350" y="928450"/>
            <a:ext cx="3288650" cy="3620426"/>
          </a:xfrm>
          <a:prstGeom prst="rect">
            <a:avLst/>
          </a:prstGeom>
          <a:noFill/>
          <a:ln>
            <a:noFill/>
          </a:ln>
        </p:spPr>
      </p:pic>
      <p:sp>
        <p:nvSpPr>
          <p:cNvPr id="716" name="Google Shape;716;p46"/>
          <p:cNvSpPr txBox="1"/>
          <p:nvPr/>
        </p:nvSpPr>
        <p:spPr>
          <a:xfrm>
            <a:off x="3539275" y="3566225"/>
            <a:ext cx="26901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Z = D</a:t>
            </a:r>
            <a:r>
              <a:rPr baseline="-25000" lang="en" sz="2000">
                <a:solidFill>
                  <a:schemeClr val="dk1"/>
                </a:solidFill>
                <a:latin typeface="Lexend"/>
                <a:ea typeface="Lexend"/>
                <a:cs typeface="Lexend"/>
                <a:sym typeface="Lexend"/>
              </a:rPr>
              <a:t>1</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p:txBody>
      </p:sp>
      <p:sp>
        <p:nvSpPr>
          <p:cNvPr id="717" name="Google Shape;717;p46"/>
          <p:cNvSpPr txBox="1"/>
          <p:nvPr/>
        </p:nvSpPr>
        <p:spPr>
          <a:xfrm>
            <a:off x="3539275" y="2421375"/>
            <a:ext cx="26901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Y = D</a:t>
            </a:r>
            <a:r>
              <a:rPr baseline="-25000" lang="en" sz="2000">
                <a:solidFill>
                  <a:schemeClr val="dk1"/>
                </a:solidFill>
                <a:latin typeface="Lexend"/>
                <a:ea typeface="Lexend"/>
                <a:cs typeface="Lexend"/>
                <a:sym typeface="Lexend"/>
              </a:rPr>
              <a:t>2</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p:txBody>
      </p:sp>
      <p:sp>
        <p:nvSpPr>
          <p:cNvPr id="718" name="Google Shape;718;p46"/>
          <p:cNvSpPr txBox="1"/>
          <p:nvPr/>
        </p:nvSpPr>
        <p:spPr>
          <a:xfrm>
            <a:off x="209775" y="4456975"/>
            <a:ext cx="35652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a:solidFill>
                  <a:srgbClr val="674EA7"/>
                </a:solidFill>
                <a:latin typeface="Lexend"/>
                <a:ea typeface="Lexend"/>
                <a:cs typeface="Lexend"/>
                <a:sym typeface="Lexend"/>
              </a:rPr>
              <a:t>Octal to Binary Encoder Logic Diagram</a:t>
            </a:r>
            <a:endParaRPr sz="1100">
              <a:solidFill>
                <a:srgbClr val="674EA7"/>
              </a:solidFill>
              <a:latin typeface="Lexend"/>
              <a:ea typeface="Lexend"/>
              <a:cs typeface="Lexend"/>
              <a:sym typeface="Lexend"/>
            </a:endParaRPr>
          </a:p>
        </p:txBody>
      </p:sp>
      <p:sp>
        <p:nvSpPr>
          <p:cNvPr id="719" name="Google Shape;719;p46"/>
          <p:cNvSpPr/>
          <p:nvPr/>
        </p:nvSpPr>
        <p:spPr>
          <a:xfrm>
            <a:off x="4910400" y="4078600"/>
            <a:ext cx="3893100" cy="761700"/>
          </a:xfrm>
          <a:prstGeom prst="wedgeRoundRectCallout">
            <a:avLst>
              <a:gd fmla="val 4981" name="adj1"/>
              <a:gd fmla="val -70672" name="adj2"/>
              <a:gd fmla="val 0" name="adj3"/>
            </a:avLst>
          </a:prstGeom>
          <a:solidFill>
            <a:srgbClr val="00FFFF"/>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008000"/>
                </a:solidFill>
                <a:latin typeface="Lexend"/>
                <a:ea typeface="Lexend"/>
                <a:cs typeface="Lexend"/>
                <a:sym typeface="Lexend"/>
              </a:rPr>
              <a:t>There are 8 input variables so there will be 256  input combination, amongst which in Octal-binary </a:t>
            </a:r>
            <a:r>
              <a:rPr lang="en" sz="1300">
                <a:solidFill>
                  <a:srgbClr val="008000"/>
                </a:solidFill>
                <a:latin typeface="Lexend"/>
                <a:ea typeface="Lexend"/>
                <a:cs typeface="Lexend"/>
                <a:sym typeface="Lexend"/>
              </a:rPr>
              <a:t>e</a:t>
            </a:r>
            <a:r>
              <a:rPr lang="en" sz="1300">
                <a:solidFill>
                  <a:srgbClr val="008000"/>
                </a:solidFill>
                <a:latin typeface="Lexend"/>
                <a:ea typeface="Lexend"/>
                <a:cs typeface="Lexend"/>
                <a:sym typeface="Lexend"/>
              </a:rPr>
              <a:t>ncoder only 8 are useful</a:t>
            </a:r>
            <a:endParaRPr sz="1300">
              <a:solidFill>
                <a:srgbClr val="008000"/>
              </a:solidFill>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4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25" name="Google Shape;725;p4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26" name="Google Shape;726;p4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27" name="Google Shape;727;p47"/>
          <p:cNvSpPr txBox="1"/>
          <p:nvPr/>
        </p:nvSpPr>
        <p:spPr>
          <a:xfrm>
            <a:off x="256650" y="972850"/>
            <a:ext cx="8428500" cy="3524700"/>
          </a:xfrm>
          <a:prstGeom prst="rect">
            <a:avLst/>
          </a:prstGeom>
          <a:noFill/>
          <a:ln>
            <a:noFill/>
          </a:ln>
        </p:spPr>
        <p:txBody>
          <a:bodyPr anchorCtr="0" anchor="t" bIns="91425" lIns="91425" spcFirstLastPara="1" rIns="91425" wrap="square" tIns="91425">
            <a:spAutoFit/>
          </a:bodyPr>
          <a:lstStyle/>
          <a:p>
            <a:pPr indent="-361950" lvl="0" marL="457200" rtl="0" algn="l">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Accepts multiple values and encodes them</a:t>
            </a:r>
            <a:endParaRPr sz="2100">
              <a:solidFill>
                <a:schemeClr val="dk1"/>
              </a:solidFill>
              <a:latin typeface="Lexend"/>
              <a:ea typeface="Lexend"/>
              <a:cs typeface="Lexend"/>
              <a:sym typeface="Lexend"/>
            </a:endParaRPr>
          </a:p>
          <a:p>
            <a:pPr indent="-361950" lvl="1" marL="9144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Works when more than one input is active</a:t>
            </a:r>
            <a:endParaRPr sz="2100">
              <a:solidFill>
                <a:schemeClr val="dk1"/>
              </a:solidFill>
              <a:latin typeface="Lexend"/>
              <a:ea typeface="Lexend"/>
              <a:cs typeface="Lexend"/>
              <a:sym typeface="Lexend"/>
            </a:endParaRPr>
          </a:p>
          <a:p>
            <a:pPr indent="-361950" lvl="0" marL="4572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Consists of:</a:t>
            </a:r>
            <a:endParaRPr sz="2100">
              <a:solidFill>
                <a:schemeClr val="dk1"/>
              </a:solidFill>
              <a:latin typeface="Lexend"/>
              <a:ea typeface="Lexend"/>
              <a:cs typeface="Lexend"/>
              <a:sym typeface="Lexend"/>
            </a:endParaRPr>
          </a:p>
          <a:p>
            <a:pPr indent="-361950" lvl="1" marL="9144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Inputs (2</a:t>
            </a:r>
            <a:r>
              <a:rPr baseline="30000" lang="en" sz="2100">
                <a:solidFill>
                  <a:schemeClr val="dk1"/>
                </a:solidFill>
                <a:latin typeface="Lexend"/>
                <a:ea typeface="Lexend"/>
                <a:cs typeface="Lexend"/>
                <a:sym typeface="Lexend"/>
              </a:rPr>
              <a:t>n</a:t>
            </a:r>
            <a:r>
              <a:rPr lang="en" sz="2100">
                <a:solidFill>
                  <a:schemeClr val="dk1"/>
                </a:solidFill>
                <a:latin typeface="Lexend"/>
                <a:ea typeface="Lexend"/>
                <a:cs typeface="Lexend"/>
                <a:sym typeface="Lexend"/>
              </a:rPr>
              <a:t>)</a:t>
            </a:r>
            <a:endParaRPr sz="2100">
              <a:solidFill>
                <a:schemeClr val="dk1"/>
              </a:solidFill>
              <a:latin typeface="Lexend"/>
              <a:ea typeface="Lexend"/>
              <a:cs typeface="Lexend"/>
              <a:sym typeface="Lexend"/>
            </a:endParaRPr>
          </a:p>
          <a:p>
            <a:pPr indent="-361950" lvl="1" marL="9144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Outputs</a:t>
            </a:r>
            <a:endParaRPr sz="2100">
              <a:solidFill>
                <a:schemeClr val="dk1"/>
              </a:solidFill>
              <a:latin typeface="Lexend"/>
              <a:ea typeface="Lexend"/>
              <a:cs typeface="Lexend"/>
              <a:sym typeface="Lexend"/>
            </a:endParaRPr>
          </a:p>
          <a:p>
            <a:pPr indent="-361950" lvl="2" marL="13716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when more than one output is active, sets output to correspond to highest input</a:t>
            </a:r>
            <a:endParaRPr sz="2100">
              <a:solidFill>
                <a:schemeClr val="dk1"/>
              </a:solidFill>
              <a:latin typeface="Lexend"/>
              <a:ea typeface="Lexend"/>
              <a:cs typeface="Lexend"/>
              <a:sym typeface="Lexend"/>
            </a:endParaRPr>
          </a:p>
          <a:p>
            <a:pPr indent="-361950" lvl="2" marL="13716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V (indicates whether any of the inputs are active). This helps to show the output when all inputs are 0s</a:t>
            </a:r>
            <a:endParaRPr sz="2100">
              <a:solidFill>
                <a:schemeClr val="dk1"/>
              </a:solidFill>
              <a:latin typeface="Lexend"/>
              <a:ea typeface="Lexend"/>
              <a:cs typeface="Lexend"/>
              <a:sym typeface="Lexend"/>
            </a:endParaRPr>
          </a:p>
          <a:p>
            <a:pPr indent="-361950" lvl="1" marL="9144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Selectors / Enable</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2000">
              <a:solidFill>
                <a:schemeClr val="dk1"/>
              </a:solidFill>
              <a:latin typeface="Lexend"/>
              <a:ea typeface="Lexend"/>
              <a:cs typeface="Lexend"/>
              <a:sym typeface="Lexend"/>
            </a:endParaRPr>
          </a:p>
        </p:txBody>
      </p:sp>
      <p:grpSp>
        <p:nvGrpSpPr>
          <p:cNvPr id="728" name="Google Shape;728;p47"/>
          <p:cNvGrpSpPr/>
          <p:nvPr/>
        </p:nvGrpSpPr>
        <p:grpSpPr>
          <a:xfrm>
            <a:off x="50480" y="122879"/>
            <a:ext cx="277873" cy="68400"/>
            <a:chOff x="411700" y="2416840"/>
            <a:chExt cx="277873" cy="68400"/>
          </a:xfrm>
        </p:grpSpPr>
        <p:sp>
          <p:nvSpPr>
            <p:cNvPr id="729" name="Google Shape;729;p4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0" name="Google Shape;730;p4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1" name="Google Shape;731;p4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32" name="Google Shape;732;p4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733" name="Google Shape;733;p4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34" name="Google Shape;734;p4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4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40" name="Google Shape;740;p4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41" name="Google Shape;741;p4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42" name="Google Shape;742;p48"/>
          <p:cNvSpPr txBox="1"/>
          <p:nvPr/>
        </p:nvSpPr>
        <p:spPr>
          <a:xfrm>
            <a:off x="256650" y="972850"/>
            <a:ext cx="8428500" cy="1348200"/>
          </a:xfrm>
          <a:prstGeom prst="rect">
            <a:avLst/>
          </a:prstGeom>
          <a:noFill/>
          <a:ln>
            <a:noFill/>
          </a:ln>
        </p:spPr>
        <p:txBody>
          <a:bodyPr anchorCtr="0" anchor="t" bIns="91425" lIns="91425" spcFirstLastPara="1" rIns="91425" wrap="square" tIns="91425">
            <a:spAutoFit/>
          </a:bodyPr>
          <a:lstStyle/>
          <a:p>
            <a:pPr indent="-361950" lvl="0" marL="457200" rtl="0" algn="l">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Design a priority encoder, which will allow more than one input to exist and encodes only the highest priority input line. For example, 8x3 encoder in a if user give D2 and D7 together, it will allow data of D7 to pass.</a:t>
            </a:r>
            <a:endParaRPr sz="2100">
              <a:solidFill>
                <a:schemeClr val="dk1"/>
              </a:solidFill>
              <a:latin typeface="Lexend"/>
              <a:ea typeface="Lexend"/>
              <a:cs typeface="Lexend"/>
              <a:sym typeface="Lexend"/>
            </a:endParaRPr>
          </a:p>
        </p:txBody>
      </p:sp>
      <p:grpSp>
        <p:nvGrpSpPr>
          <p:cNvPr id="743" name="Google Shape;743;p48"/>
          <p:cNvGrpSpPr/>
          <p:nvPr/>
        </p:nvGrpSpPr>
        <p:grpSpPr>
          <a:xfrm>
            <a:off x="50480" y="122879"/>
            <a:ext cx="277873" cy="68400"/>
            <a:chOff x="411700" y="2416840"/>
            <a:chExt cx="277873" cy="68400"/>
          </a:xfrm>
        </p:grpSpPr>
        <p:sp>
          <p:nvSpPr>
            <p:cNvPr id="744" name="Google Shape;744;p4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5" name="Google Shape;745;p4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6" name="Google Shape;746;p4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47" name="Google Shape;747;p4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Priority Encoder</a:t>
            </a:r>
            <a:endParaRPr sz="3600">
              <a:solidFill>
                <a:schemeClr val="dk1"/>
              </a:solidFill>
              <a:latin typeface="Lexend"/>
              <a:ea typeface="Lexend"/>
              <a:cs typeface="Lexend"/>
              <a:sym typeface="Lexend"/>
            </a:endParaRPr>
          </a:p>
        </p:txBody>
      </p:sp>
      <p:sp>
        <p:nvSpPr>
          <p:cNvPr id="748" name="Google Shape;748;p4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49" name="Google Shape;749;p4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4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55" name="Google Shape;755;p4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56" name="Google Shape;756;p4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57" name="Google Shape;757;p49"/>
          <p:cNvSpPr txBox="1"/>
          <p:nvPr/>
        </p:nvSpPr>
        <p:spPr>
          <a:xfrm>
            <a:off x="256650" y="972850"/>
            <a:ext cx="8428500" cy="1348200"/>
          </a:xfrm>
          <a:prstGeom prst="rect">
            <a:avLst/>
          </a:prstGeom>
          <a:noFill/>
          <a:ln>
            <a:noFill/>
          </a:ln>
        </p:spPr>
        <p:txBody>
          <a:bodyPr anchorCtr="0" anchor="t" bIns="91425" lIns="91425" spcFirstLastPara="1" rIns="91425" wrap="square" tIns="91425">
            <a:spAutoFit/>
          </a:bodyPr>
          <a:lstStyle/>
          <a:p>
            <a:pPr indent="-361950" lvl="0" marL="457200" rtl="0" algn="l">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Design a priority encoder, which will allow more than one input to exist and encodes only the highest priority input line. For example, 4x2 encoder in a if user give D2 and D3 together, it will allow data of D3 to pass.</a:t>
            </a:r>
            <a:endParaRPr sz="2100">
              <a:solidFill>
                <a:schemeClr val="dk1"/>
              </a:solidFill>
              <a:latin typeface="Lexend"/>
              <a:ea typeface="Lexend"/>
              <a:cs typeface="Lexend"/>
              <a:sym typeface="Lexend"/>
            </a:endParaRPr>
          </a:p>
        </p:txBody>
      </p:sp>
      <p:grpSp>
        <p:nvGrpSpPr>
          <p:cNvPr id="758" name="Google Shape;758;p49"/>
          <p:cNvGrpSpPr/>
          <p:nvPr/>
        </p:nvGrpSpPr>
        <p:grpSpPr>
          <a:xfrm>
            <a:off x="50480" y="122879"/>
            <a:ext cx="277873" cy="68400"/>
            <a:chOff x="411700" y="2416840"/>
            <a:chExt cx="277873" cy="68400"/>
          </a:xfrm>
        </p:grpSpPr>
        <p:sp>
          <p:nvSpPr>
            <p:cNvPr id="759" name="Google Shape;759;p4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0" name="Google Shape;760;p4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1" name="Google Shape;761;p4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62" name="Google Shape;762;p4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4x2 Priority Encoder</a:t>
            </a:r>
            <a:endParaRPr sz="3600">
              <a:solidFill>
                <a:schemeClr val="dk1"/>
              </a:solidFill>
              <a:latin typeface="Lexend"/>
              <a:ea typeface="Lexend"/>
              <a:cs typeface="Lexend"/>
              <a:sym typeface="Lexend"/>
            </a:endParaRPr>
          </a:p>
        </p:txBody>
      </p:sp>
      <p:sp>
        <p:nvSpPr>
          <p:cNvPr id="763" name="Google Shape;763;p4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64" name="Google Shape;764;p4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5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70" name="Google Shape;770;p5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71" name="Google Shape;771;p5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72" name="Google Shape;772;p50"/>
          <p:cNvSpPr txBox="1"/>
          <p:nvPr/>
        </p:nvSpPr>
        <p:spPr>
          <a:xfrm>
            <a:off x="256650" y="972850"/>
            <a:ext cx="47214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Designing a 4x2 priority encoder</a:t>
            </a:r>
            <a:endParaRPr sz="2000">
              <a:solidFill>
                <a:schemeClr val="dk1"/>
              </a:solidFill>
              <a:latin typeface="Lexend"/>
              <a:ea typeface="Lexend"/>
              <a:cs typeface="Lexend"/>
              <a:sym typeface="Lexend"/>
            </a:endParaRPr>
          </a:p>
        </p:txBody>
      </p:sp>
      <p:grpSp>
        <p:nvGrpSpPr>
          <p:cNvPr id="773" name="Google Shape;773;p50"/>
          <p:cNvGrpSpPr/>
          <p:nvPr/>
        </p:nvGrpSpPr>
        <p:grpSpPr>
          <a:xfrm>
            <a:off x="50480" y="122879"/>
            <a:ext cx="277873" cy="68400"/>
            <a:chOff x="411700" y="2416840"/>
            <a:chExt cx="277873" cy="68400"/>
          </a:xfrm>
        </p:grpSpPr>
        <p:sp>
          <p:nvSpPr>
            <p:cNvPr id="774" name="Google Shape;774;p5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5" name="Google Shape;775;p5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6" name="Google Shape;776;p5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77" name="Google Shape;777;p5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a:t>
            </a:r>
            <a:r>
              <a:rPr lang="en" sz="3600">
                <a:solidFill>
                  <a:schemeClr val="dk1"/>
                </a:solidFill>
                <a:latin typeface="Lexend"/>
                <a:ea typeface="Lexend"/>
                <a:cs typeface="Lexend"/>
                <a:sym typeface="Lexend"/>
              </a:rPr>
              <a:t>4x2 </a:t>
            </a: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778" name="Google Shape;778;p5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79" name="Google Shape;779;p5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780" name="Google Shape;780;p50"/>
          <p:cNvGraphicFramePr/>
          <p:nvPr/>
        </p:nvGraphicFramePr>
        <p:xfrm>
          <a:off x="4608225" y="771026"/>
          <a:ext cx="3000000" cy="3000000"/>
        </p:xfrm>
        <a:graphic>
          <a:graphicData uri="http://schemas.openxmlformats.org/drawingml/2006/table">
            <a:tbl>
              <a:tblPr>
                <a:noFill/>
                <a:tableStyleId>{27F3A37B-6600-4325-A08B-84874AF3B0B0}</a:tableStyleId>
              </a:tblPr>
              <a:tblGrid>
                <a:gridCol w="485300"/>
                <a:gridCol w="495150"/>
                <a:gridCol w="485950"/>
                <a:gridCol w="485950"/>
                <a:gridCol w="453175"/>
                <a:gridCol w="453175"/>
                <a:gridCol w="485950"/>
              </a:tblGrid>
              <a:tr h="251825">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r>
                        <a:rPr b="1" baseline="-25000" lang="en" sz="1100">
                          <a:solidFill>
                            <a:schemeClr val="dk1"/>
                          </a:solidFill>
                          <a:latin typeface="Lexend"/>
                          <a:ea typeface="Lexend"/>
                          <a:cs typeface="Lexend"/>
                          <a:sym typeface="Lexend"/>
                        </a:rPr>
                        <a:t>3</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r>
                        <a:rPr b="1" baseline="-25000" lang="en" sz="1100" u="none" cap="none" strike="noStrike">
                          <a:solidFill>
                            <a:schemeClr val="dk1"/>
                          </a:solidFill>
                          <a:latin typeface="Lexend"/>
                          <a:ea typeface="Lexend"/>
                          <a:cs typeface="Lexend"/>
                          <a:sym typeface="Lexend"/>
                        </a:rPr>
                        <a:t>2</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r>
                        <a:rPr b="1" baseline="-25000" lang="en" sz="1100" u="none" cap="none" strike="noStrike">
                          <a:solidFill>
                            <a:schemeClr val="dk1"/>
                          </a:solidFill>
                          <a:latin typeface="Lexend"/>
                          <a:ea typeface="Lexend"/>
                          <a:cs typeface="Lexend"/>
                          <a:sym typeface="Lexend"/>
                        </a:rPr>
                        <a:t>1</a:t>
                      </a:r>
                      <a:endParaRPr b="1" baseline="-25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r>
                        <a:rPr b="1" baseline="-25000" lang="en" sz="1100" u="none" cap="none" strike="noStrike">
                          <a:solidFill>
                            <a:schemeClr val="dk1"/>
                          </a:solidFill>
                          <a:latin typeface="Lexend"/>
                          <a:ea typeface="Lexend"/>
                          <a:cs typeface="Lexend"/>
                          <a:sym typeface="Lexend"/>
                        </a:rPr>
                        <a:t>0</a:t>
                      </a:r>
                      <a:endParaRPr b="1" baseline="-25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A</a:t>
                      </a:r>
                      <a:r>
                        <a:rPr b="1" baseline="-25000" lang="en" sz="1100">
                          <a:solidFill>
                            <a:schemeClr val="dk1"/>
                          </a:solidFill>
                          <a:latin typeface="Lexend"/>
                          <a:ea typeface="Lexend"/>
                          <a:cs typeface="Lexend"/>
                          <a:sym typeface="Lexend"/>
                        </a:rPr>
                        <a:t>1</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A</a:t>
                      </a:r>
                      <a:r>
                        <a:rPr b="1" baseline="-25000" lang="en" sz="1100">
                          <a:solidFill>
                            <a:schemeClr val="dk1"/>
                          </a:solidFill>
                          <a:latin typeface="Lexend"/>
                          <a:ea typeface="Lexend"/>
                          <a:cs typeface="Lexend"/>
                          <a:sym typeface="Lexend"/>
                        </a:rPr>
                        <a:t>0</a:t>
                      </a:r>
                      <a:endParaRPr b="1" baseline="30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V</a:t>
                      </a:r>
                      <a:endParaRPr b="1" baseline="30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X</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X</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bl>
          </a:graphicData>
        </a:graphic>
      </p:graphicFrame>
      <p:sp>
        <p:nvSpPr>
          <p:cNvPr id="781" name="Google Shape;781;p50"/>
          <p:cNvSpPr/>
          <p:nvPr/>
        </p:nvSpPr>
        <p:spPr>
          <a:xfrm>
            <a:off x="5128450" y="2675150"/>
            <a:ext cx="2026200" cy="30480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782" name="Google Shape;782;p50"/>
          <p:cNvCxnSpPr>
            <a:stCxn id="781" idx="2"/>
            <a:endCxn id="783" idx="3"/>
          </p:cNvCxnSpPr>
          <p:nvPr/>
        </p:nvCxnSpPr>
        <p:spPr>
          <a:xfrm rot="10800000">
            <a:off x="3212050" y="2571650"/>
            <a:ext cx="1916400" cy="255900"/>
          </a:xfrm>
          <a:prstGeom prst="straightConnector1">
            <a:avLst/>
          </a:prstGeom>
          <a:noFill/>
          <a:ln cap="flat" cmpd="sng" w="9525">
            <a:solidFill>
              <a:srgbClr val="5B9BD5"/>
            </a:solidFill>
            <a:prstDash val="solid"/>
            <a:miter lim="800000"/>
            <a:headEnd len="sm" w="sm" type="none"/>
            <a:tailEnd len="med" w="med" type="triangle"/>
          </a:ln>
        </p:spPr>
      </p:cxnSp>
      <p:sp>
        <p:nvSpPr>
          <p:cNvPr id="783" name="Google Shape;783;p50"/>
          <p:cNvSpPr/>
          <p:nvPr/>
        </p:nvSpPr>
        <p:spPr>
          <a:xfrm>
            <a:off x="849725" y="1847850"/>
            <a:ext cx="2362200" cy="1447800"/>
          </a:xfrm>
          <a:prstGeom prst="roundRect">
            <a:avLst>
              <a:gd fmla="val 16667" name="adj"/>
            </a:avLst>
          </a:prstGeom>
          <a:solidFill>
            <a:srgbClr val="5B9BD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i="0" lang="en" sz="1600" u="none" cap="none" strike="noStrike">
                <a:solidFill>
                  <a:srgbClr val="FFFFFF"/>
                </a:solidFill>
                <a:latin typeface="Lexend"/>
                <a:ea typeface="Lexend"/>
                <a:cs typeface="Lexend"/>
                <a:sym typeface="Lexend"/>
              </a:rPr>
              <a:t>Note: Amongst all 3 input, D</a:t>
            </a:r>
            <a:r>
              <a:rPr baseline="-25000" i="0" lang="en" sz="1600" u="none" cap="none" strike="noStrike">
                <a:solidFill>
                  <a:srgbClr val="FFFFFF"/>
                </a:solidFill>
                <a:latin typeface="Lexend"/>
                <a:ea typeface="Lexend"/>
                <a:cs typeface="Lexend"/>
                <a:sym typeface="Lexend"/>
              </a:rPr>
              <a:t>2</a:t>
            </a:r>
            <a:r>
              <a:rPr i="0" lang="en" sz="1600" u="none" cap="none" strike="noStrike">
                <a:solidFill>
                  <a:srgbClr val="FFFFFF"/>
                </a:solidFill>
                <a:latin typeface="Lexend"/>
                <a:ea typeface="Lexend"/>
                <a:cs typeface="Lexend"/>
                <a:sym typeface="Lexend"/>
              </a:rPr>
              <a:t> is highest so output reflects the binary value of 2</a:t>
            </a:r>
            <a:endParaRPr i="0" sz="1400" u="none" cap="none" strike="noStrike">
              <a:solidFill>
                <a:srgbClr val="000000"/>
              </a:solidFill>
              <a:latin typeface="Lexend"/>
              <a:ea typeface="Lexend"/>
              <a:cs typeface="Lexend"/>
              <a:sym typeface="Lexend"/>
            </a:endParaRPr>
          </a:p>
        </p:txBody>
      </p:sp>
      <p:cxnSp>
        <p:nvCxnSpPr>
          <p:cNvPr id="784" name="Google Shape;784;p50"/>
          <p:cNvCxnSpPr/>
          <p:nvPr/>
        </p:nvCxnSpPr>
        <p:spPr>
          <a:xfrm rot="10800000">
            <a:off x="7737763" y="887200"/>
            <a:ext cx="633300" cy="378000"/>
          </a:xfrm>
          <a:prstGeom prst="straightConnector1">
            <a:avLst/>
          </a:prstGeom>
          <a:noFill/>
          <a:ln cap="flat" cmpd="sng" w="9525">
            <a:solidFill>
              <a:srgbClr val="5B9BD5"/>
            </a:solidFill>
            <a:prstDash val="solid"/>
            <a:miter lim="800000"/>
            <a:headEnd len="sm" w="sm" type="none"/>
            <a:tailEnd len="med" w="med" type="triangle"/>
          </a:ln>
        </p:spPr>
      </p:cxnSp>
      <p:sp>
        <p:nvSpPr>
          <p:cNvPr id="785" name="Google Shape;785;p50"/>
          <p:cNvSpPr/>
          <p:nvPr/>
        </p:nvSpPr>
        <p:spPr>
          <a:xfrm>
            <a:off x="8068675" y="1265200"/>
            <a:ext cx="952500" cy="2966700"/>
          </a:xfrm>
          <a:prstGeom prst="roundRect">
            <a:avLst>
              <a:gd fmla="val 8685" name="adj"/>
            </a:avLst>
          </a:prstGeom>
          <a:solidFill>
            <a:srgbClr val="5B9BD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i="0" lang="en" u="none" cap="none" strike="noStrike">
                <a:solidFill>
                  <a:srgbClr val="FFFFFF"/>
                </a:solidFill>
                <a:latin typeface="Lexend"/>
                <a:ea typeface="Lexend"/>
                <a:cs typeface="Lexend"/>
                <a:sym typeface="Lexend"/>
              </a:rPr>
              <a:t>Note: V is not really an output, just shows whether there is an active input or not.</a:t>
            </a:r>
            <a:endParaRPr i="0" sz="1600" u="none" cap="none" strike="noStrike">
              <a:solidFill>
                <a:srgbClr val="000000"/>
              </a:solidFill>
              <a:latin typeface="Lexend"/>
              <a:ea typeface="Lexend"/>
              <a:cs typeface="Lexend"/>
              <a:sym typeface="Lexend"/>
            </a:endParaRPr>
          </a:p>
        </p:txBody>
      </p:sp>
      <p:sp>
        <p:nvSpPr>
          <p:cNvPr id="786" name="Google Shape;786;p50"/>
          <p:cNvSpPr txBox="1"/>
          <p:nvPr/>
        </p:nvSpPr>
        <p:spPr>
          <a:xfrm>
            <a:off x="50475" y="3436100"/>
            <a:ext cx="4356000" cy="1199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700">
                <a:solidFill>
                  <a:schemeClr val="dk1"/>
                </a:solidFill>
                <a:latin typeface="Lexend"/>
                <a:ea typeface="Lexend"/>
                <a:cs typeface="Lexend"/>
                <a:sym typeface="Lexend"/>
              </a:rPr>
              <a:t>From the truth table</a:t>
            </a:r>
            <a:endParaRPr sz="17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∑(4,5,6,7,8,9,10,11,12,13,14,15) + d(0)</a:t>
            </a:r>
            <a:endParaRPr sz="16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∑(2,3,8,9,10,11,12,13,14,15) + d(0)</a:t>
            </a:r>
            <a:endParaRPr sz="1600">
              <a:solidFill>
                <a:schemeClr val="dk1"/>
              </a:solidFill>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5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92" name="Google Shape;792;p5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93" name="Google Shape;793;p5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794" name="Google Shape;794;p51"/>
          <p:cNvGrpSpPr/>
          <p:nvPr/>
        </p:nvGrpSpPr>
        <p:grpSpPr>
          <a:xfrm>
            <a:off x="50480" y="122879"/>
            <a:ext cx="277873" cy="68400"/>
            <a:chOff x="411700" y="2416840"/>
            <a:chExt cx="277873" cy="68400"/>
          </a:xfrm>
        </p:grpSpPr>
        <p:sp>
          <p:nvSpPr>
            <p:cNvPr id="795" name="Google Shape;795;p5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6" name="Google Shape;796;p5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7" name="Google Shape;797;p5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98" name="Google Shape;798;p5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a:t>
            </a:r>
            <a:r>
              <a:rPr lang="en" sz="3600">
                <a:solidFill>
                  <a:schemeClr val="dk1"/>
                </a:solidFill>
                <a:latin typeface="Lexend"/>
                <a:ea typeface="Lexend"/>
                <a:cs typeface="Lexend"/>
                <a:sym typeface="Lexend"/>
              </a:rPr>
              <a:t>4x2 </a:t>
            </a: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799" name="Google Shape;799;p5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00" name="Google Shape;800;p5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801" name="Google Shape;801;p51"/>
          <p:cNvSpPr txBox="1"/>
          <p:nvPr/>
        </p:nvSpPr>
        <p:spPr>
          <a:xfrm>
            <a:off x="209775" y="801150"/>
            <a:ext cx="4356000" cy="809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∑(4,5,6,7,8,9,10,11,12,13,14,15) + d(0)</a:t>
            </a:r>
            <a:endParaRPr sz="16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∑(2,3,8,9,10,11,12,13,14,15) + d(0)</a:t>
            </a:r>
            <a:endParaRPr sz="1600">
              <a:solidFill>
                <a:schemeClr val="dk1"/>
              </a:solidFill>
              <a:latin typeface="Lexend"/>
              <a:ea typeface="Lexend"/>
              <a:cs typeface="Lexend"/>
              <a:sym typeface="Lexend"/>
            </a:endParaRPr>
          </a:p>
        </p:txBody>
      </p:sp>
      <p:sp>
        <p:nvSpPr>
          <p:cNvPr id="802" name="Google Shape;802;p51"/>
          <p:cNvSpPr txBox="1"/>
          <p:nvPr/>
        </p:nvSpPr>
        <p:spPr>
          <a:xfrm>
            <a:off x="427850" y="1977600"/>
            <a:ext cx="632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3</a:t>
            </a: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2</a:t>
            </a:r>
            <a:endParaRPr baseline="-25000">
              <a:latin typeface="Lexend"/>
              <a:ea typeface="Lexend"/>
              <a:cs typeface="Lexend"/>
              <a:sym typeface="Lexend"/>
            </a:endParaRPr>
          </a:p>
        </p:txBody>
      </p:sp>
      <p:graphicFrame>
        <p:nvGraphicFramePr>
          <p:cNvPr id="803" name="Google Shape;803;p51"/>
          <p:cNvGraphicFramePr/>
          <p:nvPr/>
        </p:nvGraphicFramePr>
        <p:xfrm>
          <a:off x="1312975" y="2221100"/>
          <a:ext cx="3000000" cy="3000000"/>
        </p:xfrm>
        <a:graphic>
          <a:graphicData uri="http://schemas.openxmlformats.org/drawingml/2006/table">
            <a:tbl>
              <a:tblPr>
                <a:noFill/>
                <a:tableStyleId>{46F5B840-6E79-4AE9-A5F0-D521D66B7DCE}</a:tableStyleId>
              </a:tblPr>
              <a:tblGrid>
                <a:gridCol w="450900"/>
                <a:gridCol w="450900"/>
                <a:gridCol w="450900"/>
                <a:gridCol w="450900"/>
              </a:tblGrid>
              <a:tr h="423300">
                <a:tc>
                  <a:txBody>
                    <a:bodyPr/>
                    <a:lstStyle/>
                    <a:p>
                      <a:pPr indent="0" lvl="0" marL="0" rtl="0" algn="ctr">
                        <a:spcBef>
                          <a:spcPts val="0"/>
                        </a:spcBef>
                        <a:spcAft>
                          <a:spcPts val="0"/>
                        </a:spcAft>
                        <a:buNone/>
                      </a:pPr>
                      <a:r>
                        <a:rPr lang="en" sz="1800">
                          <a:latin typeface="Lexend"/>
                          <a:ea typeface="Lexend"/>
                          <a:cs typeface="Lexend"/>
                          <a:sym typeface="Lexend"/>
                        </a:rPr>
                        <a:t>X</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33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33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58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bl>
          </a:graphicData>
        </a:graphic>
      </p:graphicFrame>
      <p:cxnSp>
        <p:nvCxnSpPr>
          <p:cNvPr id="804" name="Google Shape;804;p51"/>
          <p:cNvCxnSpPr/>
          <p:nvPr/>
        </p:nvCxnSpPr>
        <p:spPr>
          <a:xfrm rot="10800000">
            <a:off x="934979" y="1847688"/>
            <a:ext cx="378000" cy="378000"/>
          </a:xfrm>
          <a:prstGeom prst="straightConnector1">
            <a:avLst/>
          </a:prstGeom>
          <a:noFill/>
          <a:ln cap="flat" cmpd="sng" w="19050">
            <a:solidFill>
              <a:srgbClr val="DCDFFE"/>
            </a:solidFill>
            <a:prstDash val="solid"/>
            <a:round/>
            <a:headEnd len="med" w="med" type="none"/>
            <a:tailEnd len="med" w="med" type="none"/>
          </a:ln>
        </p:spPr>
      </p:cxnSp>
      <p:sp>
        <p:nvSpPr>
          <p:cNvPr id="805" name="Google Shape;805;p51"/>
          <p:cNvSpPr txBox="1"/>
          <p:nvPr/>
        </p:nvSpPr>
        <p:spPr>
          <a:xfrm>
            <a:off x="1023625" y="1667338"/>
            <a:ext cx="7065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1</a:t>
            </a: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0</a:t>
            </a:r>
            <a:endParaRPr baseline="-25000">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a:solidFill>
                <a:srgbClr val="292929"/>
              </a:solidFill>
              <a:latin typeface="Lexend"/>
              <a:ea typeface="Lexend"/>
              <a:cs typeface="Lexend"/>
              <a:sym typeface="Lexend"/>
            </a:endParaRPr>
          </a:p>
        </p:txBody>
      </p:sp>
      <p:sp>
        <p:nvSpPr>
          <p:cNvPr id="806" name="Google Shape;806;p51"/>
          <p:cNvSpPr txBox="1"/>
          <p:nvPr/>
        </p:nvSpPr>
        <p:spPr>
          <a:xfrm>
            <a:off x="1358923" y="1919000"/>
            <a:ext cx="1757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sz="1200">
                <a:solidFill>
                  <a:srgbClr val="292929"/>
                </a:solidFill>
                <a:latin typeface="Lexend"/>
                <a:ea typeface="Lexend"/>
                <a:cs typeface="Lexend"/>
                <a:sym typeface="Lexend"/>
              </a:rPr>
              <a:t>00      01       11      10</a:t>
            </a:r>
            <a:endParaRPr sz="1200">
              <a:latin typeface="Lexend"/>
              <a:ea typeface="Lexend"/>
              <a:cs typeface="Lexend"/>
              <a:sym typeface="Lexend"/>
            </a:endParaRPr>
          </a:p>
        </p:txBody>
      </p:sp>
      <p:sp>
        <p:nvSpPr>
          <p:cNvPr id="807" name="Google Shape;807;p51"/>
          <p:cNvSpPr txBox="1"/>
          <p:nvPr/>
        </p:nvSpPr>
        <p:spPr>
          <a:xfrm>
            <a:off x="2521126" y="1619250"/>
            <a:ext cx="7659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1</a:t>
            </a:r>
            <a:endParaRPr sz="1200">
              <a:latin typeface="Lexend"/>
              <a:ea typeface="Lexend"/>
              <a:cs typeface="Lexend"/>
              <a:sym typeface="Lexend"/>
            </a:endParaRPr>
          </a:p>
        </p:txBody>
      </p:sp>
      <p:sp>
        <p:nvSpPr>
          <p:cNvPr id="808" name="Google Shape;808;p51"/>
          <p:cNvSpPr/>
          <p:nvPr/>
        </p:nvSpPr>
        <p:spPr>
          <a:xfrm rot="5400000">
            <a:off x="2589675" y="1525122"/>
            <a:ext cx="140700" cy="8703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9" name="Google Shape;809;p51"/>
          <p:cNvSpPr txBox="1"/>
          <p:nvPr/>
        </p:nvSpPr>
        <p:spPr>
          <a:xfrm>
            <a:off x="3224154" y="2926300"/>
            <a:ext cx="5487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2</a:t>
            </a:r>
            <a:endParaRPr sz="1200">
              <a:latin typeface="Lexend"/>
              <a:ea typeface="Lexend"/>
              <a:cs typeface="Lexend"/>
              <a:sym typeface="Lexend"/>
            </a:endParaRPr>
          </a:p>
        </p:txBody>
      </p:sp>
      <p:sp>
        <p:nvSpPr>
          <p:cNvPr id="810" name="Google Shape;810;p51"/>
          <p:cNvSpPr/>
          <p:nvPr/>
        </p:nvSpPr>
        <p:spPr>
          <a:xfrm rot="10800000">
            <a:off x="3146325" y="2660458"/>
            <a:ext cx="140700" cy="8298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1" name="Google Shape;811;p51"/>
          <p:cNvSpPr txBox="1"/>
          <p:nvPr/>
        </p:nvSpPr>
        <p:spPr>
          <a:xfrm>
            <a:off x="2015475" y="4080200"/>
            <a:ext cx="4446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0</a:t>
            </a:r>
            <a:endParaRPr sz="1200">
              <a:latin typeface="Lexend"/>
              <a:ea typeface="Lexend"/>
              <a:cs typeface="Lexend"/>
              <a:sym typeface="Lexend"/>
            </a:endParaRPr>
          </a:p>
        </p:txBody>
      </p:sp>
      <p:sp>
        <p:nvSpPr>
          <p:cNvPr id="812" name="Google Shape;812;p51"/>
          <p:cNvSpPr/>
          <p:nvPr/>
        </p:nvSpPr>
        <p:spPr>
          <a:xfrm rot="-5400000">
            <a:off x="2144425" y="3574697"/>
            <a:ext cx="140700" cy="8703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3" name="Google Shape;813;p51"/>
          <p:cNvSpPr txBox="1"/>
          <p:nvPr/>
        </p:nvSpPr>
        <p:spPr>
          <a:xfrm>
            <a:off x="579029" y="3355875"/>
            <a:ext cx="4446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3</a:t>
            </a:r>
            <a:endParaRPr sz="1200">
              <a:latin typeface="Lexend"/>
              <a:ea typeface="Lexend"/>
              <a:cs typeface="Lexend"/>
              <a:sym typeface="Lexend"/>
            </a:endParaRPr>
          </a:p>
        </p:txBody>
      </p:sp>
      <p:sp>
        <p:nvSpPr>
          <p:cNvPr id="814" name="Google Shape;814;p51"/>
          <p:cNvSpPr txBox="1"/>
          <p:nvPr/>
        </p:nvSpPr>
        <p:spPr>
          <a:xfrm>
            <a:off x="996170" y="2280550"/>
            <a:ext cx="378000" cy="161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00 </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01</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11</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10</a:t>
            </a:r>
            <a:endParaRPr sz="1200">
              <a:solidFill>
                <a:srgbClr val="000000"/>
              </a:solidFill>
              <a:latin typeface="Lexend"/>
              <a:ea typeface="Lexend"/>
              <a:cs typeface="Lexend"/>
              <a:sym typeface="Lexend"/>
            </a:endParaRPr>
          </a:p>
        </p:txBody>
      </p:sp>
      <p:sp>
        <p:nvSpPr>
          <p:cNvPr id="815" name="Google Shape;815;p51"/>
          <p:cNvSpPr/>
          <p:nvPr/>
        </p:nvSpPr>
        <p:spPr>
          <a:xfrm>
            <a:off x="986345" y="3085047"/>
            <a:ext cx="140700" cy="8298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6" name="Google Shape;816;p51"/>
          <p:cNvSpPr txBox="1"/>
          <p:nvPr/>
        </p:nvSpPr>
        <p:spPr>
          <a:xfrm>
            <a:off x="5127450" y="2042925"/>
            <a:ext cx="632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3</a:t>
            </a: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2</a:t>
            </a:r>
            <a:endParaRPr baseline="-25000">
              <a:latin typeface="Lexend"/>
              <a:ea typeface="Lexend"/>
              <a:cs typeface="Lexend"/>
              <a:sym typeface="Lexend"/>
            </a:endParaRPr>
          </a:p>
        </p:txBody>
      </p:sp>
      <p:graphicFrame>
        <p:nvGraphicFramePr>
          <p:cNvPr id="817" name="Google Shape;817;p51"/>
          <p:cNvGraphicFramePr/>
          <p:nvPr/>
        </p:nvGraphicFramePr>
        <p:xfrm>
          <a:off x="6012575" y="2286425"/>
          <a:ext cx="3000000" cy="3000000"/>
        </p:xfrm>
        <a:graphic>
          <a:graphicData uri="http://schemas.openxmlformats.org/drawingml/2006/table">
            <a:tbl>
              <a:tblPr>
                <a:noFill/>
                <a:tableStyleId>{46F5B840-6E79-4AE9-A5F0-D521D66B7DCE}</a:tableStyleId>
              </a:tblPr>
              <a:tblGrid>
                <a:gridCol w="450900"/>
                <a:gridCol w="450900"/>
                <a:gridCol w="450900"/>
                <a:gridCol w="450900"/>
              </a:tblGrid>
              <a:tr h="423300">
                <a:tc>
                  <a:txBody>
                    <a:bodyPr/>
                    <a:lstStyle/>
                    <a:p>
                      <a:pPr indent="0" lvl="0" marL="0" rtl="0" algn="ctr">
                        <a:spcBef>
                          <a:spcPts val="0"/>
                        </a:spcBef>
                        <a:spcAft>
                          <a:spcPts val="0"/>
                        </a:spcAft>
                        <a:buNone/>
                      </a:pPr>
                      <a:r>
                        <a:rPr lang="en" sz="1800">
                          <a:latin typeface="Lexend"/>
                          <a:ea typeface="Lexend"/>
                          <a:cs typeface="Lexend"/>
                          <a:sym typeface="Lexend"/>
                        </a:rPr>
                        <a:t>X</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33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33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58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bl>
          </a:graphicData>
        </a:graphic>
      </p:graphicFrame>
      <p:cxnSp>
        <p:nvCxnSpPr>
          <p:cNvPr id="818" name="Google Shape;818;p51"/>
          <p:cNvCxnSpPr/>
          <p:nvPr/>
        </p:nvCxnSpPr>
        <p:spPr>
          <a:xfrm rot="10800000">
            <a:off x="5634579" y="1913013"/>
            <a:ext cx="378000" cy="378000"/>
          </a:xfrm>
          <a:prstGeom prst="straightConnector1">
            <a:avLst/>
          </a:prstGeom>
          <a:noFill/>
          <a:ln cap="flat" cmpd="sng" w="19050">
            <a:solidFill>
              <a:srgbClr val="DCDFFE"/>
            </a:solidFill>
            <a:prstDash val="solid"/>
            <a:round/>
            <a:headEnd len="med" w="med" type="none"/>
            <a:tailEnd len="med" w="med" type="none"/>
          </a:ln>
        </p:spPr>
      </p:cxnSp>
      <p:sp>
        <p:nvSpPr>
          <p:cNvPr id="819" name="Google Shape;819;p51"/>
          <p:cNvSpPr txBox="1"/>
          <p:nvPr/>
        </p:nvSpPr>
        <p:spPr>
          <a:xfrm>
            <a:off x="5723225" y="1732663"/>
            <a:ext cx="7065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1</a:t>
            </a: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0</a:t>
            </a:r>
            <a:endParaRPr baseline="-25000">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a:solidFill>
                <a:srgbClr val="292929"/>
              </a:solidFill>
              <a:latin typeface="Lexend"/>
              <a:ea typeface="Lexend"/>
              <a:cs typeface="Lexend"/>
              <a:sym typeface="Lexend"/>
            </a:endParaRPr>
          </a:p>
        </p:txBody>
      </p:sp>
      <p:sp>
        <p:nvSpPr>
          <p:cNvPr id="820" name="Google Shape;820;p51"/>
          <p:cNvSpPr txBox="1"/>
          <p:nvPr/>
        </p:nvSpPr>
        <p:spPr>
          <a:xfrm>
            <a:off x="6058523" y="1984325"/>
            <a:ext cx="1757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sz="1200">
                <a:solidFill>
                  <a:srgbClr val="292929"/>
                </a:solidFill>
                <a:latin typeface="Lexend"/>
                <a:ea typeface="Lexend"/>
                <a:cs typeface="Lexend"/>
                <a:sym typeface="Lexend"/>
              </a:rPr>
              <a:t>00      01       11      10</a:t>
            </a:r>
            <a:endParaRPr sz="1200">
              <a:latin typeface="Lexend"/>
              <a:ea typeface="Lexend"/>
              <a:cs typeface="Lexend"/>
              <a:sym typeface="Lexend"/>
            </a:endParaRPr>
          </a:p>
        </p:txBody>
      </p:sp>
      <p:sp>
        <p:nvSpPr>
          <p:cNvPr id="821" name="Google Shape;821;p51"/>
          <p:cNvSpPr txBox="1"/>
          <p:nvPr/>
        </p:nvSpPr>
        <p:spPr>
          <a:xfrm>
            <a:off x="7220726" y="1684575"/>
            <a:ext cx="7659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1</a:t>
            </a:r>
            <a:endParaRPr sz="1200">
              <a:latin typeface="Lexend"/>
              <a:ea typeface="Lexend"/>
              <a:cs typeface="Lexend"/>
              <a:sym typeface="Lexend"/>
            </a:endParaRPr>
          </a:p>
        </p:txBody>
      </p:sp>
      <p:sp>
        <p:nvSpPr>
          <p:cNvPr id="822" name="Google Shape;822;p51"/>
          <p:cNvSpPr/>
          <p:nvPr/>
        </p:nvSpPr>
        <p:spPr>
          <a:xfrm rot="5400000">
            <a:off x="7289275" y="1590447"/>
            <a:ext cx="140700" cy="8703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3" name="Google Shape;823;p51"/>
          <p:cNvSpPr txBox="1"/>
          <p:nvPr/>
        </p:nvSpPr>
        <p:spPr>
          <a:xfrm>
            <a:off x="7923754" y="2991625"/>
            <a:ext cx="5487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2</a:t>
            </a:r>
            <a:endParaRPr sz="1200">
              <a:latin typeface="Lexend"/>
              <a:ea typeface="Lexend"/>
              <a:cs typeface="Lexend"/>
              <a:sym typeface="Lexend"/>
            </a:endParaRPr>
          </a:p>
        </p:txBody>
      </p:sp>
      <p:sp>
        <p:nvSpPr>
          <p:cNvPr id="824" name="Google Shape;824;p51"/>
          <p:cNvSpPr/>
          <p:nvPr/>
        </p:nvSpPr>
        <p:spPr>
          <a:xfrm rot="10800000">
            <a:off x="7845925" y="2725783"/>
            <a:ext cx="140700" cy="8298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5" name="Google Shape;825;p51"/>
          <p:cNvSpPr txBox="1"/>
          <p:nvPr/>
        </p:nvSpPr>
        <p:spPr>
          <a:xfrm>
            <a:off x="6715075" y="4145525"/>
            <a:ext cx="4446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0</a:t>
            </a:r>
            <a:endParaRPr sz="1200">
              <a:latin typeface="Lexend"/>
              <a:ea typeface="Lexend"/>
              <a:cs typeface="Lexend"/>
              <a:sym typeface="Lexend"/>
            </a:endParaRPr>
          </a:p>
        </p:txBody>
      </p:sp>
      <p:sp>
        <p:nvSpPr>
          <p:cNvPr id="826" name="Google Shape;826;p51"/>
          <p:cNvSpPr/>
          <p:nvPr/>
        </p:nvSpPr>
        <p:spPr>
          <a:xfrm rot="-5400000">
            <a:off x="6844025" y="3640022"/>
            <a:ext cx="140700" cy="8703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7" name="Google Shape;827;p51"/>
          <p:cNvSpPr txBox="1"/>
          <p:nvPr/>
        </p:nvSpPr>
        <p:spPr>
          <a:xfrm>
            <a:off x="5278629" y="3421200"/>
            <a:ext cx="4446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3</a:t>
            </a:r>
            <a:endParaRPr sz="1200">
              <a:latin typeface="Lexend"/>
              <a:ea typeface="Lexend"/>
              <a:cs typeface="Lexend"/>
              <a:sym typeface="Lexend"/>
            </a:endParaRPr>
          </a:p>
        </p:txBody>
      </p:sp>
      <p:sp>
        <p:nvSpPr>
          <p:cNvPr id="828" name="Google Shape;828;p51"/>
          <p:cNvSpPr txBox="1"/>
          <p:nvPr/>
        </p:nvSpPr>
        <p:spPr>
          <a:xfrm>
            <a:off x="5695770" y="2345875"/>
            <a:ext cx="378000" cy="161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00 </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01</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11</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10</a:t>
            </a:r>
            <a:endParaRPr sz="1200">
              <a:solidFill>
                <a:srgbClr val="000000"/>
              </a:solidFill>
              <a:latin typeface="Lexend"/>
              <a:ea typeface="Lexend"/>
              <a:cs typeface="Lexend"/>
              <a:sym typeface="Lexend"/>
            </a:endParaRPr>
          </a:p>
        </p:txBody>
      </p:sp>
      <p:sp>
        <p:nvSpPr>
          <p:cNvPr id="829" name="Google Shape;829;p51"/>
          <p:cNvSpPr/>
          <p:nvPr/>
        </p:nvSpPr>
        <p:spPr>
          <a:xfrm>
            <a:off x="5685945" y="3150372"/>
            <a:ext cx="140700" cy="8298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0" name="Google Shape;830;p51"/>
          <p:cNvSpPr txBox="1"/>
          <p:nvPr/>
        </p:nvSpPr>
        <p:spPr>
          <a:xfrm>
            <a:off x="1374175" y="2681125"/>
            <a:ext cx="1663800" cy="747900"/>
          </a:xfrm>
          <a:prstGeom prst="rect">
            <a:avLst/>
          </a:prstGeom>
          <a:noFill/>
          <a:ln cap="flat" cmpd="sng" w="2540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831" name="Google Shape;831;p51"/>
          <p:cNvSpPr txBox="1"/>
          <p:nvPr/>
        </p:nvSpPr>
        <p:spPr>
          <a:xfrm>
            <a:off x="6082475" y="3191325"/>
            <a:ext cx="1663800" cy="747900"/>
          </a:xfrm>
          <a:prstGeom prst="rect">
            <a:avLst/>
          </a:prstGeom>
          <a:noFill/>
          <a:ln cap="flat" cmpd="sng" w="2540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832" name="Google Shape;832;p51"/>
          <p:cNvSpPr txBox="1"/>
          <p:nvPr/>
        </p:nvSpPr>
        <p:spPr>
          <a:xfrm>
            <a:off x="1455649" y="3126000"/>
            <a:ext cx="1491000" cy="747900"/>
          </a:xfrm>
          <a:prstGeom prst="rect">
            <a:avLst/>
          </a:prstGeom>
          <a:noFill/>
          <a:ln cap="flat" cmpd="sng" w="254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292929"/>
              </a:solidFill>
              <a:latin typeface="Arial"/>
              <a:ea typeface="Arial"/>
              <a:cs typeface="Arial"/>
              <a:sym typeface="Arial"/>
            </a:endParaRPr>
          </a:p>
        </p:txBody>
      </p:sp>
      <p:sp>
        <p:nvSpPr>
          <p:cNvPr id="833" name="Google Shape;833;p51"/>
          <p:cNvSpPr/>
          <p:nvPr/>
        </p:nvSpPr>
        <p:spPr>
          <a:xfrm flipH="1" rot="5400000">
            <a:off x="7214380" y="2066730"/>
            <a:ext cx="334219" cy="787821"/>
          </a:xfrm>
          <a:custGeom>
            <a:rect b="b" l="l" r="r" t="t"/>
            <a:pathLst>
              <a:path extrusionOk="0" h="12436" w="16140">
                <a:moveTo>
                  <a:pt x="15875" y="0"/>
                </a:moveTo>
                <a:lnTo>
                  <a:pt x="0" y="0"/>
                </a:lnTo>
                <a:lnTo>
                  <a:pt x="0" y="12436"/>
                </a:lnTo>
                <a:lnTo>
                  <a:pt x="16140" y="12436"/>
                </a:lnTo>
              </a:path>
            </a:pathLst>
          </a:custGeom>
          <a:noFill/>
          <a:ln cap="flat" cmpd="sng" w="28575">
            <a:solidFill>
              <a:srgbClr val="FF0000"/>
            </a:solidFill>
            <a:prstDash val="solid"/>
            <a:miter lim="8000"/>
            <a:headEnd len="med" w="med" type="none"/>
            <a:tailEnd len="med" w="med" type="none"/>
          </a:ln>
        </p:spPr>
      </p:sp>
      <p:sp>
        <p:nvSpPr>
          <p:cNvPr id="834" name="Google Shape;834;p51"/>
          <p:cNvSpPr/>
          <p:nvPr/>
        </p:nvSpPr>
        <p:spPr>
          <a:xfrm flipH="1" rot="-5400000">
            <a:off x="7192518" y="3436880"/>
            <a:ext cx="334219" cy="787821"/>
          </a:xfrm>
          <a:custGeom>
            <a:rect b="b" l="l" r="r" t="t"/>
            <a:pathLst>
              <a:path extrusionOk="0" h="12436" w="16140">
                <a:moveTo>
                  <a:pt x="15875" y="0"/>
                </a:moveTo>
                <a:lnTo>
                  <a:pt x="0" y="0"/>
                </a:lnTo>
                <a:lnTo>
                  <a:pt x="0" y="12436"/>
                </a:lnTo>
                <a:lnTo>
                  <a:pt x="16140" y="12436"/>
                </a:lnTo>
              </a:path>
            </a:pathLst>
          </a:custGeom>
          <a:noFill/>
          <a:ln cap="flat" cmpd="sng" w="28575">
            <a:solidFill>
              <a:srgbClr val="FF0000"/>
            </a:solidFill>
            <a:prstDash val="solid"/>
            <a:miter lim="8000"/>
            <a:headEnd len="med" w="med" type="none"/>
            <a:tailEnd len="med" w="med" type="none"/>
          </a:ln>
        </p:spPr>
      </p:sp>
      <p:sp>
        <p:nvSpPr>
          <p:cNvPr id="835" name="Google Shape;835;p51"/>
          <p:cNvSpPr txBox="1"/>
          <p:nvPr/>
        </p:nvSpPr>
        <p:spPr>
          <a:xfrm>
            <a:off x="1526275" y="4429300"/>
            <a:ext cx="13770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Clr>
                <a:schemeClr val="dk1"/>
              </a:buClr>
              <a:buSzPts val="1100"/>
              <a:buFont typeface="Arial"/>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baseline="-25000" lang="en" sz="1600">
                <a:solidFill>
                  <a:srgbClr val="0000FF"/>
                </a:solidFill>
                <a:latin typeface="Lexend"/>
                <a:ea typeface="Lexend"/>
                <a:cs typeface="Lexend"/>
                <a:sym typeface="Lexend"/>
              </a:rPr>
              <a:t>2</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3</a:t>
            </a:r>
            <a:endParaRPr baseline="-25000" sz="1100">
              <a:solidFill>
                <a:srgbClr val="FF0000"/>
              </a:solidFill>
              <a:latin typeface="Lexend"/>
              <a:ea typeface="Lexend"/>
              <a:cs typeface="Lexend"/>
              <a:sym typeface="Lexend"/>
            </a:endParaRPr>
          </a:p>
        </p:txBody>
      </p:sp>
      <p:sp>
        <p:nvSpPr>
          <p:cNvPr id="836" name="Google Shape;836;p51"/>
          <p:cNvSpPr txBox="1"/>
          <p:nvPr/>
        </p:nvSpPr>
        <p:spPr>
          <a:xfrm>
            <a:off x="6105475" y="4465488"/>
            <a:ext cx="16638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baseline="-25000" lang="en" sz="1600">
                <a:solidFill>
                  <a:srgbClr val="0000FF"/>
                </a:solidFill>
                <a:latin typeface="Lexend"/>
                <a:ea typeface="Lexend"/>
                <a:cs typeface="Lexend"/>
                <a:sym typeface="Lexend"/>
              </a:rPr>
              <a:t>3</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1</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2</a:t>
            </a:r>
            <a:r>
              <a:rPr lang="en" sz="1600">
                <a:solidFill>
                  <a:srgbClr val="FF0000"/>
                </a:solidFill>
                <a:latin typeface="Lexend"/>
                <a:ea typeface="Lexend"/>
                <a:cs typeface="Lexend"/>
                <a:sym typeface="Lexend"/>
              </a:rPr>
              <a:t>’</a:t>
            </a:r>
            <a:endParaRPr sz="1100">
              <a:solidFill>
                <a:srgbClr val="FF0000"/>
              </a:solidFill>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5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42" name="Google Shape;842;p5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43" name="Google Shape;843;p5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44" name="Google Shape;844;p52"/>
          <p:cNvSpPr txBox="1"/>
          <p:nvPr/>
        </p:nvSpPr>
        <p:spPr>
          <a:xfrm>
            <a:off x="256650" y="972850"/>
            <a:ext cx="8428500" cy="475500"/>
          </a:xfrm>
          <a:prstGeom prst="rect">
            <a:avLst/>
          </a:prstGeom>
          <a:noFill/>
          <a:ln>
            <a:noFill/>
          </a:ln>
        </p:spPr>
        <p:txBody>
          <a:bodyPr anchorCtr="0" anchor="t" bIns="91425" lIns="91425" spcFirstLastPara="1" rIns="91425" wrap="square" tIns="91425">
            <a:spAutoFit/>
          </a:bodyPr>
          <a:lstStyle/>
          <a:p>
            <a:pPr indent="-361950" lvl="0" marL="457200" rtl="0" algn="l">
              <a:lnSpc>
                <a:spcPct val="90000"/>
              </a:lnSpc>
              <a:spcBef>
                <a:spcPts val="1200"/>
              </a:spcBef>
              <a:spcAft>
                <a:spcPts val="0"/>
              </a:spcAft>
              <a:buClr>
                <a:schemeClr val="dk1"/>
              </a:buClr>
              <a:buSzPts val="2100"/>
              <a:buFont typeface="Lexend"/>
              <a:buChar char="●"/>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baseline="-25000" lang="en" sz="1600">
                <a:solidFill>
                  <a:srgbClr val="0000FF"/>
                </a:solidFill>
                <a:latin typeface="Lexend"/>
                <a:ea typeface="Lexend"/>
                <a:cs typeface="Lexend"/>
                <a:sym typeface="Lexend"/>
              </a:rPr>
              <a:t>2</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3</a:t>
            </a:r>
            <a:r>
              <a:rPr lang="en" sz="1600">
                <a:solidFill>
                  <a:srgbClr val="FF0000"/>
                </a:solidFill>
                <a:latin typeface="Lexend"/>
                <a:ea typeface="Lexend"/>
                <a:cs typeface="Lexend"/>
                <a:sym typeface="Lexend"/>
              </a:rPr>
              <a:t>                 </a:t>
            </a: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baseline="-25000" lang="en" sz="1600">
                <a:solidFill>
                  <a:srgbClr val="0000FF"/>
                </a:solidFill>
                <a:latin typeface="Lexend"/>
                <a:ea typeface="Lexend"/>
                <a:cs typeface="Lexend"/>
                <a:sym typeface="Lexend"/>
              </a:rPr>
              <a:t>3</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1</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2</a:t>
            </a:r>
            <a:r>
              <a:rPr lang="en" sz="1600">
                <a:solidFill>
                  <a:srgbClr val="FF0000"/>
                </a:solidFill>
                <a:latin typeface="Lexend"/>
                <a:ea typeface="Lexend"/>
                <a:cs typeface="Lexend"/>
                <a:sym typeface="Lexend"/>
              </a:rPr>
              <a:t>’</a:t>
            </a:r>
            <a:endParaRPr sz="1600">
              <a:solidFill>
                <a:srgbClr val="FF0000"/>
              </a:solidFill>
              <a:latin typeface="Lexend"/>
              <a:ea typeface="Lexend"/>
              <a:cs typeface="Lexend"/>
              <a:sym typeface="Lexend"/>
            </a:endParaRPr>
          </a:p>
        </p:txBody>
      </p:sp>
      <p:grpSp>
        <p:nvGrpSpPr>
          <p:cNvPr id="845" name="Google Shape;845;p52"/>
          <p:cNvGrpSpPr/>
          <p:nvPr/>
        </p:nvGrpSpPr>
        <p:grpSpPr>
          <a:xfrm>
            <a:off x="50480" y="122879"/>
            <a:ext cx="277873" cy="68400"/>
            <a:chOff x="411700" y="2416840"/>
            <a:chExt cx="277873" cy="68400"/>
          </a:xfrm>
        </p:grpSpPr>
        <p:sp>
          <p:nvSpPr>
            <p:cNvPr id="846" name="Google Shape;846;p5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7" name="Google Shape;847;p5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8" name="Google Shape;848;p5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49" name="Google Shape;849;p5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a:t>
            </a:r>
            <a:r>
              <a:rPr lang="en" sz="3600">
                <a:solidFill>
                  <a:schemeClr val="dk1"/>
                </a:solidFill>
                <a:latin typeface="Lexend"/>
                <a:ea typeface="Lexend"/>
                <a:cs typeface="Lexend"/>
                <a:sym typeface="Lexend"/>
              </a:rPr>
              <a:t>4x2 </a:t>
            </a: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850" name="Google Shape;850;p5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51" name="Google Shape;851;p5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852" name="Google Shape;852;p52"/>
          <p:cNvPicPr preferRelativeResize="0"/>
          <p:nvPr/>
        </p:nvPicPr>
        <p:blipFill>
          <a:blip r:embed="rId4">
            <a:alphaModFix/>
          </a:blip>
          <a:stretch>
            <a:fillRect/>
          </a:stretch>
        </p:blipFill>
        <p:spPr>
          <a:xfrm>
            <a:off x="1355000" y="1909125"/>
            <a:ext cx="6434008" cy="30230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pic>
        <p:nvPicPr>
          <p:cNvPr id="857" name="Google Shape;857;p5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58" name="Google Shape;858;p5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59" name="Google Shape;859;p5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60" name="Google Shape;860;p5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861" name="Google Shape;861;p53"/>
          <p:cNvGrpSpPr/>
          <p:nvPr/>
        </p:nvGrpSpPr>
        <p:grpSpPr>
          <a:xfrm>
            <a:off x="55863" y="1096534"/>
            <a:ext cx="7362874" cy="1618375"/>
            <a:chOff x="5351018" y="4955476"/>
            <a:chExt cx="4003085" cy="885422"/>
          </a:xfrm>
        </p:grpSpPr>
        <p:sp>
          <p:nvSpPr>
            <p:cNvPr id="862" name="Google Shape;862;p53"/>
            <p:cNvSpPr/>
            <p:nvPr/>
          </p:nvSpPr>
          <p:spPr>
            <a:xfrm>
              <a:off x="5411982" y="5018979"/>
              <a:ext cx="3885217" cy="761341"/>
            </a:xfrm>
            <a:custGeom>
              <a:rect b="b" l="l" r="r" t="t"/>
              <a:pathLst>
                <a:path extrusionOk="0" h="1253236" w="2932239">
                  <a:moveTo>
                    <a:pt x="0" y="0"/>
                  </a:moveTo>
                  <a:lnTo>
                    <a:pt x="2932240" y="0"/>
                  </a:lnTo>
                  <a:lnTo>
                    <a:pt x="2932240" y="1253236"/>
                  </a:lnTo>
                  <a:lnTo>
                    <a:pt x="0" y="1253236"/>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863" name="Google Shape;863;p53"/>
            <p:cNvSpPr/>
            <p:nvPr/>
          </p:nvSpPr>
          <p:spPr>
            <a:xfrm>
              <a:off x="5351018" y="4955476"/>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864" name="Google Shape;864;p53"/>
            <p:cNvSpPr/>
            <p:nvPr/>
          </p:nvSpPr>
          <p:spPr>
            <a:xfrm>
              <a:off x="5351018" y="5713898"/>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865" name="Google Shape;865;p53"/>
            <p:cNvSpPr/>
            <p:nvPr/>
          </p:nvSpPr>
          <p:spPr>
            <a:xfrm>
              <a:off x="9232183" y="4955476"/>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866" name="Google Shape;866;p53"/>
            <p:cNvSpPr/>
            <p:nvPr/>
          </p:nvSpPr>
          <p:spPr>
            <a:xfrm>
              <a:off x="9232183" y="5713898"/>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grpSp>
      <p:sp>
        <p:nvSpPr>
          <p:cNvPr id="867" name="Google Shape;867;p53"/>
          <p:cNvSpPr/>
          <p:nvPr/>
        </p:nvSpPr>
        <p:spPr>
          <a:xfrm>
            <a:off x="4883091" y="2459986"/>
            <a:ext cx="263412" cy="324213"/>
          </a:xfrm>
          <a:custGeom>
            <a:rect b="b" l="l" r="r" t="t"/>
            <a:pathLst>
              <a:path extrusionOk="0" h="19170" w="15575">
                <a:moveTo>
                  <a:pt x="0" y="0"/>
                </a:moveTo>
                <a:lnTo>
                  <a:pt x="3354" y="19170"/>
                </a:lnTo>
                <a:lnTo>
                  <a:pt x="7668" y="11502"/>
                </a:lnTo>
                <a:lnTo>
                  <a:pt x="15575" y="8866"/>
                </a:lnTo>
                <a:close/>
              </a:path>
            </a:pathLst>
          </a:custGeom>
          <a:solidFill>
            <a:srgbClr val="F4F2F2"/>
          </a:solidFill>
          <a:ln cap="flat" cmpd="sng" w="9525">
            <a:solidFill>
              <a:srgbClr val="28C840"/>
            </a:solidFill>
            <a:prstDash val="solid"/>
            <a:round/>
            <a:headEnd len="med" w="med" type="none"/>
            <a:tailEnd len="med" w="med" type="none"/>
          </a:ln>
        </p:spPr>
      </p:sp>
      <p:sp>
        <p:nvSpPr>
          <p:cNvPr id="868" name="Google Shape;868;p53"/>
          <p:cNvSpPr txBox="1"/>
          <p:nvPr/>
        </p:nvSpPr>
        <p:spPr>
          <a:xfrm>
            <a:off x="156075" y="1314563"/>
            <a:ext cx="7070400" cy="1182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Boolean Function </a:t>
            </a:r>
            <a:r>
              <a:rPr lang="en" sz="3200">
                <a:latin typeface="Lexend"/>
                <a:ea typeface="Lexend"/>
                <a:cs typeface="Lexend"/>
                <a:sym typeface="Lexend"/>
              </a:rPr>
              <a:t>Implementation </a:t>
            </a:r>
            <a:r>
              <a:rPr lang="en" sz="3200">
                <a:latin typeface="Lexend"/>
                <a:ea typeface="Lexend"/>
                <a:cs typeface="Lexend"/>
                <a:sym typeface="Lexend"/>
              </a:rPr>
              <a:t>using MSI Circuits</a:t>
            </a:r>
            <a:endParaRPr sz="3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3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3200">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5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74" name="Google Shape;874;p5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75" name="Google Shape;875;p5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76" name="Google Shape;876;p54"/>
          <p:cNvSpPr txBox="1"/>
          <p:nvPr/>
        </p:nvSpPr>
        <p:spPr>
          <a:xfrm>
            <a:off x="256650" y="972850"/>
            <a:ext cx="8428500" cy="1433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Using 4:1 MUX  design </a:t>
            </a:r>
            <a:endParaRPr sz="1600">
              <a:solidFill>
                <a:schemeClr val="dk1"/>
              </a:solidFill>
              <a:latin typeface="Lexend"/>
              <a:ea typeface="Lexend"/>
              <a:cs typeface="Lexend"/>
              <a:sym typeface="Lexend"/>
            </a:endParaRPr>
          </a:p>
          <a:p>
            <a:pPr indent="-361950" lvl="0" marL="457200" rtl="0" algn="l">
              <a:lnSpc>
                <a:spcPct val="90000"/>
              </a:lnSpc>
              <a:spcBef>
                <a:spcPts val="1200"/>
              </a:spcBef>
              <a:spcAft>
                <a:spcPts val="0"/>
              </a:spcAft>
              <a:buClr>
                <a:schemeClr val="dk1"/>
              </a:buClr>
              <a:buSzPts val="2100"/>
              <a:buFont typeface="Lexend"/>
              <a:buChar char="●"/>
            </a:pPr>
            <a:r>
              <a:rPr lang="en" sz="1600">
                <a:solidFill>
                  <a:schemeClr val="dk1"/>
                </a:solidFill>
                <a:latin typeface="Lexend"/>
                <a:ea typeface="Lexend"/>
                <a:cs typeface="Lexend"/>
                <a:sym typeface="Lexend"/>
              </a:rPr>
              <a:t>AND gate</a:t>
            </a:r>
            <a:endParaRPr sz="1600">
              <a:solidFill>
                <a:schemeClr val="dk1"/>
              </a:solidFill>
              <a:latin typeface="Lexend"/>
              <a:ea typeface="Lexend"/>
              <a:cs typeface="Lexend"/>
              <a:sym typeface="Lexend"/>
            </a:endParaRPr>
          </a:p>
          <a:p>
            <a:pPr indent="-361950" lvl="0" marL="457200" rtl="0" algn="l">
              <a:lnSpc>
                <a:spcPct val="90000"/>
              </a:lnSpc>
              <a:spcBef>
                <a:spcPts val="0"/>
              </a:spcBef>
              <a:spcAft>
                <a:spcPts val="0"/>
              </a:spcAft>
              <a:buClr>
                <a:schemeClr val="dk1"/>
              </a:buClr>
              <a:buSzPts val="2100"/>
              <a:buFont typeface="Lexend"/>
              <a:buChar char="●"/>
            </a:pPr>
            <a:r>
              <a:rPr lang="en" sz="1600">
                <a:solidFill>
                  <a:schemeClr val="dk1"/>
                </a:solidFill>
                <a:latin typeface="Lexend"/>
                <a:ea typeface="Lexend"/>
                <a:cs typeface="Lexend"/>
                <a:sym typeface="Lexend"/>
              </a:rPr>
              <a:t>OR gate</a:t>
            </a:r>
            <a:endParaRPr sz="1600">
              <a:solidFill>
                <a:schemeClr val="dk1"/>
              </a:solidFill>
              <a:latin typeface="Lexend"/>
              <a:ea typeface="Lexend"/>
              <a:cs typeface="Lexend"/>
              <a:sym typeface="Lexend"/>
            </a:endParaRPr>
          </a:p>
          <a:p>
            <a:pPr indent="-361950" lvl="0" marL="457200" rtl="0" algn="l">
              <a:lnSpc>
                <a:spcPct val="90000"/>
              </a:lnSpc>
              <a:spcBef>
                <a:spcPts val="0"/>
              </a:spcBef>
              <a:spcAft>
                <a:spcPts val="0"/>
              </a:spcAft>
              <a:buClr>
                <a:schemeClr val="dk1"/>
              </a:buClr>
              <a:buSzPts val="2100"/>
              <a:buFont typeface="Lexend"/>
              <a:buChar char="●"/>
            </a:pPr>
            <a:r>
              <a:rPr lang="en" sz="1600">
                <a:solidFill>
                  <a:schemeClr val="dk1"/>
                </a:solidFill>
                <a:latin typeface="Lexend"/>
                <a:ea typeface="Lexend"/>
                <a:cs typeface="Lexend"/>
                <a:sym typeface="Lexend"/>
              </a:rPr>
              <a:t>NOT gate</a:t>
            </a:r>
            <a:endParaRPr sz="1600">
              <a:solidFill>
                <a:schemeClr val="dk1"/>
              </a:solidFill>
              <a:latin typeface="Lexend"/>
              <a:ea typeface="Lexend"/>
              <a:cs typeface="Lexend"/>
              <a:sym typeface="Lexend"/>
            </a:endParaRPr>
          </a:p>
        </p:txBody>
      </p:sp>
      <p:grpSp>
        <p:nvGrpSpPr>
          <p:cNvPr id="877" name="Google Shape;877;p54"/>
          <p:cNvGrpSpPr/>
          <p:nvPr/>
        </p:nvGrpSpPr>
        <p:grpSpPr>
          <a:xfrm>
            <a:off x="50480" y="122879"/>
            <a:ext cx="277873" cy="68400"/>
            <a:chOff x="411700" y="2416840"/>
            <a:chExt cx="277873" cy="68400"/>
          </a:xfrm>
        </p:grpSpPr>
        <p:sp>
          <p:nvSpPr>
            <p:cNvPr id="878" name="Google Shape;878;p5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9" name="Google Shape;879;p5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0" name="Google Shape;880;p5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81" name="Google Shape;881;p54"/>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Try it yourself</a:t>
            </a:r>
            <a:endParaRPr sz="3600">
              <a:solidFill>
                <a:schemeClr val="dk1"/>
              </a:solidFill>
              <a:latin typeface="Lexend"/>
              <a:ea typeface="Lexend"/>
              <a:cs typeface="Lexend"/>
              <a:sym typeface="Lexend"/>
            </a:endParaRPr>
          </a:p>
        </p:txBody>
      </p:sp>
      <p:sp>
        <p:nvSpPr>
          <p:cNvPr id="882" name="Google Shape;882;p5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83" name="Google Shape;883;p5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884" name="Google Shape;884;p54"/>
          <p:cNvGrpSpPr/>
          <p:nvPr/>
        </p:nvGrpSpPr>
        <p:grpSpPr>
          <a:xfrm>
            <a:off x="4340239" y="699312"/>
            <a:ext cx="2752840" cy="1706640"/>
            <a:chOff x="228600" y="2323686"/>
            <a:chExt cx="2752014" cy="1706811"/>
          </a:xfrm>
        </p:grpSpPr>
        <p:grpSp>
          <p:nvGrpSpPr>
            <p:cNvPr id="885" name="Google Shape;885;p54"/>
            <p:cNvGrpSpPr/>
            <p:nvPr/>
          </p:nvGrpSpPr>
          <p:grpSpPr>
            <a:xfrm>
              <a:off x="990353" y="2601747"/>
              <a:ext cx="1990261" cy="1428750"/>
              <a:chOff x="990353" y="2601747"/>
              <a:chExt cx="1990261" cy="1428750"/>
            </a:xfrm>
          </p:grpSpPr>
          <p:cxnSp>
            <p:nvCxnSpPr>
              <p:cNvPr id="886" name="Google Shape;886;p54"/>
              <p:cNvCxnSpPr/>
              <p:nvPr/>
            </p:nvCxnSpPr>
            <p:spPr>
              <a:xfrm rot="10800000">
                <a:off x="1263285" y="3447799"/>
                <a:ext cx="381000" cy="0"/>
              </a:xfrm>
              <a:prstGeom prst="straightConnector1">
                <a:avLst/>
              </a:prstGeom>
              <a:noFill/>
              <a:ln cap="flat" cmpd="sng" w="9525">
                <a:solidFill>
                  <a:srgbClr val="000000"/>
                </a:solidFill>
                <a:prstDash val="solid"/>
                <a:miter lim="800000"/>
                <a:headEnd len="sm" w="sm" type="none"/>
                <a:tailEnd len="sm" w="sm" type="none"/>
              </a:ln>
            </p:spPr>
          </p:cxnSp>
          <p:grpSp>
            <p:nvGrpSpPr>
              <p:cNvPr id="887" name="Google Shape;887;p54"/>
              <p:cNvGrpSpPr/>
              <p:nvPr/>
            </p:nvGrpSpPr>
            <p:grpSpPr>
              <a:xfrm>
                <a:off x="990353" y="2601747"/>
                <a:ext cx="1990261" cy="1428750"/>
                <a:chOff x="990353" y="2601747"/>
                <a:chExt cx="1990261" cy="1428750"/>
              </a:xfrm>
            </p:grpSpPr>
            <p:pic>
              <p:nvPicPr>
                <p:cNvPr id="888" name="Google Shape;888;p54"/>
                <p:cNvPicPr preferRelativeResize="0"/>
                <p:nvPr/>
              </p:nvPicPr>
              <p:blipFill rotWithShape="1">
                <a:blip r:embed="rId4">
                  <a:alphaModFix/>
                </a:blip>
                <a:srcRect b="0" l="0" r="0" t="0"/>
                <a:stretch/>
              </p:blipFill>
              <p:spPr>
                <a:xfrm>
                  <a:off x="1437564" y="2601747"/>
                  <a:ext cx="1543050" cy="1428750"/>
                </a:xfrm>
                <a:prstGeom prst="rect">
                  <a:avLst/>
                </a:prstGeom>
                <a:noFill/>
                <a:ln>
                  <a:noFill/>
                </a:ln>
              </p:spPr>
            </p:pic>
            <p:grpSp>
              <p:nvGrpSpPr>
                <p:cNvPr id="889" name="Google Shape;889;p54"/>
                <p:cNvGrpSpPr/>
                <p:nvPr/>
              </p:nvGrpSpPr>
              <p:grpSpPr>
                <a:xfrm>
                  <a:off x="1236304" y="2626943"/>
                  <a:ext cx="404806" cy="820800"/>
                  <a:chOff x="1236304" y="2626943"/>
                  <a:chExt cx="404806" cy="820800"/>
                </a:xfrm>
              </p:grpSpPr>
              <p:cxnSp>
                <p:nvCxnSpPr>
                  <p:cNvPr id="890" name="Google Shape;890;p54"/>
                  <p:cNvCxnSpPr/>
                  <p:nvPr/>
                </p:nvCxnSpPr>
                <p:spPr>
                  <a:xfrm>
                    <a:off x="1260208" y="2626943"/>
                    <a:ext cx="0" cy="820800"/>
                  </a:xfrm>
                  <a:prstGeom prst="straightConnector1">
                    <a:avLst/>
                  </a:prstGeom>
                  <a:noFill/>
                  <a:ln cap="flat" cmpd="sng" w="9525">
                    <a:solidFill>
                      <a:srgbClr val="000000"/>
                    </a:solidFill>
                    <a:prstDash val="solid"/>
                    <a:miter lim="800000"/>
                    <a:headEnd len="sm" w="sm" type="none"/>
                    <a:tailEnd len="sm" w="sm" type="none"/>
                  </a:ln>
                </p:spPr>
              </p:cxnSp>
              <p:cxnSp>
                <p:nvCxnSpPr>
                  <p:cNvPr id="891" name="Google Shape;891;p54"/>
                  <p:cNvCxnSpPr/>
                  <p:nvPr/>
                </p:nvCxnSpPr>
                <p:spPr>
                  <a:xfrm rot="10800000">
                    <a:off x="1236304" y="2895269"/>
                    <a:ext cx="381000" cy="0"/>
                  </a:xfrm>
                  <a:prstGeom prst="straightConnector1">
                    <a:avLst/>
                  </a:prstGeom>
                  <a:noFill/>
                  <a:ln cap="flat" cmpd="sng" w="9525">
                    <a:solidFill>
                      <a:srgbClr val="000000"/>
                    </a:solidFill>
                    <a:prstDash val="solid"/>
                    <a:miter lim="800000"/>
                    <a:headEnd len="sm" w="sm" type="none"/>
                    <a:tailEnd len="sm" w="sm" type="none"/>
                  </a:ln>
                </p:spPr>
              </p:cxnSp>
              <p:cxnSp>
                <p:nvCxnSpPr>
                  <p:cNvPr id="892" name="Google Shape;892;p54"/>
                  <p:cNvCxnSpPr/>
                  <p:nvPr/>
                </p:nvCxnSpPr>
                <p:spPr>
                  <a:xfrm rot="10800000">
                    <a:off x="1260110" y="3200113"/>
                    <a:ext cx="381000" cy="0"/>
                  </a:xfrm>
                  <a:prstGeom prst="straightConnector1">
                    <a:avLst/>
                  </a:prstGeom>
                  <a:noFill/>
                  <a:ln cap="flat" cmpd="sng" w="9525">
                    <a:solidFill>
                      <a:srgbClr val="000000"/>
                    </a:solidFill>
                    <a:prstDash val="solid"/>
                    <a:miter lim="800000"/>
                    <a:headEnd len="sm" w="sm" type="none"/>
                    <a:tailEnd len="sm" w="sm" type="none"/>
                  </a:ln>
                </p:spPr>
              </p:cxnSp>
            </p:grpSp>
            <p:cxnSp>
              <p:nvCxnSpPr>
                <p:cNvPr id="893" name="Google Shape;893;p54"/>
                <p:cNvCxnSpPr/>
                <p:nvPr/>
              </p:nvCxnSpPr>
              <p:spPr>
                <a:xfrm rot="10800000">
                  <a:off x="990353" y="3684372"/>
                  <a:ext cx="436500" cy="0"/>
                </a:xfrm>
                <a:prstGeom prst="straightConnector1">
                  <a:avLst/>
                </a:prstGeom>
                <a:noFill/>
                <a:ln cap="flat" cmpd="sng" w="9525">
                  <a:solidFill>
                    <a:srgbClr val="000000"/>
                  </a:solidFill>
                  <a:prstDash val="solid"/>
                  <a:miter lim="800000"/>
                  <a:headEnd len="sm" w="sm" type="none"/>
                  <a:tailEnd len="sm" w="sm" type="none"/>
                </a:ln>
              </p:spPr>
            </p:cxnSp>
          </p:grpSp>
        </p:grpSp>
        <p:sp>
          <p:nvSpPr>
            <p:cNvPr id="894" name="Google Shape;894;p54"/>
            <p:cNvSpPr txBox="1"/>
            <p:nvPr/>
          </p:nvSpPr>
          <p:spPr>
            <a:xfrm>
              <a:off x="386615" y="2562807"/>
              <a:ext cx="980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GND</a:t>
              </a:r>
              <a:endParaRPr i="0" sz="1400" u="none" cap="none" strike="noStrike">
                <a:solidFill>
                  <a:srgbClr val="000000"/>
                </a:solidFill>
                <a:latin typeface="Lexend"/>
                <a:ea typeface="Lexend"/>
                <a:cs typeface="Lexend"/>
                <a:sym typeface="Lexend"/>
              </a:endParaRPr>
            </a:p>
          </p:txBody>
        </p:sp>
        <p:sp>
          <p:nvSpPr>
            <p:cNvPr id="895" name="Google Shape;895;p54"/>
            <p:cNvSpPr txBox="1"/>
            <p:nvPr/>
          </p:nvSpPr>
          <p:spPr>
            <a:xfrm>
              <a:off x="228600" y="3479468"/>
              <a:ext cx="762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+5v</a:t>
              </a:r>
              <a:endParaRPr i="0" sz="1400" u="none" cap="none" strike="noStrike">
                <a:solidFill>
                  <a:srgbClr val="000000"/>
                </a:solidFill>
                <a:latin typeface="Lexend"/>
                <a:ea typeface="Lexend"/>
                <a:cs typeface="Lexend"/>
                <a:sym typeface="Lexend"/>
              </a:endParaRPr>
            </a:p>
          </p:txBody>
        </p:sp>
        <p:sp>
          <p:nvSpPr>
            <p:cNvPr id="896" name="Google Shape;896;p54"/>
            <p:cNvSpPr txBox="1"/>
            <p:nvPr/>
          </p:nvSpPr>
          <p:spPr>
            <a:xfrm>
              <a:off x="1807334" y="2323686"/>
              <a:ext cx="1011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AND</a:t>
              </a:r>
              <a:endParaRPr i="0" sz="1400" u="none" cap="none" strike="noStrike">
                <a:solidFill>
                  <a:srgbClr val="000000"/>
                </a:solidFill>
                <a:latin typeface="Lexend"/>
                <a:ea typeface="Lexend"/>
                <a:cs typeface="Lexend"/>
                <a:sym typeface="Lexend"/>
              </a:endParaRPr>
            </a:p>
          </p:txBody>
        </p:sp>
      </p:grpSp>
      <p:grpSp>
        <p:nvGrpSpPr>
          <p:cNvPr id="897" name="Google Shape;897;p54"/>
          <p:cNvGrpSpPr/>
          <p:nvPr/>
        </p:nvGrpSpPr>
        <p:grpSpPr>
          <a:xfrm>
            <a:off x="709995" y="3110394"/>
            <a:ext cx="3251176" cy="1428750"/>
            <a:chOff x="4464399" y="2608713"/>
            <a:chExt cx="3250851" cy="1428750"/>
          </a:xfrm>
        </p:grpSpPr>
        <p:grpSp>
          <p:nvGrpSpPr>
            <p:cNvPr id="898" name="Google Shape;898;p54"/>
            <p:cNvGrpSpPr/>
            <p:nvPr/>
          </p:nvGrpSpPr>
          <p:grpSpPr>
            <a:xfrm>
              <a:off x="5085087" y="2608713"/>
              <a:ext cx="2630163" cy="1428750"/>
              <a:chOff x="5085087" y="2608713"/>
              <a:chExt cx="2630163" cy="1428750"/>
            </a:xfrm>
          </p:grpSpPr>
          <p:pic>
            <p:nvPicPr>
              <p:cNvPr id="899" name="Google Shape;899;p54"/>
              <p:cNvPicPr preferRelativeResize="0"/>
              <p:nvPr/>
            </p:nvPicPr>
            <p:blipFill rotWithShape="1">
              <a:blip r:embed="rId4">
                <a:alphaModFix/>
              </a:blip>
              <a:srcRect b="0" l="0" r="0" t="0"/>
              <a:stretch/>
            </p:blipFill>
            <p:spPr>
              <a:xfrm>
                <a:off x="6172200" y="2608713"/>
                <a:ext cx="1543050" cy="1428750"/>
              </a:xfrm>
              <a:prstGeom prst="rect">
                <a:avLst/>
              </a:prstGeom>
              <a:noFill/>
              <a:ln>
                <a:noFill/>
              </a:ln>
            </p:spPr>
          </p:pic>
          <p:grpSp>
            <p:nvGrpSpPr>
              <p:cNvPr id="900" name="Google Shape;900;p54"/>
              <p:cNvGrpSpPr/>
              <p:nvPr/>
            </p:nvGrpSpPr>
            <p:grpSpPr>
              <a:xfrm>
                <a:off x="5085087" y="2921450"/>
                <a:ext cx="1288870" cy="804988"/>
                <a:chOff x="5085087" y="2921450"/>
                <a:chExt cx="1288870" cy="804988"/>
              </a:xfrm>
            </p:grpSpPr>
            <p:grpSp>
              <p:nvGrpSpPr>
                <p:cNvPr id="901" name="Google Shape;901;p54"/>
                <p:cNvGrpSpPr/>
                <p:nvPr/>
              </p:nvGrpSpPr>
              <p:grpSpPr>
                <a:xfrm>
                  <a:off x="5969146" y="3037338"/>
                  <a:ext cx="404811" cy="689100"/>
                  <a:chOff x="5969146" y="2758270"/>
                  <a:chExt cx="404811" cy="689100"/>
                </a:xfrm>
              </p:grpSpPr>
              <p:grpSp>
                <p:nvGrpSpPr>
                  <p:cNvPr id="902" name="Google Shape;902;p54"/>
                  <p:cNvGrpSpPr/>
                  <p:nvPr/>
                </p:nvGrpSpPr>
                <p:grpSpPr>
                  <a:xfrm>
                    <a:off x="5969146" y="2758270"/>
                    <a:ext cx="404811" cy="689100"/>
                    <a:chOff x="1236003" y="2758270"/>
                    <a:chExt cx="404811" cy="689100"/>
                  </a:xfrm>
                </p:grpSpPr>
                <p:cxnSp>
                  <p:nvCxnSpPr>
                    <p:cNvPr id="903" name="Google Shape;903;p54"/>
                    <p:cNvCxnSpPr/>
                    <p:nvPr/>
                  </p:nvCxnSpPr>
                  <p:spPr>
                    <a:xfrm>
                      <a:off x="1259855" y="2758270"/>
                      <a:ext cx="0" cy="689100"/>
                    </a:xfrm>
                    <a:prstGeom prst="straightConnector1">
                      <a:avLst/>
                    </a:prstGeom>
                    <a:noFill/>
                    <a:ln cap="flat" cmpd="sng" w="9525">
                      <a:solidFill>
                        <a:srgbClr val="000000"/>
                      </a:solidFill>
                      <a:prstDash val="solid"/>
                      <a:miter lim="800000"/>
                      <a:headEnd len="sm" w="sm" type="none"/>
                      <a:tailEnd len="sm" w="sm" type="none"/>
                    </a:ln>
                  </p:spPr>
                </p:cxnSp>
                <p:cxnSp>
                  <p:nvCxnSpPr>
                    <p:cNvPr id="904" name="Google Shape;904;p54"/>
                    <p:cNvCxnSpPr/>
                    <p:nvPr/>
                  </p:nvCxnSpPr>
                  <p:spPr>
                    <a:xfrm rot="10800000">
                      <a:off x="1236003" y="2896382"/>
                      <a:ext cx="381000" cy="0"/>
                    </a:xfrm>
                    <a:prstGeom prst="straightConnector1">
                      <a:avLst/>
                    </a:prstGeom>
                    <a:noFill/>
                    <a:ln cap="flat" cmpd="sng" w="9525">
                      <a:solidFill>
                        <a:srgbClr val="000000"/>
                      </a:solidFill>
                      <a:prstDash val="solid"/>
                      <a:miter lim="800000"/>
                      <a:headEnd len="sm" w="sm" type="none"/>
                      <a:tailEnd len="sm" w="sm" type="none"/>
                    </a:ln>
                  </p:spPr>
                </p:cxnSp>
                <p:cxnSp>
                  <p:nvCxnSpPr>
                    <p:cNvPr id="905" name="Google Shape;905;p54"/>
                    <p:cNvCxnSpPr/>
                    <p:nvPr/>
                  </p:nvCxnSpPr>
                  <p:spPr>
                    <a:xfrm rot="10800000">
                      <a:off x="1259814" y="3201182"/>
                      <a:ext cx="381000" cy="0"/>
                    </a:xfrm>
                    <a:prstGeom prst="straightConnector1">
                      <a:avLst/>
                    </a:prstGeom>
                    <a:noFill/>
                    <a:ln cap="flat" cmpd="sng" w="9525">
                      <a:solidFill>
                        <a:srgbClr val="000000"/>
                      </a:solidFill>
                      <a:prstDash val="solid"/>
                      <a:miter lim="800000"/>
                      <a:headEnd len="sm" w="sm" type="none"/>
                      <a:tailEnd len="sm" w="sm" type="none"/>
                    </a:ln>
                  </p:spPr>
                </p:cxnSp>
              </p:grpSp>
              <p:cxnSp>
                <p:nvCxnSpPr>
                  <p:cNvPr id="906" name="Google Shape;906;p54"/>
                  <p:cNvCxnSpPr/>
                  <p:nvPr/>
                </p:nvCxnSpPr>
                <p:spPr>
                  <a:xfrm rot="10800000">
                    <a:off x="5992957" y="3447245"/>
                    <a:ext cx="381000" cy="0"/>
                  </a:xfrm>
                  <a:prstGeom prst="straightConnector1">
                    <a:avLst/>
                  </a:prstGeom>
                  <a:noFill/>
                  <a:ln cap="flat" cmpd="sng" w="9525">
                    <a:solidFill>
                      <a:srgbClr val="000000"/>
                    </a:solidFill>
                    <a:prstDash val="solid"/>
                    <a:miter lim="800000"/>
                    <a:headEnd len="sm" w="sm" type="none"/>
                    <a:tailEnd len="sm" w="sm" type="none"/>
                  </a:ln>
                </p:spPr>
              </p:cxnSp>
            </p:grpSp>
            <p:cxnSp>
              <p:nvCxnSpPr>
                <p:cNvPr id="907" name="Google Shape;907;p54"/>
                <p:cNvCxnSpPr/>
                <p:nvPr/>
              </p:nvCxnSpPr>
              <p:spPr>
                <a:xfrm rot="10800000">
                  <a:off x="5723167" y="2921450"/>
                  <a:ext cx="436500" cy="0"/>
                </a:xfrm>
                <a:prstGeom prst="straightConnector1">
                  <a:avLst/>
                </a:prstGeom>
                <a:noFill/>
                <a:ln cap="flat" cmpd="sng" w="9525">
                  <a:solidFill>
                    <a:srgbClr val="000000"/>
                  </a:solidFill>
                  <a:prstDash val="solid"/>
                  <a:miter lim="800000"/>
                  <a:headEnd len="sm" w="sm" type="none"/>
                  <a:tailEnd len="sm" w="sm" type="none"/>
                </a:ln>
              </p:spPr>
            </p:cxnSp>
            <p:cxnSp>
              <p:nvCxnSpPr>
                <p:cNvPr id="908" name="Google Shape;908;p54"/>
                <p:cNvCxnSpPr/>
                <p:nvPr/>
              </p:nvCxnSpPr>
              <p:spPr>
                <a:xfrm rot="10800000">
                  <a:off x="5085087" y="3037338"/>
                  <a:ext cx="884100" cy="0"/>
                </a:xfrm>
                <a:prstGeom prst="straightConnector1">
                  <a:avLst/>
                </a:prstGeom>
                <a:noFill/>
                <a:ln cap="flat" cmpd="sng" w="9525">
                  <a:solidFill>
                    <a:srgbClr val="000000"/>
                  </a:solidFill>
                  <a:prstDash val="solid"/>
                  <a:miter lim="800000"/>
                  <a:headEnd len="sm" w="sm" type="none"/>
                  <a:tailEnd len="sm" w="sm" type="none"/>
                </a:ln>
              </p:spPr>
            </p:cxnSp>
          </p:grpSp>
        </p:grpSp>
        <p:sp>
          <p:nvSpPr>
            <p:cNvPr id="909" name="Google Shape;909;p54"/>
            <p:cNvSpPr txBox="1"/>
            <p:nvPr/>
          </p:nvSpPr>
          <p:spPr>
            <a:xfrm>
              <a:off x="5084610" y="2620562"/>
              <a:ext cx="948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GND</a:t>
              </a:r>
              <a:endParaRPr i="0" sz="1400" u="none" cap="none" strike="noStrike">
                <a:solidFill>
                  <a:srgbClr val="000000"/>
                </a:solidFill>
                <a:latin typeface="Lexend"/>
                <a:ea typeface="Lexend"/>
                <a:cs typeface="Lexend"/>
                <a:sym typeface="Lexend"/>
              </a:endParaRPr>
            </a:p>
          </p:txBody>
        </p:sp>
        <p:sp>
          <p:nvSpPr>
            <p:cNvPr id="910" name="Google Shape;910;p54"/>
            <p:cNvSpPr txBox="1"/>
            <p:nvPr/>
          </p:nvSpPr>
          <p:spPr>
            <a:xfrm>
              <a:off x="4464399" y="2909064"/>
              <a:ext cx="736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+5v</a:t>
              </a:r>
              <a:endParaRPr i="0" sz="1400" u="none" cap="none" strike="noStrike">
                <a:solidFill>
                  <a:srgbClr val="000000"/>
                </a:solidFill>
                <a:latin typeface="Lexend"/>
                <a:ea typeface="Lexend"/>
                <a:cs typeface="Lexend"/>
                <a:sym typeface="Lexend"/>
              </a:endParaRPr>
            </a:p>
          </p:txBody>
        </p:sp>
      </p:grpSp>
      <p:sp>
        <p:nvSpPr>
          <p:cNvPr id="911" name="Google Shape;911;p54"/>
          <p:cNvSpPr txBox="1"/>
          <p:nvPr/>
        </p:nvSpPr>
        <p:spPr>
          <a:xfrm>
            <a:off x="2765842" y="2826232"/>
            <a:ext cx="719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OR</a:t>
            </a:r>
            <a:endParaRPr i="0" sz="1400" u="none" cap="none" strike="noStrike">
              <a:solidFill>
                <a:srgbClr val="000000"/>
              </a:solidFill>
              <a:latin typeface="Lexend"/>
              <a:ea typeface="Lexend"/>
              <a:cs typeface="Lexend"/>
              <a:sym typeface="Lexend"/>
            </a:endParaRPr>
          </a:p>
        </p:txBody>
      </p:sp>
      <p:pic>
        <p:nvPicPr>
          <p:cNvPr id="912" name="Google Shape;912;p54"/>
          <p:cNvPicPr preferRelativeResize="0"/>
          <p:nvPr/>
        </p:nvPicPr>
        <p:blipFill rotWithShape="1">
          <a:blip r:embed="rId4">
            <a:alphaModFix/>
          </a:blip>
          <a:srcRect b="0" l="0" r="0" t="0"/>
          <a:stretch/>
        </p:blipFill>
        <p:spPr>
          <a:xfrm>
            <a:off x="6769103" y="3102906"/>
            <a:ext cx="1543050" cy="1428750"/>
          </a:xfrm>
          <a:prstGeom prst="rect">
            <a:avLst/>
          </a:prstGeom>
          <a:noFill/>
          <a:ln>
            <a:noFill/>
          </a:ln>
        </p:spPr>
      </p:pic>
      <p:cxnSp>
        <p:nvCxnSpPr>
          <p:cNvPr id="913" name="Google Shape;913;p54"/>
          <p:cNvCxnSpPr/>
          <p:nvPr/>
        </p:nvCxnSpPr>
        <p:spPr>
          <a:xfrm rot="10800000">
            <a:off x="5788104" y="3407706"/>
            <a:ext cx="981000" cy="0"/>
          </a:xfrm>
          <a:prstGeom prst="straightConnector1">
            <a:avLst/>
          </a:prstGeom>
          <a:noFill/>
          <a:ln cap="flat" cmpd="sng" w="9525">
            <a:solidFill>
              <a:srgbClr val="000000"/>
            </a:solidFill>
            <a:prstDash val="solid"/>
            <a:miter lim="800000"/>
            <a:headEnd len="sm" w="sm" type="none"/>
            <a:tailEnd len="sm" w="sm" type="none"/>
          </a:ln>
        </p:spPr>
      </p:cxnSp>
      <p:cxnSp>
        <p:nvCxnSpPr>
          <p:cNvPr id="914" name="Google Shape;914;p54"/>
          <p:cNvCxnSpPr/>
          <p:nvPr/>
        </p:nvCxnSpPr>
        <p:spPr>
          <a:xfrm rot="10800000">
            <a:off x="5787992" y="4169706"/>
            <a:ext cx="1071600" cy="0"/>
          </a:xfrm>
          <a:prstGeom prst="straightConnector1">
            <a:avLst/>
          </a:prstGeom>
          <a:noFill/>
          <a:ln cap="flat" cmpd="sng" w="9525">
            <a:solidFill>
              <a:srgbClr val="000000"/>
            </a:solidFill>
            <a:prstDash val="solid"/>
            <a:miter lim="800000"/>
            <a:headEnd len="sm" w="sm" type="none"/>
            <a:tailEnd len="sm" w="sm" type="none"/>
          </a:ln>
        </p:spPr>
      </p:cxnSp>
      <p:cxnSp>
        <p:nvCxnSpPr>
          <p:cNvPr id="915" name="Google Shape;915;p54"/>
          <p:cNvCxnSpPr/>
          <p:nvPr/>
        </p:nvCxnSpPr>
        <p:spPr>
          <a:xfrm rot="10800000">
            <a:off x="6535741" y="3712506"/>
            <a:ext cx="381000" cy="0"/>
          </a:xfrm>
          <a:prstGeom prst="straightConnector1">
            <a:avLst/>
          </a:prstGeom>
          <a:noFill/>
          <a:ln cap="flat" cmpd="sng" w="9525">
            <a:solidFill>
              <a:srgbClr val="000000"/>
            </a:solidFill>
            <a:prstDash val="solid"/>
            <a:miter lim="800000"/>
            <a:headEnd len="sm" w="sm" type="none"/>
            <a:tailEnd len="sm" w="sm" type="none"/>
          </a:ln>
        </p:spPr>
      </p:cxnSp>
      <p:cxnSp>
        <p:nvCxnSpPr>
          <p:cNvPr id="916" name="Google Shape;916;p54"/>
          <p:cNvCxnSpPr/>
          <p:nvPr/>
        </p:nvCxnSpPr>
        <p:spPr>
          <a:xfrm rot="10800000">
            <a:off x="6451603" y="3941106"/>
            <a:ext cx="381000" cy="0"/>
          </a:xfrm>
          <a:prstGeom prst="straightConnector1">
            <a:avLst/>
          </a:prstGeom>
          <a:noFill/>
          <a:ln cap="flat" cmpd="sng" w="9525">
            <a:solidFill>
              <a:srgbClr val="000000"/>
            </a:solidFill>
            <a:prstDash val="solid"/>
            <a:miter lim="800000"/>
            <a:headEnd len="sm" w="sm" type="none"/>
            <a:tailEnd len="sm" w="sm" type="none"/>
          </a:ln>
        </p:spPr>
      </p:cxnSp>
      <p:sp>
        <p:nvSpPr>
          <p:cNvPr id="917" name="Google Shape;917;p54"/>
          <p:cNvSpPr txBox="1"/>
          <p:nvPr/>
        </p:nvSpPr>
        <p:spPr>
          <a:xfrm>
            <a:off x="5000628" y="3941107"/>
            <a:ext cx="979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GND</a:t>
            </a:r>
            <a:endParaRPr i="0" sz="1400" u="none" cap="none" strike="noStrike">
              <a:solidFill>
                <a:srgbClr val="000000"/>
              </a:solidFill>
              <a:latin typeface="Lexend"/>
              <a:ea typeface="Lexend"/>
              <a:cs typeface="Lexend"/>
              <a:sym typeface="Lexend"/>
            </a:endParaRPr>
          </a:p>
        </p:txBody>
      </p:sp>
      <p:sp>
        <p:nvSpPr>
          <p:cNvPr id="918" name="Google Shape;918;p54"/>
          <p:cNvSpPr txBox="1"/>
          <p:nvPr/>
        </p:nvSpPr>
        <p:spPr>
          <a:xfrm>
            <a:off x="5226053" y="3177520"/>
            <a:ext cx="762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+5v</a:t>
            </a:r>
            <a:endParaRPr i="0" sz="1400" u="none" cap="none" strike="noStrike">
              <a:solidFill>
                <a:srgbClr val="000000"/>
              </a:solidFill>
              <a:latin typeface="Lexend"/>
              <a:ea typeface="Lexend"/>
              <a:cs typeface="Lexend"/>
              <a:sym typeface="Lexend"/>
            </a:endParaRPr>
          </a:p>
        </p:txBody>
      </p:sp>
      <p:sp>
        <p:nvSpPr>
          <p:cNvPr id="919" name="Google Shape;919;p54"/>
          <p:cNvSpPr txBox="1"/>
          <p:nvPr/>
        </p:nvSpPr>
        <p:spPr>
          <a:xfrm>
            <a:off x="7169154" y="2826682"/>
            <a:ext cx="1006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NOT</a:t>
            </a:r>
            <a:endParaRPr i="0" sz="1400" u="none" cap="none" strike="noStrike">
              <a:solidFill>
                <a:srgbClr val="000000"/>
              </a:solidFill>
              <a:latin typeface="Lexend"/>
              <a:ea typeface="Lexend"/>
              <a:cs typeface="Lexend"/>
              <a:sym typeface="Lexend"/>
            </a:endParaRPr>
          </a:p>
        </p:txBody>
      </p:sp>
      <p:sp>
        <p:nvSpPr>
          <p:cNvPr id="920" name="Google Shape;920;p54"/>
          <p:cNvSpPr txBox="1"/>
          <p:nvPr/>
        </p:nvSpPr>
        <p:spPr>
          <a:xfrm>
            <a:off x="6181728" y="3401356"/>
            <a:ext cx="3048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p:txBody>
      </p:sp>
      <p:sp>
        <p:nvSpPr>
          <p:cNvPr id="921" name="Google Shape;921;p54"/>
          <p:cNvSpPr txBox="1"/>
          <p:nvPr/>
        </p:nvSpPr>
        <p:spPr>
          <a:xfrm>
            <a:off x="5919980" y="2420925"/>
            <a:ext cx="1071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  B</a:t>
            </a:r>
            <a:endParaRPr i="0" sz="1400" u="none" cap="none" strike="noStrike">
              <a:solidFill>
                <a:srgbClr val="000000"/>
              </a:solidFill>
              <a:latin typeface="Lexend"/>
              <a:ea typeface="Lexend"/>
              <a:cs typeface="Lexend"/>
              <a:sym typeface="Lexend"/>
            </a:endParaRPr>
          </a:p>
        </p:txBody>
      </p:sp>
      <p:sp>
        <p:nvSpPr>
          <p:cNvPr id="922" name="Google Shape;922;p54"/>
          <p:cNvSpPr txBox="1"/>
          <p:nvPr/>
        </p:nvSpPr>
        <p:spPr>
          <a:xfrm>
            <a:off x="2765855" y="4470450"/>
            <a:ext cx="1071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  B</a:t>
            </a:r>
            <a:endParaRPr i="0" sz="1400" u="none" cap="none" strike="noStrike">
              <a:solidFill>
                <a:srgbClr val="000000"/>
              </a:solidFill>
              <a:latin typeface="Lexend"/>
              <a:ea typeface="Lexend"/>
              <a:cs typeface="Lexend"/>
              <a:sym typeface="Lexend"/>
            </a:endParaRPr>
          </a:p>
        </p:txBody>
      </p:sp>
      <p:sp>
        <p:nvSpPr>
          <p:cNvPr id="923" name="Google Shape;923;p54"/>
          <p:cNvSpPr txBox="1"/>
          <p:nvPr/>
        </p:nvSpPr>
        <p:spPr>
          <a:xfrm>
            <a:off x="7285080" y="4539150"/>
            <a:ext cx="1071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a:t>
            </a:r>
            <a:endParaRPr i="0" sz="1400" u="none" cap="none" strike="noStrike">
              <a:solidFill>
                <a:srgbClr val="000000"/>
              </a:solidFill>
              <a:latin typeface="Lexend"/>
              <a:ea typeface="Lexend"/>
              <a:cs typeface="Lexend"/>
              <a:sym typeface="Lexend"/>
            </a:endParaRPr>
          </a:p>
        </p:txBody>
      </p:sp>
      <p:cxnSp>
        <p:nvCxnSpPr>
          <p:cNvPr id="924" name="Google Shape;924;p54"/>
          <p:cNvCxnSpPr/>
          <p:nvPr/>
        </p:nvCxnSpPr>
        <p:spPr>
          <a:xfrm rot="10800000">
            <a:off x="7330375" y="4531650"/>
            <a:ext cx="358200" cy="0"/>
          </a:xfrm>
          <a:prstGeom prst="straightConnector1">
            <a:avLst/>
          </a:prstGeom>
          <a:noFill/>
          <a:ln cap="flat" cmpd="sng" w="9525">
            <a:solidFill>
              <a:srgbClr val="000000"/>
            </a:solidFill>
            <a:prstDash val="solid"/>
            <a:miter lim="800000"/>
            <a:headEnd len="sm" w="sm" type="none"/>
            <a:tailEnd len="sm" w="sm" type="none"/>
          </a:ln>
        </p:spPr>
      </p:cxnSp>
      <p:cxnSp>
        <p:nvCxnSpPr>
          <p:cNvPr id="925" name="Google Shape;925;p54"/>
          <p:cNvCxnSpPr/>
          <p:nvPr/>
        </p:nvCxnSpPr>
        <p:spPr>
          <a:xfrm rot="10800000">
            <a:off x="7502350" y="4531650"/>
            <a:ext cx="0" cy="103500"/>
          </a:xfrm>
          <a:prstGeom prst="straightConnector1">
            <a:avLst/>
          </a:prstGeom>
          <a:noFill/>
          <a:ln cap="flat" cmpd="sng" w="9525">
            <a:solidFill>
              <a:srgbClr val="000000"/>
            </a:solidFill>
            <a:prstDash val="solid"/>
            <a:miter lim="800000"/>
            <a:headEnd len="sm" w="sm" type="none"/>
            <a:tailEnd len="sm" w="sm" type="non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5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31" name="Google Shape;931;p5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32" name="Google Shape;932;p5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33" name="Google Shape;933;p55"/>
          <p:cNvSpPr txBox="1"/>
          <p:nvPr/>
        </p:nvSpPr>
        <p:spPr>
          <a:xfrm>
            <a:off x="256650" y="972850"/>
            <a:ext cx="8428500" cy="1754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a)Build the following function using 8x1 Mux.</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F(A,B,C)=∑(0,4,5)</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b)Design same thing with 3x8 decoder</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c) Try designing it with single 4x1 Mux</a:t>
            </a:r>
            <a:endParaRPr sz="2000">
              <a:solidFill>
                <a:schemeClr val="dk1"/>
              </a:solidFill>
              <a:latin typeface="Lexend"/>
              <a:ea typeface="Lexend"/>
              <a:cs typeface="Lexend"/>
              <a:sym typeface="Lexend"/>
            </a:endParaRPr>
          </a:p>
        </p:txBody>
      </p:sp>
      <p:grpSp>
        <p:nvGrpSpPr>
          <p:cNvPr id="934" name="Google Shape;934;p55"/>
          <p:cNvGrpSpPr/>
          <p:nvPr/>
        </p:nvGrpSpPr>
        <p:grpSpPr>
          <a:xfrm>
            <a:off x="50480" y="122879"/>
            <a:ext cx="277873" cy="68400"/>
            <a:chOff x="411700" y="2416840"/>
            <a:chExt cx="277873" cy="68400"/>
          </a:xfrm>
        </p:grpSpPr>
        <p:sp>
          <p:nvSpPr>
            <p:cNvPr id="935" name="Google Shape;935;p5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6" name="Google Shape;936;p5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7" name="Google Shape;937;p5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38" name="Google Shape;938;p55"/>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Try it yourself</a:t>
            </a:r>
            <a:endParaRPr sz="4400">
              <a:solidFill>
                <a:schemeClr val="dk1"/>
              </a:solidFill>
              <a:latin typeface="Calibri"/>
              <a:ea typeface="Calibri"/>
              <a:cs typeface="Calibri"/>
              <a:sym typeface="Calibri"/>
            </a:endParaRPr>
          </a:p>
        </p:txBody>
      </p:sp>
      <p:sp>
        <p:nvSpPr>
          <p:cNvPr id="939" name="Google Shape;939;p5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940" name="Google Shape;940;p5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5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46" name="Google Shape;946;p5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47" name="Google Shape;947;p5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48" name="Google Shape;948;p56"/>
          <p:cNvSpPr txBox="1"/>
          <p:nvPr/>
        </p:nvSpPr>
        <p:spPr>
          <a:xfrm>
            <a:off x="256650" y="9728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F=∑(0,4,5)</a:t>
            </a:r>
            <a:endParaRPr sz="2000">
              <a:solidFill>
                <a:schemeClr val="dk1"/>
              </a:solidFill>
              <a:latin typeface="Lexend"/>
              <a:ea typeface="Lexend"/>
              <a:cs typeface="Lexend"/>
              <a:sym typeface="Lexend"/>
            </a:endParaRPr>
          </a:p>
        </p:txBody>
      </p:sp>
      <p:grpSp>
        <p:nvGrpSpPr>
          <p:cNvPr id="949" name="Google Shape;949;p56"/>
          <p:cNvGrpSpPr/>
          <p:nvPr/>
        </p:nvGrpSpPr>
        <p:grpSpPr>
          <a:xfrm>
            <a:off x="50480" y="122879"/>
            <a:ext cx="277873" cy="68400"/>
            <a:chOff x="411700" y="2416840"/>
            <a:chExt cx="277873" cy="68400"/>
          </a:xfrm>
        </p:grpSpPr>
        <p:sp>
          <p:nvSpPr>
            <p:cNvPr id="950" name="Google Shape;950;p5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1" name="Google Shape;951;p5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2" name="Google Shape;952;p5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53" name="Google Shape;953;p56"/>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3600">
              <a:solidFill>
                <a:schemeClr val="dk1"/>
              </a:solidFill>
              <a:latin typeface="Lexend"/>
              <a:ea typeface="Lexend"/>
              <a:cs typeface="Lexend"/>
              <a:sym typeface="Lexend"/>
            </a:endParaRPr>
          </a:p>
        </p:txBody>
      </p:sp>
      <p:sp>
        <p:nvSpPr>
          <p:cNvPr id="954" name="Google Shape;954;p5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955" name="Google Shape;955;p5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956" name="Google Shape;956;p56"/>
          <p:cNvGrpSpPr/>
          <p:nvPr/>
        </p:nvGrpSpPr>
        <p:grpSpPr>
          <a:xfrm>
            <a:off x="710914" y="1838176"/>
            <a:ext cx="3128975" cy="2405063"/>
            <a:chOff x="533388" y="2724150"/>
            <a:chExt cx="3128975" cy="2405063"/>
          </a:xfrm>
        </p:grpSpPr>
        <p:pic>
          <p:nvPicPr>
            <p:cNvPr id="957" name="Google Shape;957;p56"/>
            <p:cNvPicPr preferRelativeResize="0"/>
            <p:nvPr/>
          </p:nvPicPr>
          <p:blipFill rotWithShape="1">
            <a:blip r:embed="rId4">
              <a:alphaModFix/>
            </a:blip>
            <a:srcRect b="0" l="0" r="0" t="0"/>
            <a:stretch/>
          </p:blipFill>
          <p:spPr>
            <a:xfrm>
              <a:off x="1528763" y="2724150"/>
              <a:ext cx="2133600" cy="2405063"/>
            </a:xfrm>
            <a:prstGeom prst="rect">
              <a:avLst/>
            </a:prstGeom>
            <a:noFill/>
            <a:ln>
              <a:noFill/>
            </a:ln>
          </p:spPr>
        </p:pic>
        <p:grpSp>
          <p:nvGrpSpPr>
            <p:cNvPr id="958" name="Google Shape;958;p56"/>
            <p:cNvGrpSpPr/>
            <p:nvPr/>
          </p:nvGrpSpPr>
          <p:grpSpPr>
            <a:xfrm>
              <a:off x="533388" y="2935427"/>
              <a:ext cx="1133469" cy="1909882"/>
              <a:chOff x="2286000" y="3124200"/>
              <a:chExt cx="1134036" cy="1909500"/>
            </a:xfrm>
          </p:grpSpPr>
          <p:cxnSp>
            <p:nvCxnSpPr>
              <p:cNvPr id="959" name="Google Shape;959;p56"/>
              <p:cNvCxnSpPr/>
              <p:nvPr/>
            </p:nvCxnSpPr>
            <p:spPr>
              <a:xfrm rot="10800000">
                <a:off x="2438436" y="3124200"/>
                <a:ext cx="981600" cy="0"/>
              </a:xfrm>
              <a:prstGeom prst="straightConnector1">
                <a:avLst/>
              </a:prstGeom>
              <a:noFill/>
              <a:ln cap="flat" cmpd="sng" w="9525">
                <a:solidFill>
                  <a:srgbClr val="5B9BD5"/>
                </a:solidFill>
                <a:prstDash val="solid"/>
                <a:miter lim="800000"/>
                <a:headEnd len="sm" w="sm" type="none"/>
                <a:tailEnd len="sm" w="sm" type="none"/>
              </a:ln>
            </p:spPr>
          </p:cxnSp>
          <p:cxnSp>
            <p:nvCxnSpPr>
              <p:cNvPr id="960" name="Google Shape;960;p56"/>
              <p:cNvCxnSpPr/>
              <p:nvPr/>
            </p:nvCxnSpPr>
            <p:spPr>
              <a:xfrm rot="10800000">
                <a:off x="2438436" y="3886081"/>
                <a:ext cx="981600" cy="0"/>
              </a:xfrm>
              <a:prstGeom prst="straightConnector1">
                <a:avLst/>
              </a:prstGeom>
              <a:noFill/>
              <a:ln cap="flat" cmpd="sng" w="9525">
                <a:solidFill>
                  <a:srgbClr val="5B9BD5"/>
                </a:solidFill>
                <a:prstDash val="solid"/>
                <a:miter lim="800000"/>
                <a:headEnd len="sm" w="sm" type="none"/>
                <a:tailEnd len="sm" w="sm" type="none"/>
              </a:ln>
            </p:spPr>
          </p:cxnSp>
          <p:cxnSp>
            <p:nvCxnSpPr>
              <p:cNvPr id="961" name="Google Shape;961;p56"/>
              <p:cNvCxnSpPr/>
              <p:nvPr/>
            </p:nvCxnSpPr>
            <p:spPr>
              <a:xfrm rot="10800000">
                <a:off x="2438436" y="4119407"/>
                <a:ext cx="981600" cy="0"/>
              </a:xfrm>
              <a:prstGeom prst="straightConnector1">
                <a:avLst/>
              </a:prstGeom>
              <a:noFill/>
              <a:ln cap="flat" cmpd="sng" w="9525">
                <a:solidFill>
                  <a:srgbClr val="5B9BD5"/>
                </a:solidFill>
                <a:prstDash val="solid"/>
                <a:miter lim="800000"/>
                <a:headEnd len="sm" w="sm" type="none"/>
                <a:tailEnd len="sm" w="sm" type="none"/>
              </a:ln>
            </p:spPr>
          </p:cxnSp>
          <p:cxnSp>
            <p:nvCxnSpPr>
              <p:cNvPr id="962" name="Google Shape;962;p56"/>
              <p:cNvCxnSpPr/>
              <p:nvPr/>
            </p:nvCxnSpPr>
            <p:spPr>
              <a:xfrm>
                <a:off x="2438475" y="3124200"/>
                <a:ext cx="0" cy="1371300"/>
              </a:xfrm>
              <a:prstGeom prst="straightConnector1">
                <a:avLst/>
              </a:prstGeom>
              <a:noFill/>
              <a:ln cap="flat" cmpd="sng" w="9525">
                <a:solidFill>
                  <a:srgbClr val="5B9BD5"/>
                </a:solidFill>
                <a:prstDash val="solid"/>
                <a:miter lim="800000"/>
                <a:headEnd len="sm" w="sm" type="none"/>
                <a:tailEnd len="sm" w="sm" type="none"/>
              </a:ln>
            </p:spPr>
          </p:cxnSp>
          <p:sp>
            <p:nvSpPr>
              <p:cNvPr id="963" name="Google Shape;963;p56"/>
              <p:cNvSpPr txBox="1"/>
              <p:nvPr/>
            </p:nvSpPr>
            <p:spPr>
              <a:xfrm>
                <a:off x="2286000" y="4572000"/>
                <a:ext cx="990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5V</a:t>
                </a:r>
                <a:endParaRPr i="0" sz="1400" u="none" cap="none" strike="noStrike">
                  <a:solidFill>
                    <a:srgbClr val="000000"/>
                  </a:solidFill>
                  <a:latin typeface="Lexend"/>
                  <a:ea typeface="Lexend"/>
                  <a:cs typeface="Lexend"/>
                  <a:sym typeface="Lexend"/>
                </a:endParaRPr>
              </a:p>
            </p:txBody>
          </p:sp>
        </p:grpSp>
      </p:grpSp>
      <p:sp>
        <p:nvSpPr>
          <p:cNvPr id="964" name="Google Shape;964;p56"/>
          <p:cNvSpPr txBox="1"/>
          <p:nvPr/>
        </p:nvSpPr>
        <p:spPr>
          <a:xfrm>
            <a:off x="328339" y="1598463"/>
            <a:ext cx="458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000" u="none" cap="none" strike="noStrike">
                <a:solidFill>
                  <a:srgbClr val="000000"/>
                </a:solidFill>
                <a:latin typeface="Lexend"/>
                <a:ea typeface="Lexend"/>
                <a:cs typeface="Lexend"/>
                <a:sym typeface="Lexend"/>
              </a:rPr>
              <a:t>a)</a:t>
            </a:r>
            <a:endParaRPr i="0" sz="1000" u="none" cap="none" strike="noStrike">
              <a:solidFill>
                <a:srgbClr val="000000"/>
              </a:solidFill>
              <a:latin typeface="Lexend"/>
              <a:ea typeface="Lexend"/>
              <a:cs typeface="Lexend"/>
              <a:sym typeface="Lexend"/>
            </a:endParaRPr>
          </a:p>
        </p:txBody>
      </p:sp>
      <p:sp>
        <p:nvSpPr>
          <p:cNvPr id="965" name="Google Shape;965;p56"/>
          <p:cNvSpPr txBox="1"/>
          <p:nvPr/>
        </p:nvSpPr>
        <p:spPr>
          <a:xfrm>
            <a:off x="4072300" y="1525863"/>
            <a:ext cx="5334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200" u="none" cap="none" strike="noStrike">
                <a:solidFill>
                  <a:srgbClr val="000000"/>
                </a:solidFill>
                <a:latin typeface="Lexend"/>
                <a:ea typeface="Lexend"/>
                <a:cs typeface="Lexend"/>
                <a:sym typeface="Lexend"/>
              </a:rPr>
              <a:t>b)</a:t>
            </a:r>
            <a:endParaRPr i="0" sz="1200" u="none" cap="none" strike="noStrike">
              <a:solidFill>
                <a:srgbClr val="000000"/>
              </a:solidFill>
              <a:latin typeface="Lexend"/>
              <a:ea typeface="Lexend"/>
              <a:cs typeface="Lexend"/>
              <a:sym typeface="Lexend"/>
            </a:endParaRPr>
          </a:p>
        </p:txBody>
      </p:sp>
      <p:pic>
        <p:nvPicPr>
          <p:cNvPr id="966" name="Google Shape;966;p56"/>
          <p:cNvPicPr preferRelativeResize="0"/>
          <p:nvPr/>
        </p:nvPicPr>
        <p:blipFill rotWithShape="1">
          <a:blip r:embed="rId5">
            <a:alphaModFix/>
          </a:blip>
          <a:srcRect b="0" l="0" r="0" t="0"/>
          <a:stretch/>
        </p:blipFill>
        <p:spPr>
          <a:xfrm>
            <a:off x="4567675" y="1683112"/>
            <a:ext cx="4576318" cy="22652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5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72" name="Google Shape;972;p5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73" name="Google Shape;973;p5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74" name="Google Shape;974;p57"/>
          <p:cNvSpPr txBox="1"/>
          <p:nvPr/>
        </p:nvSpPr>
        <p:spPr>
          <a:xfrm>
            <a:off x="247825" y="829025"/>
            <a:ext cx="8428500" cy="2973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two minterms in a column are not circled, apply 0 to the corresponding multiplexer input.</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two minterms are circled, apply 1 to the corresponding multiplexer input.</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bottom minterm is circled and the top is not circled, apply A to the corresponding multiplexer input.</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If the top minterm is circled and the bottom is not circled, apply A' to the corresponding multiplexer input.</a:t>
            </a:r>
            <a:endParaRPr sz="2200">
              <a:solidFill>
                <a:schemeClr val="dk1"/>
              </a:solidFill>
              <a:latin typeface="Lexend"/>
              <a:ea typeface="Lexend"/>
              <a:cs typeface="Lexend"/>
              <a:sym typeface="Lexend"/>
            </a:endParaRPr>
          </a:p>
        </p:txBody>
      </p:sp>
      <p:grpSp>
        <p:nvGrpSpPr>
          <p:cNvPr id="975" name="Google Shape;975;p57"/>
          <p:cNvGrpSpPr/>
          <p:nvPr/>
        </p:nvGrpSpPr>
        <p:grpSpPr>
          <a:xfrm>
            <a:off x="50480" y="122879"/>
            <a:ext cx="277873" cy="68400"/>
            <a:chOff x="411700" y="2416840"/>
            <a:chExt cx="277873" cy="68400"/>
          </a:xfrm>
        </p:grpSpPr>
        <p:sp>
          <p:nvSpPr>
            <p:cNvPr id="976" name="Google Shape;976;p5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7" name="Google Shape;977;p5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8" name="Google Shape;978;p5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79" name="Google Shape;979;p57"/>
          <p:cNvSpPr txBox="1"/>
          <p:nvPr/>
        </p:nvSpPr>
        <p:spPr>
          <a:xfrm>
            <a:off x="209775" y="163775"/>
            <a:ext cx="90459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2500">
                <a:solidFill>
                  <a:schemeClr val="dk1"/>
                </a:solidFill>
                <a:latin typeface="Lexend"/>
                <a:ea typeface="Lexend"/>
                <a:cs typeface="Lexend"/>
                <a:sym typeface="Lexend"/>
              </a:rPr>
              <a:t>Rules: for using smaller mux to build larger equation</a:t>
            </a:r>
            <a:endParaRPr sz="2500">
              <a:solidFill>
                <a:schemeClr val="dk1"/>
              </a:solidFill>
              <a:latin typeface="Lexend"/>
              <a:ea typeface="Lexend"/>
              <a:cs typeface="Lexend"/>
              <a:sym typeface="Lexend"/>
            </a:endParaRPr>
          </a:p>
        </p:txBody>
      </p:sp>
      <p:sp>
        <p:nvSpPr>
          <p:cNvPr id="980" name="Google Shape;980;p5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981" name="Google Shape;981;p5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58"/>
          <p:cNvSpPr/>
          <p:nvPr/>
        </p:nvSpPr>
        <p:spPr>
          <a:xfrm>
            <a:off x="0" y="1015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87" name="Google Shape;987;p5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88" name="Google Shape;988;p5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89" name="Google Shape;989;p58"/>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990" name="Google Shape;990;p58"/>
          <p:cNvGrpSpPr/>
          <p:nvPr/>
        </p:nvGrpSpPr>
        <p:grpSpPr>
          <a:xfrm>
            <a:off x="50480" y="122879"/>
            <a:ext cx="277873" cy="68400"/>
            <a:chOff x="411700" y="2416840"/>
            <a:chExt cx="277873" cy="68400"/>
          </a:xfrm>
        </p:grpSpPr>
        <p:sp>
          <p:nvSpPr>
            <p:cNvPr id="991" name="Google Shape;991;p5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2" name="Google Shape;992;p5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3" name="Google Shape;993;p5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94" name="Google Shape;994;p5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Solution </a:t>
            </a:r>
            <a:endParaRPr sz="3600">
              <a:solidFill>
                <a:schemeClr val="dk1"/>
              </a:solidFill>
              <a:latin typeface="Lexend"/>
              <a:ea typeface="Lexend"/>
              <a:cs typeface="Lexend"/>
              <a:sym typeface="Lexend"/>
            </a:endParaRPr>
          </a:p>
        </p:txBody>
      </p:sp>
      <p:sp>
        <p:nvSpPr>
          <p:cNvPr id="995" name="Google Shape;995;p5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996" name="Google Shape;996;p5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997" name="Google Shape;997;p58"/>
          <p:cNvGrpSpPr/>
          <p:nvPr/>
        </p:nvGrpSpPr>
        <p:grpSpPr>
          <a:xfrm>
            <a:off x="1093601" y="2094990"/>
            <a:ext cx="2524125" cy="1533982"/>
            <a:chOff x="3307662" y="4581525"/>
            <a:chExt cx="2524125" cy="1533675"/>
          </a:xfrm>
        </p:grpSpPr>
        <p:grpSp>
          <p:nvGrpSpPr>
            <p:cNvPr id="998" name="Google Shape;998;p58"/>
            <p:cNvGrpSpPr/>
            <p:nvPr/>
          </p:nvGrpSpPr>
          <p:grpSpPr>
            <a:xfrm>
              <a:off x="3307662" y="4581525"/>
              <a:ext cx="2524125" cy="1514475"/>
              <a:chOff x="3307662" y="4581525"/>
              <a:chExt cx="2524125" cy="1514475"/>
            </a:xfrm>
          </p:grpSpPr>
          <p:pic>
            <p:nvPicPr>
              <p:cNvPr id="999" name="Google Shape;999;p58"/>
              <p:cNvPicPr preferRelativeResize="0"/>
              <p:nvPr/>
            </p:nvPicPr>
            <p:blipFill rotWithShape="1">
              <a:blip r:embed="rId4">
                <a:alphaModFix/>
              </a:blip>
              <a:srcRect b="0" l="0" r="0" t="0"/>
              <a:stretch/>
            </p:blipFill>
            <p:spPr>
              <a:xfrm>
                <a:off x="3307662" y="4581525"/>
                <a:ext cx="2524125" cy="1514475"/>
              </a:xfrm>
              <a:prstGeom prst="rect">
                <a:avLst/>
              </a:prstGeom>
              <a:noFill/>
              <a:ln>
                <a:noFill/>
              </a:ln>
            </p:spPr>
          </p:pic>
          <p:sp>
            <p:nvSpPr>
              <p:cNvPr id="1000" name="Google Shape;1000;p58"/>
              <p:cNvSpPr/>
              <p:nvPr/>
            </p:nvSpPr>
            <p:spPr>
              <a:xfrm>
                <a:off x="3961712" y="5029117"/>
                <a:ext cx="152400" cy="228600"/>
              </a:xfrm>
              <a:prstGeom prst="ellipse">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01" name="Google Shape;1001;p58"/>
              <p:cNvSpPr/>
              <p:nvPr/>
            </p:nvSpPr>
            <p:spPr>
              <a:xfrm>
                <a:off x="3961712" y="5341795"/>
                <a:ext cx="152400" cy="228600"/>
              </a:xfrm>
              <a:prstGeom prst="ellipse">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02" name="Google Shape;1002;p58"/>
              <p:cNvSpPr/>
              <p:nvPr/>
            </p:nvSpPr>
            <p:spPr>
              <a:xfrm>
                <a:off x="4417325" y="5357667"/>
                <a:ext cx="152400" cy="228600"/>
              </a:xfrm>
              <a:prstGeom prst="ellipse">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sp>
          <p:nvSpPr>
            <p:cNvPr id="1003" name="Google Shape;1003;p58"/>
            <p:cNvSpPr txBox="1"/>
            <p:nvPr/>
          </p:nvSpPr>
          <p:spPr>
            <a:xfrm>
              <a:off x="3886200" y="5715000"/>
              <a:ext cx="17526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000" u="none" cap="none" strike="noStrike">
                  <a:solidFill>
                    <a:srgbClr val="000000"/>
                  </a:solidFill>
                  <a:latin typeface="Lexend"/>
                  <a:ea typeface="Lexend"/>
                  <a:cs typeface="Lexend"/>
                  <a:sym typeface="Lexend"/>
                </a:rPr>
                <a:t>1     A    0    0</a:t>
              </a:r>
              <a:endParaRPr i="0" sz="1000" u="none" cap="none" strike="noStrike">
                <a:solidFill>
                  <a:srgbClr val="000000"/>
                </a:solidFill>
                <a:latin typeface="Lexend"/>
                <a:ea typeface="Lexend"/>
                <a:cs typeface="Lexend"/>
                <a:sym typeface="Lexend"/>
              </a:endParaRPr>
            </a:p>
          </p:txBody>
        </p:sp>
      </p:grpSp>
      <p:grpSp>
        <p:nvGrpSpPr>
          <p:cNvPr id="1004" name="Google Shape;1004;p58"/>
          <p:cNvGrpSpPr/>
          <p:nvPr/>
        </p:nvGrpSpPr>
        <p:grpSpPr>
          <a:xfrm>
            <a:off x="5684740" y="1935562"/>
            <a:ext cx="1890805" cy="1859899"/>
            <a:chOff x="6665212" y="4286458"/>
            <a:chExt cx="1889482" cy="1859341"/>
          </a:xfrm>
        </p:grpSpPr>
        <p:sp>
          <p:nvSpPr>
            <p:cNvPr id="1005" name="Google Shape;1005;p58"/>
            <p:cNvSpPr txBox="1"/>
            <p:nvPr/>
          </p:nvSpPr>
          <p:spPr>
            <a:xfrm>
              <a:off x="7335494" y="5714999"/>
              <a:ext cx="12192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200" u="none" cap="none" strike="noStrike">
                  <a:solidFill>
                    <a:srgbClr val="000000"/>
                  </a:solidFill>
                  <a:latin typeface="Lexend"/>
                  <a:ea typeface="Lexend"/>
                  <a:cs typeface="Lexend"/>
                  <a:sym typeface="Lexend"/>
                </a:rPr>
                <a:t>B   C</a:t>
              </a:r>
              <a:endParaRPr i="0" sz="1200" u="none" cap="none" strike="noStrike">
                <a:solidFill>
                  <a:srgbClr val="000000"/>
                </a:solidFill>
                <a:latin typeface="Lexend"/>
                <a:ea typeface="Lexend"/>
                <a:cs typeface="Lexend"/>
                <a:sym typeface="Lexend"/>
              </a:endParaRPr>
            </a:p>
          </p:txBody>
        </p:sp>
        <p:grpSp>
          <p:nvGrpSpPr>
            <p:cNvPr id="1006" name="Google Shape;1006;p58"/>
            <p:cNvGrpSpPr/>
            <p:nvPr/>
          </p:nvGrpSpPr>
          <p:grpSpPr>
            <a:xfrm>
              <a:off x="6665212" y="4286458"/>
              <a:ext cx="1817411" cy="1705416"/>
              <a:chOff x="6665212" y="4286458"/>
              <a:chExt cx="1817411" cy="1705416"/>
            </a:xfrm>
          </p:grpSpPr>
          <p:pic>
            <p:nvPicPr>
              <p:cNvPr id="1007" name="Google Shape;1007;p58"/>
              <p:cNvPicPr preferRelativeResize="0"/>
              <p:nvPr/>
            </p:nvPicPr>
            <p:blipFill rotWithShape="1">
              <a:blip r:embed="rId5">
                <a:alphaModFix/>
              </a:blip>
              <a:srcRect b="0" l="0" r="0" t="0"/>
              <a:stretch/>
            </p:blipFill>
            <p:spPr>
              <a:xfrm>
                <a:off x="6939174" y="4286458"/>
                <a:ext cx="1543449" cy="1428542"/>
              </a:xfrm>
              <a:prstGeom prst="rect">
                <a:avLst/>
              </a:prstGeom>
              <a:noFill/>
              <a:ln>
                <a:noFill/>
              </a:ln>
            </p:spPr>
          </p:pic>
          <p:sp>
            <p:nvSpPr>
              <p:cNvPr id="1008" name="Google Shape;1008;p58"/>
              <p:cNvSpPr txBox="1"/>
              <p:nvPr/>
            </p:nvSpPr>
            <p:spPr>
              <a:xfrm>
                <a:off x="6665212" y="4360774"/>
                <a:ext cx="403800" cy="1631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Times New Roman"/>
                    <a:ea typeface="Times New Roman"/>
                    <a:cs typeface="Times New Roman"/>
                    <a:sym typeface="Times New Roman"/>
                  </a:rPr>
                  <a:t>1</a:t>
                </a:r>
                <a:br>
                  <a:rPr b="0" i="0" lang="en" sz="2000" u="none" cap="none" strike="noStrike">
                    <a:solidFill>
                      <a:srgbClr val="000000"/>
                    </a:solidFill>
                    <a:latin typeface="Times New Roman"/>
                    <a:ea typeface="Times New Roman"/>
                    <a:cs typeface="Times New Roman"/>
                    <a:sym typeface="Times New Roman"/>
                  </a:rPr>
                </a:br>
                <a:r>
                  <a:rPr b="0" i="0" lang="en" sz="2000" u="none" cap="none" strike="noStrike">
                    <a:solidFill>
                      <a:srgbClr val="000000"/>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Times New Roman"/>
                    <a:ea typeface="Times New Roman"/>
                    <a:cs typeface="Times New Roman"/>
                    <a:sym typeface="Times New Roman"/>
                  </a:rPr>
                  <a:t>0</a:t>
                </a:r>
                <a:br>
                  <a:rPr b="0" i="0" lang="en" sz="2000" u="none" cap="none" strike="noStrike">
                    <a:solidFill>
                      <a:srgbClr val="000000"/>
                    </a:solidFill>
                    <a:latin typeface="Times New Roman"/>
                    <a:ea typeface="Times New Roman"/>
                    <a:cs typeface="Times New Roman"/>
                    <a:sym typeface="Times New Roman"/>
                  </a:rPr>
                </a:br>
                <a:endParaRPr b="0" i="0" sz="2000" u="none" cap="none" strike="noStrike">
                  <a:solidFill>
                    <a:srgbClr val="000000"/>
                  </a:solidFill>
                  <a:latin typeface="Times New Roman"/>
                  <a:ea typeface="Times New Roman"/>
                  <a:cs typeface="Times New Roman"/>
                  <a:sym typeface="Times New Roman"/>
                </a:endParaRPr>
              </a:p>
            </p:txBody>
          </p:sp>
        </p:grpSp>
      </p:grpSp>
      <p:sp>
        <p:nvSpPr>
          <p:cNvPr id="1009" name="Google Shape;1009;p58"/>
          <p:cNvSpPr txBox="1"/>
          <p:nvPr/>
        </p:nvSpPr>
        <p:spPr>
          <a:xfrm>
            <a:off x="3153925" y="850463"/>
            <a:ext cx="26163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300" u="none" cap="none" strike="noStrike">
                <a:solidFill>
                  <a:srgbClr val="000000"/>
                </a:solidFill>
                <a:latin typeface="Lexend"/>
                <a:ea typeface="Lexend"/>
                <a:cs typeface="Lexend"/>
                <a:sym typeface="Lexend"/>
              </a:rPr>
              <a:t>Answer: Part ( c )</a:t>
            </a:r>
            <a:endParaRPr i="0" sz="1300" u="none" cap="none" strike="noStrike">
              <a:solidFill>
                <a:srgbClr val="000000"/>
              </a:solidFill>
              <a:latin typeface="Lexend"/>
              <a:ea typeface="Lexend"/>
              <a:cs typeface="Lexend"/>
              <a:sym typeface="Lexen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5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15" name="Google Shape;1015;p5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16" name="Google Shape;1016;p5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17" name="Google Shape;1017;p59"/>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018" name="Google Shape;1018;p59"/>
          <p:cNvGrpSpPr/>
          <p:nvPr/>
        </p:nvGrpSpPr>
        <p:grpSpPr>
          <a:xfrm>
            <a:off x="50480" y="122879"/>
            <a:ext cx="277873" cy="68400"/>
            <a:chOff x="411700" y="2416840"/>
            <a:chExt cx="277873" cy="68400"/>
          </a:xfrm>
        </p:grpSpPr>
        <p:sp>
          <p:nvSpPr>
            <p:cNvPr id="1019" name="Google Shape;1019;p5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0" name="Google Shape;1020;p5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1" name="Google Shape;1021;p5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22" name="Google Shape;1022;p59"/>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solidFill>
                  <a:schemeClr val="dk1"/>
                </a:solidFill>
                <a:latin typeface="Lexend"/>
                <a:ea typeface="Lexend"/>
                <a:cs typeface="Lexend"/>
                <a:sym typeface="Lexend"/>
              </a:rPr>
              <a:t>Build the following function using 4x1 MUX</a:t>
            </a:r>
            <a:endParaRPr sz="3000">
              <a:solidFill>
                <a:schemeClr val="dk1"/>
              </a:solidFill>
              <a:latin typeface="Lexend"/>
              <a:ea typeface="Lexend"/>
              <a:cs typeface="Lexend"/>
              <a:sym typeface="Lexend"/>
            </a:endParaRPr>
          </a:p>
        </p:txBody>
      </p:sp>
      <p:sp>
        <p:nvSpPr>
          <p:cNvPr id="1023" name="Google Shape;1023;p5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24" name="Google Shape;1024;p5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25" name="Google Shape;1025;p59"/>
          <p:cNvSpPr txBox="1"/>
          <p:nvPr/>
        </p:nvSpPr>
        <p:spPr>
          <a:xfrm>
            <a:off x="247825" y="829025"/>
            <a:ext cx="8428500" cy="475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F(A,B,C) = ∑ ( 1, 3, 5, 6)</a:t>
            </a:r>
            <a:endParaRPr sz="2200">
              <a:solidFill>
                <a:schemeClr val="dk1"/>
              </a:solidFill>
              <a:latin typeface="Lexend"/>
              <a:ea typeface="Lexend"/>
              <a:cs typeface="Lexend"/>
              <a:sym typeface="Lexend"/>
            </a:endParaRPr>
          </a:p>
        </p:txBody>
      </p:sp>
      <p:pic>
        <p:nvPicPr>
          <p:cNvPr id="1026" name="Google Shape;1026;p59"/>
          <p:cNvPicPr preferRelativeResize="0"/>
          <p:nvPr/>
        </p:nvPicPr>
        <p:blipFill rotWithShape="1">
          <a:blip r:embed="rId4">
            <a:alphaModFix/>
          </a:blip>
          <a:srcRect b="0" l="0" r="0" t="0"/>
          <a:stretch/>
        </p:blipFill>
        <p:spPr>
          <a:xfrm>
            <a:off x="5195825" y="1586624"/>
            <a:ext cx="3871974" cy="2474675"/>
          </a:xfrm>
          <a:prstGeom prst="rect">
            <a:avLst/>
          </a:prstGeom>
          <a:noFill/>
          <a:ln>
            <a:noFill/>
          </a:ln>
        </p:spPr>
      </p:pic>
      <p:pic>
        <p:nvPicPr>
          <p:cNvPr id="1027" name="Google Shape;1027;p59"/>
          <p:cNvPicPr preferRelativeResize="0"/>
          <p:nvPr/>
        </p:nvPicPr>
        <p:blipFill rotWithShape="1">
          <a:blip r:embed="rId5">
            <a:alphaModFix/>
          </a:blip>
          <a:srcRect b="8198" l="33528" r="32259" t="64571"/>
          <a:stretch/>
        </p:blipFill>
        <p:spPr>
          <a:xfrm>
            <a:off x="1516888" y="1976550"/>
            <a:ext cx="2479424" cy="15672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6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33" name="Google Shape;1033;p6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34" name="Google Shape;1034;p6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35" name="Google Shape;1035;p60"/>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036" name="Google Shape;1036;p60"/>
          <p:cNvGrpSpPr/>
          <p:nvPr/>
        </p:nvGrpSpPr>
        <p:grpSpPr>
          <a:xfrm>
            <a:off x="50480" y="122879"/>
            <a:ext cx="277873" cy="68400"/>
            <a:chOff x="411700" y="2416840"/>
            <a:chExt cx="277873" cy="68400"/>
          </a:xfrm>
        </p:grpSpPr>
        <p:sp>
          <p:nvSpPr>
            <p:cNvPr id="1037" name="Google Shape;1037;p6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8" name="Google Shape;1038;p6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9" name="Google Shape;1039;p6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40" name="Google Shape;1040;p60"/>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solidFill>
                  <a:schemeClr val="dk1"/>
                </a:solidFill>
                <a:latin typeface="Lexend"/>
                <a:ea typeface="Lexend"/>
                <a:cs typeface="Lexend"/>
                <a:sym typeface="Lexend"/>
              </a:rPr>
              <a:t>Try it yourself</a:t>
            </a:r>
            <a:endParaRPr sz="3000">
              <a:solidFill>
                <a:schemeClr val="dk1"/>
              </a:solidFill>
              <a:latin typeface="Lexend"/>
              <a:ea typeface="Lexend"/>
              <a:cs typeface="Lexend"/>
              <a:sym typeface="Lexend"/>
            </a:endParaRPr>
          </a:p>
        </p:txBody>
      </p:sp>
      <p:sp>
        <p:nvSpPr>
          <p:cNvPr id="1041" name="Google Shape;1041;p6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42" name="Google Shape;1042;p6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43" name="Google Shape;1043;p60"/>
          <p:cNvSpPr txBox="1"/>
          <p:nvPr/>
        </p:nvSpPr>
        <p:spPr>
          <a:xfrm>
            <a:off x="247825" y="829025"/>
            <a:ext cx="8428500" cy="1557600"/>
          </a:xfrm>
          <a:prstGeom prst="rect">
            <a:avLst/>
          </a:prstGeom>
          <a:noFill/>
          <a:ln>
            <a:noFill/>
          </a:ln>
        </p:spPr>
        <p:txBody>
          <a:bodyPr anchorCtr="0" anchor="t" bIns="91425" lIns="91425" spcFirstLastPara="1" rIns="91425" wrap="square" tIns="91425">
            <a:spAutoFit/>
          </a:bodyPr>
          <a:lstStyle/>
          <a:p>
            <a:pPr indent="-368300" lvl="0" marL="457200" rtl="0" algn="l">
              <a:lnSpc>
                <a:spcPct val="90000"/>
              </a:lnSpc>
              <a:spcBef>
                <a:spcPts val="1200"/>
              </a:spcBef>
              <a:spcAft>
                <a:spcPts val="0"/>
              </a:spcAft>
              <a:buClr>
                <a:schemeClr val="dk1"/>
              </a:buClr>
              <a:buSzPts val="2200"/>
              <a:buFont typeface="Lexend"/>
              <a:buAutoNum type="alphaLcPeriod"/>
            </a:pPr>
            <a:r>
              <a:rPr lang="en" sz="2200">
                <a:solidFill>
                  <a:schemeClr val="dk1"/>
                </a:solidFill>
                <a:latin typeface="Lexend"/>
                <a:ea typeface="Lexend"/>
                <a:cs typeface="Lexend"/>
                <a:sym typeface="Lexend"/>
              </a:rPr>
              <a:t>Implement the below function using a 8x1 Mux.</a:t>
            </a:r>
            <a:endParaRPr sz="2200">
              <a:solidFill>
                <a:schemeClr val="dk1"/>
              </a:solidFill>
              <a:latin typeface="Lexend"/>
              <a:ea typeface="Lexend"/>
              <a:cs typeface="Lexend"/>
              <a:sym typeface="Lexend"/>
            </a:endParaRPr>
          </a:p>
          <a:p>
            <a:pPr indent="-368300" lvl="0" marL="457200" rtl="0" algn="l">
              <a:lnSpc>
                <a:spcPct val="90000"/>
              </a:lnSpc>
              <a:spcBef>
                <a:spcPts val="0"/>
              </a:spcBef>
              <a:spcAft>
                <a:spcPts val="0"/>
              </a:spcAft>
              <a:buClr>
                <a:schemeClr val="dk1"/>
              </a:buClr>
              <a:buSzPts val="2200"/>
              <a:buFont typeface="Lexend"/>
              <a:buAutoNum type="alphaLcPeriod"/>
            </a:pPr>
            <a:r>
              <a:rPr lang="en" sz="2200">
                <a:solidFill>
                  <a:schemeClr val="dk1"/>
                </a:solidFill>
                <a:latin typeface="Lexend"/>
                <a:ea typeface="Lexend"/>
                <a:cs typeface="Lexend"/>
                <a:sym typeface="Lexend"/>
              </a:rPr>
              <a:t>Implement the below function using a 4x16 decoder and OR gates</a:t>
            </a:r>
            <a:endParaRPr sz="22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200">
                <a:solidFill>
                  <a:schemeClr val="dk1"/>
                </a:solidFill>
                <a:latin typeface="Lexend"/>
                <a:ea typeface="Lexend"/>
                <a:cs typeface="Lexend"/>
                <a:sym typeface="Lexend"/>
              </a:rPr>
              <a:t>F(A,B,C,D) = ∑ ( 0,1,3,4,8,9,15)</a:t>
            </a:r>
            <a:endParaRPr sz="2200">
              <a:solidFill>
                <a:schemeClr val="dk1"/>
              </a:solidFill>
              <a:latin typeface="Lexend"/>
              <a:ea typeface="Lexend"/>
              <a:cs typeface="Lexend"/>
              <a:sym typeface="Lexen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6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49" name="Google Shape;1049;p6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50" name="Google Shape;1050;p6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51" name="Google Shape;1051;p61"/>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052" name="Google Shape;1052;p61"/>
          <p:cNvGrpSpPr/>
          <p:nvPr/>
        </p:nvGrpSpPr>
        <p:grpSpPr>
          <a:xfrm>
            <a:off x="50480" y="122879"/>
            <a:ext cx="277873" cy="68400"/>
            <a:chOff x="411700" y="2416840"/>
            <a:chExt cx="277873" cy="68400"/>
          </a:xfrm>
        </p:grpSpPr>
        <p:sp>
          <p:nvSpPr>
            <p:cNvPr id="1053" name="Google Shape;1053;p6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4" name="Google Shape;1054;p6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5" name="Google Shape;1055;p6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56" name="Google Shape;1056;p61"/>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solidFill>
                  <a:schemeClr val="dk1"/>
                </a:solidFill>
                <a:latin typeface="Lexend"/>
                <a:ea typeface="Lexend"/>
                <a:cs typeface="Lexend"/>
                <a:sym typeface="Lexend"/>
              </a:rPr>
              <a:t>Solution</a:t>
            </a:r>
            <a:endParaRPr sz="3000">
              <a:solidFill>
                <a:schemeClr val="dk1"/>
              </a:solidFill>
              <a:latin typeface="Lexend"/>
              <a:ea typeface="Lexend"/>
              <a:cs typeface="Lexend"/>
              <a:sym typeface="Lexend"/>
            </a:endParaRPr>
          </a:p>
        </p:txBody>
      </p:sp>
      <p:sp>
        <p:nvSpPr>
          <p:cNvPr id="1057" name="Google Shape;1057;p6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58" name="Google Shape;1058;p6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59" name="Google Shape;1059;p61"/>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200">
                <a:solidFill>
                  <a:schemeClr val="dk1"/>
                </a:solidFill>
                <a:latin typeface="Lexend"/>
                <a:ea typeface="Lexend"/>
                <a:cs typeface="Lexend"/>
                <a:sym typeface="Lexend"/>
              </a:rPr>
              <a:t>a. </a:t>
            </a:r>
            <a:endParaRPr sz="2200">
              <a:solidFill>
                <a:schemeClr val="dk1"/>
              </a:solidFill>
              <a:latin typeface="Lexend"/>
              <a:ea typeface="Lexend"/>
              <a:cs typeface="Lexend"/>
              <a:sym typeface="Lexend"/>
            </a:endParaRPr>
          </a:p>
        </p:txBody>
      </p:sp>
      <p:pic>
        <p:nvPicPr>
          <p:cNvPr id="1060" name="Google Shape;1060;p61"/>
          <p:cNvPicPr preferRelativeResize="0"/>
          <p:nvPr/>
        </p:nvPicPr>
        <p:blipFill rotWithShape="1">
          <a:blip r:embed="rId4">
            <a:alphaModFix/>
          </a:blip>
          <a:srcRect b="0" l="0" r="0" t="0"/>
          <a:stretch/>
        </p:blipFill>
        <p:spPr>
          <a:xfrm>
            <a:off x="662401" y="930275"/>
            <a:ext cx="8071917" cy="38193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6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66" name="Google Shape;1066;p6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67" name="Google Shape;1067;p6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68" name="Google Shape;1068;p62"/>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069" name="Google Shape;1069;p62"/>
          <p:cNvGrpSpPr/>
          <p:nvPr/>
        </p:nvGrpSpPr>
        <p:grpSpPr>
          <a:xfrm>
            <a:off x="50480" y="122879"/>
            <a:ext cx="277873" cy="68400"/>
            <a:chOff x="411700" y="2416840"/>
            <a:chExt cx="277873" cy="68400"/>
          </a:xfrm>
        </p:grpSpPr>
        <p:sp>
          <p:nvSpPr>
            <p:cNvPr id="1070" name="Google Shape;1070;p6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1" name="Google Shape;1071;p6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2" name="Google Shape;1072;p6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73" name="Google Shape;1073;p6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Home-task: Try it yourself</a:t>
            </a:r>
            <a:endParaRPr sz="3600">
              <a:solidFill>
                <a:schemeClr val="dk1"/>
              </a:solidFill>
              <a:latin typeface="Lexend"/>
              <a:ea typeface="Lexend"/>
              <a:cs typeface="Lexend"/>
              <a:sym typeface="Lexend"/>
            </a:endParaRPr>
          </a:p>
        </p:txBody>
      </p:sp>
      <p:sp>
        <p:nvSpPr>
          <p:cNvPr id="1074" name="Google Shape;1074;p6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75" name="Google Shape;1075;p6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76" name="Google Shape;1076;p62"/>
          <p:cNvSpPr txBox="1"/>
          <p:nvPr/>
        </p:nvSpPr>
        <p:spPr>
          <a:xfrm>
            <a:off x="247825" y="1164175"/>
            <a:ext cx="8428500" cy="3667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t/>
            </a:r>
            <a:endParaRPr sz="2500">
              <a:solidFill>
                <a:schemeClr val="dk1"/>
              </a:solidFill>
              <a:latin typeface="Lexend"/>
              <a:ea typeface="Lexend"/>
              <a:cs typeface="Lexend"/>
              <a:sym typeface="Lexend"/>
            </a:endParaRPr>
          </a:p>
          <a:p>
            <a:pPr indent="0" lvl="0" marL="0" rtl="0" algn="l">
              <a:lnSpc>
                <a:spcPct val="90000"/>
              </a:lnSpc>
              <a:spcBef>
                <a:spcPts val="0"/>
              </a:spcBef>
              <a:spcAft>
                <a:spcPts val="0"/>
              </a:spcAft>
              <a:buClr>
                <a:schemeClr val="dk1"/>
              </a:buClr>
              <a:buSzPts val="2800"/>
              <a:buFont typeface="Arial"/>
              <a:buNone/>
            </a:pPr>
            <a:r>
              <a:rPr lang="en" sz="2500">
                <a:solidFill>
                  <a:schemeClr val="dk1"/>
                </a:solidFill>
                <a:latin typeface="Lexend"/>
                <a:ea typeface="Lexend"/>
                <a:cs typeface="Lexend"/>
                <a:sym typeface="Lexend"/>
              </a:rPr>
              <a:t>Using 2:1 MUX  design </a:t>
            </a:r>
            <a:endParaRPr sz="2500">
              <a:solidFill>
                <a:schemeClr val="dk1"/>
              </a:solidFill>
              <a:latin typeface="Lexend"/>
              <a:ea typeface="Lexend"/>
              <a:cs typeface="Lexend"/>
              <a:sym typeface="Lexend"/>
            </a:endParaRPr>
          </a:p>
          <a:p>
            <a:pPr indent="-209550" lvl="0" marL="228600" rtl="0" algn="l">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AND gate</a:t>
            </a:r>
            <a:endParaRPr sz="2500">
              <a:solidFill>
                <a:schemeClr val="dk1"/>
              </a:solidFill>
              <a:latin typeface="Lexend"/>
              <a:ea typeface="Lexend"/>
              <a:cs typeface="Lexend"/>
              <a:sym typeface="Lexend"/>
            </a:endParaRPr>
          </a:p>
          <a:p>
            <a:pPr indent="-209550" lvl="0" marL="228600" rtl="0" algn="l">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OR gate</a:t>
            </a:r>
            <a:endParaRPr sz="2500">
              <a:solidFill>
                <a:schemeClr val="dk1"/>
              </a:solidFill>
              <a:latin typeface="Lexend"/>
              <a:ea typeface="Lexend"/>
              <a:cs typeface="Lexend"/>
              <a:sym typeface="Lexend"/>
            </a:endParaRPr>
          </a:p>
          <a:p>
            <a:pPr indent="-209550" lvl="0" marL="228600" rtl="0" algn="l">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NOT gate</a:t>
            </a:r>
            <a:endParaRPr sz="2500">
              <a:solidFill>
                <a:schemeClr val="dk1"/>
              </a:solidFill>
              <a:latin typeface="Lexend"/>
              <a:ea typeface="Lexend"/>
              <a:cs typeface="Lexend"/>
              <a:sym typeface="Lexend"/>
            </a:endParaRPr>
          </a:p>
          <a:p>
            <a:pPr indent="-50800" lvl="0" marL="228600" rtl="0" algn="l">
              <a:lnSpc>
                <a:spcPct val="90000"/>
              </a:lnSpc>
              <a:spcBef>
                <a:spcPts val="1000"/>
              </a:spcBef>
              <a:spcAft>
                <a:spcPts val="0"/>
              </a:spcAft>
              <a:buClr>
                <a:schemeClr val="dk1"/>
              </a:buClr>
              <a:buSzPts val="2800"/>
              <a:buFont typeface="Arial"/>
              <a:buNone/>
            </a:pPr>
            <a:r>
              <a:t/>
            </a:r>
            <a:endParaRPr sz="2500">
              <a:solidFill>
                <a:schemeClr val="dk1"/>
              </a:solidFill>
              <a:latin typeface="Lexend"/>
              <a:ea typeface="Lexend"/>
              <a:cs typeface="Lexend"/>
              <a:sym typeface="Lexend"/>
            </a:endParaRPr>
          </a:p>
          <a:p>
            <a:pPr indent="-209550" lvl="0" marL="228600" rtl="0" algn="l">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Solution: Try YOUTUBE</a:t>
            </a:r>
            <a:endParaRPr sz="25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1900">
              <a:solidFill>
                <a:schemeClr val="dk1"/>
              </a:solidFill>
              <a:latin typeface="Lexend"/>
              <a:ea typeface="Lexend"/>
              <a:cs typeface="Lexend"/>
              <a:sym typeface="Lexen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63"/>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82" name="Google Shape;1082;p6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83" name="Google Shape;1083;p6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84" name="Google Shape;1084;p63"/>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sp>
        <p:nvSpPr>
          <p:cNvPr id="1085" name="Google Shape;1085;p63"/>
          <p:cNvSpPr/>
          <p:nvPr/>
        </p:nvSpPr>
        <p:spPr>
          <a:xfrm>
            <a:off x="1270000" y="3416575"/>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86" name="Google Shape;1086;p63"/>
          <p:cNvGrpSpPr/>
          <p:nvPr/>
        </p:nvGrpSpPr>
        <p:grpSpPr>
          <a:xfrm>
            <a:off x="50480" y="122879"/>
            <a:ext cx="277873" cy="68400"/>
            <a:chOff x="411700" y="2416840"/>
            <a:chExt cx="277873" cy="68400"/>
          </a:xfrm>
        </p:grpSpPr>
        <p:sp>
          <p:nvSpPr>
            <p:cNvPr id="1087" name="Google Shape;1087;p6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8" name="Google Shape;1088;p6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9" name="Google Shape;1089;p6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90" name="Google Shape;1090;p6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4 variables with 4x1 Mux</a:t>
            </a:r>
            <a:endParaRPr sz="3600">
              <a:solidFill>
                <a:schemeClr val="dk1"/>
              </a:solidFill>
              <a:latin typeface="Lexend"/>
              <a:ea typeface="Lexend"/>
              <a:cs typeface="Lexend"/>
              <a:sym typeface="Lexend"/>
            </a:endParaRPr>
          </a:p>
        </p:txBody>
      </p:sp>
      <p:sp>
        <p:nvSpPr>
          <p:cNvPr id="1091" name="Google Shape;1091;p6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92" name="Google Shape;1092;p6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93" name="Google Shape;1093;p63"/>
          <p:cNvSpPr txBox="1"/>
          <p:nvPr/>
        </p:nvSpPr>
        <p:spPr>
          <a:xfrm>
            <a:off x="247825" y="829025"/>
            <a:ext cx="8428500" cy="475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F(A,B,C,D) = ∑ ( 1,3,4,11,12,13,14,15)</a:t>
            </a:r>
            <a:endParaRPr sz="2200">
              <a:solidFill>
                <a:schemeClr val="dk1"/>
              </a:solidFill>
              <a:latin typeface="Lexend"/>
              <a:ea typeface="Lexend"/>
              <a:cs typeface="Lexend"/>
              <a:sym typeface="Lexend"/>
            </a:endParaRPr>
          </a:p>
        </p:txBody>
      </p:sp>
      <p:graphicFrame>
        <p:nvGraphicFramePr>
          <p:cNvPr id="1094" name="Google Shape;1094;p63"/>
          <p:cNvGraphicFramePr/>
          <p:nvPr/>
        </p:nvGraphicFramePr>
        <p:xfrm>
          <a:off x="6248650" y="590326"/>
          <a:ext cx="3000000" cy="3000000"/>
        </p:xfrm>
        <a:graphic>
          <a:graphicData uri="http://schemas.openxmlformats.org/drawingml/2006/table">
            <a:tbl>
              <a:tblPr>
                <a:noFill/>
                <a:tableStyleId>{27F3A37B-6600-4325-A08B-84874AF3B0B0}</a:tableStyleId>
              </a:tblPr>
              <a:tblGrid>
                <a:gridCol w="497750"/>
                <a:gridCol w="507850"/>
                <a:gridCol w="498425"/>
                <a:gridCol w="498425"/>
                <a:gridCol w="464800"/>
              </a:tblGrid>
              <a:tr h="263400">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A</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B</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C</a:t>
                      </a:r>
                      <a:endParaRPr b="1" baseline="-25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endParaRPr b="1" baseline="-25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min</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2</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3</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4</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5</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6</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7</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8</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9</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12</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13</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14</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15</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bl>
          </a:graphicData>
        </a:graphic>
      </p:graphicFrame>
      <p:sp>
        <p:nvSpPr>
          <p:cNvPr id="1095" name="Google Shape;1095;p63"/>
          <p:cNvSpPr/>
          <p:nvPr/>
        </p:nvSpPr>
        <p:spPr>
          <a:xfrm>
            <a:off x="1270000" y="2520150"/>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6" name="Google Shape;1096;p63"/>
          <p:cNvSpPr/>
          <p:nvPr/>
        </p:nvSpPr>
        <p:spPr>
          <a:xfrm>
            <a:off x="2229375" y="25333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7" name="Google Shape;1097;p63"/>
          <p:cNvSpPr/>
          <p:nvPr/>
        </p:nvSpPr>
        <p:spPr>
          <a:xfrm>
            <a:off x="781050" y="28268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8" name="Google Shape;1098;p63"/>
          <p:cNvSpPr/>
          <p:nvPr/>
        </p:nvSpPr>
        <p:spPr>
          <a:xfrm>
            <a:off x="2229375" y="31387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9" name="Google Shape;1099;p63"/>
          <p:cNvSpPr/>
          <p:nvPr/>
        </p:nvSpPr>
        <p:spPr>
          <a:xfrm>
            <a:off x="2229375" y="34165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0" name="Google Shape;1100;p63"/>
          <p:cNvSpPr/>
          <p:nvPr/>
        </p:nvSpPr>
        <p:spPr>
          <a:xfrm>
            <a:off x="1734350" y="34165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1" name="Google Shape;1101;p63"/>
          <p:cNvSpPr/>
          <p:nvPr/>
        </p:nvSpPr>
        <p:spPr>
          <a:xfrm>
            <a:off x="781050" y="34165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1102" name="Google Shape;1102;p63"/>
          <p:cNvGraphicFramePr/>
          <p:nvPr/>
        </p:nvGraphicFramePr>
        <p:xfrm>
          <a:off x="209775" y="2224401"/>
          <a:ext cx="3000000" cy="3000000"/>
        </p:xfrm>
        <a:graphic>
          <a:graphicData uri="http://schemas.openxmlformats.org/drawingml/2006/table">
            <a:tbl>
              <a:tblPr>
                <a:noFill/>
                <a:tableStyleId>{27F3A37B-6600-4325-A08B-84874AF3B0B0}</a:tableStyleId>
              </a:tblPr>
              <a:tblGrid>
                <a:gridCol w="476225"/>
                <a:gridCol w="485900"/>
                <a:gridCol w="476900"/>
                <a:gridCol w="476900"/>
                <a:gridCol w="476900"/>
              </a:tblGrid>
              <a:tr h="263400">
                <a:tc>
                  <a:txBody>
                    <a:bodyPr/>
                    <a:lstStyle/>
                    <a:p>
                      <a:pPr indent="0" lvl="0" marL="0" rtl="0" algn="ctr">
                        <a:spcBef>
                          <a:spcPts val="0"/>
                        </a:spcBef>
                        <a:spcAft>
                          <a:spcPts val="0"/>
                        </a:spcAft>
                        <a:buNone/>
                      </a:pPr>
                      <a:r>
                        <a:t/>
                      </a:r>
                      <a:endParaRPr sz="1100">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I</a:t>
                      </a:r>
                      <a:r>
                        <a:rPr baseline="-25000" lang="en" sz="1100">
                          <a:latin typeface="Lexend"/>
                          <a:ea typeface="Lexend"/>
                          <a:cs typeface="Lexend"/>
                          <a:sym typeface="Lexend"/>
                        </a:rPr>
                        <a:t>0</a:t>
                      </a:r>
                      <a:endParaRPr baseline="-25000" sz="1100">
                        <a:latin typeface="Lexend"/>
                        <a:ea typeface="Lexend"/>
                        <a:cs typeface="Lexend"/>
                        <a:sym typeface="Lexend"/>
                      </a:endParaRPr>
                    </a:p>
                  </a:txBody>
                  <a:tcPr marT="63500" marB="63500" marR="63500" marL="63500">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Lexend"/>
                          <a:ea typeface="Lexend"/>
                          <a:cs typeface="Lexend"/>
                          <a:sym typeface="Lexend"/>
                        </a:rPr>
                        <a:t>I</a:t>
                      </a:r>
                      <a:r>
                        <a:rPr baseline="-25000" lang="en" sz="1100">
                          <a:solidFill>
                            <a:schemeClr val="dk1"/>
                          </a:solidFill>
                          <a:latin typeface="Lexend"/>
                          <a:ea typeface="Lexend"/>
                          <a:cs typeface="Lexend"/>
                          <a:sym typeface="Lexend"/>
                        </a:rPr>
                        <a:t>1</a:t>
                      </a:r>
                      <a:endParaRPr sz="1100">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Lexend"/>
                          <a:ea typeface="Lexend"/>
                          <a:cs typeface="Lexend"/>
                          <a:sym typeface="Lexend"/>
                        </a:rPr>
                        <a:t>I</a:t>
                      </a:r>
                      <a:r>
                        <a:rPr baseline="-25000" lang="en" sz="1100">
                          <a:solidFill>
                            <a:schemeClr val="dk1"/>
                          </a:solidFill>
                          <a:latin typeface="Lexend"/>
                          <a:ea typeface="Lexend"/>
                          <a:cs typeface="Lexend"/>
                          <a:sym typeface="Lexend"/>
                        </a:rPr>
                        <a:t>2</a:t>
                      </a:r>
                      <a:endParaRPr sz="1100">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Lexend"/>
                          <a:ea typeface="Lexend"/>
                          <a:cs typeface="Lexend"/>
                          <a:sym typeface="Lexend"/>
                        </a:rPr>
                        <a:t>I</a:t>
                      </a:r>
                      <a:r>
                        <a:rPr baseline="-25000" lang="en" sz="1100">
                          <a:solidFill>
                            <a:schemeClr val="dk1"/>
                          </a:solidFill>
                          <a:latin typeface="Lexend"/>
                          <a:ea typeface="Lexend"/>
                          <a:cs typeface="Lexend"/>
                          <a:sym typeface="Lexend"/>
                        </a:rPr>
                        <a:t>3</a:t>
                      </a:r>
                      <a:endParaRPr b="1" sz="1100">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r>
              <a:tr h="252425">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2</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3</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4</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5</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6</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7</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8</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9</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10</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11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12</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13</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14</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15</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rtl="0" algn="ctr">
                        <a:spcBef>
                          <a:spcPts val="0"/>
                        </a:spcBef>
                        <a:spcAft>
                          <a:spcPts val="0"/>
                        </a:spcAft>
                        <a:buNone/>
                      </a:pPr>
                      <a:r>
                        <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B</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A+B’</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bl>
          </a:graphicData>
        </a:graphic>
      </p:graphicFrame>
      <p:pic>
        <p:nvPicPr>
          <p:cNvPr id="1103" name="Google Shape;1103;p63"/>
          <p:cNvPicPr preferRelativeResize="0"/>
          <p:nvPr/>
        </p:nvPicPr>
        <p:blipFill rotWithShape="1">
          <a:blip r:embed="rId4">
            <a:alphaModFix/>
          </a:blip>
          <a:srcRect b="0" l="0" r="0" t="0"/>
          <a:stretch/>
        </p:blipFill>
        <p:spPr>
          <a:xfrm>
            <a:off x="2880200" y="1724388"/>
            <a:ext cx="3163750" cy="2482775"/>
          </a:xfrm>
          <a:prstGeom prst="rect">
            <a:avLst/>
          </a:prstGeom>
          <a:noFill/>
          <a:ln>
            <a:noFill/>
          </a:ln>
        </p:spPr>
      </p:pic>
      <p:sp>
        <p:nvSpPr>
          <p:cNvPr id="1104" name="Google Shape;1104;p63"/>
          <p:cNvSpPr txBox="1"/>
          <p:nvPr/>
        </p:nvSpPr>
        <p:spPr>
          <a:xfrm>
            <a:off x="247825" y="4307763"/>
            <a:ext cx="84285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u="sng">
                <a:solidFill>
                  <a:schemeClr val="hlink"/>
                </a:solidFill>
                <a:latin typeface="Lexend"/>
                <a:ea typeface="Lexend"/>
                <a:cs typeface="Lexend"/>
                <a:sym typeface="Lexend"/>
                <a:hlinkClick r:id="rId5"/>
              </a:rPr>
              <a:t>https://www.youtube.com/watch?v=c8lhlAX2JMk</a:t>
            </a:r>
            <a:endParaRPr sz="1300">
              <a:solidFill>
                <a:schemeClr val="dk1"/>
              </a:solidFill>
              <a:latin typeface="Lexend"/>
              <a:ea typeface="Lexend"/>
              <a:cs typeface="Lexend"/>
              <a:sym typeface="Lexen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6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10" name="Google Shape;1110;p6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11" name="Google Shape;1111;p6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12" name="Google Shape;1112;p64"/>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113" name="Google Shape;1113;p64"/>
          <p:cNvGrpSpPr/>
          <p:nvPr/>
        </p:nvGrpSpPr>
        <p:grpSpPr>
          <a:xfrm>
            <a:off x="50480" y="122879"/>
            <a:ext cx="277873" cy="68400"/>
            <a:chOff x="411700" y="2416840"/>
            <a:chExt cx="277873" cy="68400"/>
          </a:xfrm>
        </p:grpSpPr>
        <p:sp>
          <p:nvSpPr>
            <p:cNvPr id="1114" name="Google Shape;1114;p6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5" name="Google Shape;1115;p6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6" name="Google Shape;1116;p6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17" name="Google Shape;1117;p6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Try it yourself</a:t>
            </a:r>
            <a:endParaRPr sz="3600">
              <a:solidFill>
                <a:schemeClr val="dk1"/>
              </a:solidFill>
              <a:latin typeface="Lexend"/>
              <a:ea typeface="Lexend"/>
              <a:cs typeface="Lexend"/>
              <a:sym typeface="Lexend"/>
            </a:endParaRPr>
          </a:p>
        </p:txBody>
      </p:sp>
      <p:sp>
        <p:nvSpPr>
          <p:cNvPr id="1118" name="Google Shape;1118;p6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19" name="Google Shape;1119;p6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120" name="Google Shape;1120;p64"/>
          <p:cNvSpPr txBox="1"/>
          <p:nvPr/>
        </p:nvSpPr>
        <p:spPr>
          <a:xfrm>
            <a:off x="247825" y="829025"/>
            <a:ext cx="8428500" cy="1211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Implement the boolean function using two 4:1 MUX(s) and one 2:1 MUX.</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F(A,B,C,D) = ∑ (0,1,4,5,9,14,15)</a:t>
            </a:r>
            <a:endParaRPr sz="2200">
              <a:solidFill>
                <a:schemeClr val="dk1"/>
              </a:solidFill>
              <a:latin typeface="Lexend"/>
              <a:ea typeface="Lexend"/>
              <a:cs typeface="Lexend"/>
              <a:sym typeface="Lexend"/>
            </a:endParaRPr>
          </a:p>
        </p:txBody>
      </p:sp>
      <p:pic>
        <p:nvPicPr>
          <p:cNvPr id="1121" name="Google Shape;1121;p64"/>
          <p:cNvPicPr preferRelativeResize="0"/>
          <p:nvPr/>
        </p:nvPicPr>
        <p:blipFill rotWithShape="1">
          <a:blip r:embed="rId4">
            <a:alphaModFix/>
          </a:blip>
          <a:srcRect b="0" l="6573" r="11148" t="0"/>
          <a:stretch/>
        </p:blipFill>
        <p:spPr>
          <a:xfrm>
            <a:off x="4152375" y="2321625"/>
            <a:ext cx="5062200" cy="2060400"/>
          </a:xfrm>
          <a:prstGeom prst="rect">
            <a:avLst/>
          </a:prstGeom>
          <a:noFill/>
          <a:ln>
            <a:noFill/>
          </a:ln>
        </p:spPr>
      </p:pic>
      <p:pic>
        <p:nvPicPr>
          <p:cNvPr id="1122" name="Google Shape;1122;p64"/>
          <p:cNvPicPr preferRelativeResize="0"/>
          <p:nvPr/>
        </p:nvPicPr>
        <p:blipFill rotWithShape="1">
          <a:blip r:embed="rId5">
            <a:alphaModFix/>
          </a:blip>
          <a:srcRect b="0" l="0" r="0" t="0"/>
          <a:stretch/>
        </p:blipFill>
        <p:spPr>
          <a:xfrm>
            <a:off x="0" y="2118225"/>
            <a:ext cx="4462650" cy="26807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pic>
        <p:nvPicPr>
          <p:cNvPr id="1127" name="Google Shape;1127;p6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28" name="Google Shape;1128;p6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29" name="Google Shape;1129;p6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30" name="Google Shape;1130;p6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1131" name="Google Shape;1131;p65"/>
          <p:cNvGrpSpPr/>
          <p:nvPr/>
        </p:nvGrpSpPr>
        <p:grpSpPr>
          <a:xfrm>
            <a:off x="55863" y="1096534"/>
            <a:ext cx="7362874" cy="1618375"/>
            <a:chOff x="5351018" y="4955476"/>
            <a:chExt cx="4003085" cy="885422"/>
          </a:xfrm>
        </p:grpSpPr>
        <p:sp>
          <p:nvSpPr>
            <p:cNvPr id="1132" name="Google Shape;1132;p65"/>
            <p:cNvSpPr/>
            <p:nvPr/>
          </p:nvSpPr>
          <p:spPr>
            <a:xfrm>
              <a:off x="5411982" y="5018979"/>
              <a:ext cx="3885217" cy="761341"/>
            </a:xfrm>
            <a:custGeom>
              <a:rect b="b" l="l" r="r" t="t"/>
              <a:pathLst>
                <a:path extrusionOk="0" h="1253236" w="2932239">
                  <a:moveTo>
                    <a:pt x="0" y="0"/>
                  </a:moveTo>
                  <a:lnTo>
                    <a:pt x="2932240" y="0"/>
                  </a:lnTo>
                  <a:lnTo>
                    <a:pt x="2932240" y="1253236"/>
                  </a:lnTo>
                  <a:lnTo>
                    <a:pt x="0" y="1253236"/>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1133" name="Google Shape;1133;p65"/>
            <p:cNvSpPr/>
            <p:nvPr/>
          </p:nvSpPr>
          <p:spPr>
            <a:xfrm>
              <a:off x="5351018" y="4955476"/>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1134" name="Google Shape;1134;p65"/>
            <p:cNvSpPr/>
            <p:nvPr/>
          </p:nvSpPr>
          <p:spPr>
            <a:xfrm>
              <a:off x="5351018" y="5713898"/>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1135" name="Google Shape;1135;p65"/>
            <p:cNvSpPr/>
            <p:nvPr/>
          </p:nvSpPr>
          <p:spPr>
            <a:xfrm>
              <a:off x="9232183" y="4955476"/>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1136" name="Google Shape;1136;p65"/>
            <p:cNvSpPr/>
            <p:nvPr/>
          </p:nvSpPr>
          <p:spPr>
            <a:xfrm>
              <a:off x="9232183" y="5713898"/>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grpSp>
      <p:sp>
        <p:nvSpPr>
          <p:cNvPr id="1137" name="Google Shape;1137;p65"/>
          <p:cNvSpPr/>
          <p:nvPr/>
        </p:nvSpPr>
        <p:spPr>
          <a:xfrm>
            <a:off x="4883091" y="2459986"/>
            <a:ext cx="263412" cy="324213"/>
          </a:xfrm>
          <a:custGeom>
            <a:rect b="b" l="l" r="r" t="t"/>
            <a:pathLst>
              <a:path extrusionOk="0" h="19170" w="15575">
                <a:moveTo>
                  <a:pt x="0" y="0"/>
                </a:moveTo>
                <a:lnTo>
                  <a:pt x="3354" y="19170"/>
                </a:lnTo>
                <a:lnTo>
                  <a:pt x="7668" y="11502"/>
                </a:lnTo>
                <a:lnTo>
                  <a:pt x="15575" y="8866"/>
                </a:lnTo>
                <a:close/>
              </a:path>
            </a:pathLst>
          </a:custGeom>
          <a:solidFill>
            <a:srgbClr val="F4F2F2"/>
          </a:solidFill>
          <a:ln cap="flat" cmpd="sng" w="9525">
            <a:solidFill>
              <a:srgbClr val="28C840"/>
            </a:solidFill>
            <a:prstDash val="solid"/>
            <a:round/>
            <a:headEnd len="med" w="med" type="none"/>
            <a:tailEnd len="med" w="med" type="none"/>
          </a:ln>
        </p:spPr>
      </p:sp>
      <p:sp>
        <p:nvSpPr>
          <p:cNvPr id="1138" name="Google Shape;1138;p65"/>
          <p:cNvSpPr txBox="1"/>
          <p:nvPr/>
        </p:nvSpPr>
        <p:spPr>
          <a:xfrm>
            <a:off x="156075" y="1314563"/>
            <a:ext cx="7070400" cy="1182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Combining MSI to build Combinational Design Circuit</a:t>
            </a:r>
            <a:endParaRPr sz="3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3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3200">
              <a:latin typeface="Lexend"/>
              <a:ea typeface="Lexend"/>
              <a:cs typeface="Lexend"/>
              <a:sym typeface="Lexen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6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44" name="Google Shape;1144;p6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45" name="Google Shape;1145;p6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46" name="Google Shape;1146;p66"/>
          <p:cNvSpPr txBox="1"/>
          <p:nvPr/>
        </p:nvSpPr>
        <p:spPr>
          <a:xfrm>
            <a:off x="256650" y="972850"/>
            <a:ext cx="84285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BCD to Excess 3 code converter using ‘4x16’ decoder and ‘16x4’ encoder</a:t>
            </a:r>
            <a:endParaRPr sz="1900">
              <a:solidFill>
                <a:schemeClr val="dk1"/>
              </a:solidFill>
              <a:latin typeface="Lexend"/>
              <a:ea typeface="Lexend"/>
              <a:cs typeface="Lexend"/>
              <a:sym typeface="Lexend"/>
            </a:endParaRPr>
          </a:p>
        </p:txBody>
      </p:sp>
      <p:grpSp>
        <p:nvGrpSpPr>
          <p:cNvPr id="1147" name="Google Shape;1147;p66"/>
          <p:cNvGrpSpPr/>
          <p:nvPr/>
        </p:nvGrpSpPr>
        <p:grpSpPr>
          <a:xfrm>
            <a:off x="50480" y="122879"/>
            <a:ext cx="277873" cy="68400"/>
            <a:chOff x="411700" y="2416840"/>
            <a:chExt cx="277873" cy="68400"/>
          </a:xfrm>
        </p:grpSpPr>
        <p:sp>
          <p:nvSpPr>
            <p:cNvPr id="1148" name="Google Shape;1148;p6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9" name="Google Shape;1149;p6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0" name="Google Shape;1150;p6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51" name="Google Shape;1151;p66"/>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152" name="Google Shape;1152;p6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53" name="Google Shape;1153;p6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6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59" name="Google Shape;1159;p67"/>
          <p:cNvPicPr preferRelativeResize="0"/>
          <p:nvPr/>
        </p:nvPicPr>
        <p:blipFill rotWithShape="1">
          <a:blip r:embed="rId3">
            <a:alphaModFix/>
          </a:blip>
          <a:srcRect b="16673" l="0" r="0" t="0"/>
          <a:stretch/>
        </p:blipFill>
        <p:spPr>
          <a:xfrm>
            <a:off x="868237" y="382350"/>
            <a:ext cx="7407514" cy="4494451"/>
          </a:xfrm>
          <a:prstGeom prst="rect">
            <a:avLst/>
          </a:prstGeom>
          <a:noFill/>
          <a:ln>
            <a:noFill/>
          </a:ln>
        </p:spPr>
      </p:pic>
      <p:pic>
        <p:nvPicPr>
          <p:cNvPr id="1160" name="Google Shape;1160;p67"/>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1161" name="Google Shape;1161;p6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162" name="Google Shape;1162;p67"/>
          <p:cNvGrpSpPr/>
          <p:nvPr/>
        </p:nvGrpSpPr>
        <p:grpSpPr>
          <a:xfrm>
            <a:off x="50480" y="122879"/>
            <a:ext cx="277873" cy="68400"/>
            <a:chOff x="411700" y="2416840"/>
            <a:chExt cx="277873" cy="68400"/>
          </a:xfrm>
        </p:grpSpPr>
        <p:sp>
          <p:nvSpPr>
            <p:cNvPr id="1163" name="Google Shape;1163;p6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4" name="Google Shape;1164;p6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5" name="Google Shape;1165;p6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66" name="Google Shape;1166;p67"/>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167" name="Google Shape;1167;p6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68" name="Google Shape;1168;p6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6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74" name="Google Shape;1174;p6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75" name="Google Shape;1175;p6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76" name="Google Shape;1176;p68"/>
          <p:cNvSpPr txBox="1"/>
          <p:nvPr/>
        </p:nvSpPr>
        <p:spPr>
          <a:xfrm>
            <a:off x="256650" y="972850"/>
            <a:ext cx="8428500" cy="447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full adder using ‘3x8’ decoder and ‘4x2’ encoder</a:t>
            </a:r>
            <a:endParaRPr sz="1900">
              <a:solidFill>
                <a:schemeClr val="dk1"/>
              </a:solidFill>
              <a:latin typeface="Lexend"/>
              <a:ea typeface="Lexend"/>
              <a:cs typeface="Lexend"/>
              <a:sym typeface="Lexend"/>
            </a:endParaRPr>
          </a:p>
        </p:txBody>
      </p:sp>
      <p:grpSp>
        <p:nvGrpSpPr>
          <p:cNvPr id="1177" name="Google Shape;1177;p68"/>
          <p:cNvGrpSpPr/>
          <p:nvPr/>
        </p:nvGrpSpPr>
        <p:grpSpPr>
          <a:xfrm>
            <a:off x="50480" y="122879"/>
            <a:ext cx="277873" cy="68400"/>
            <a:chOff x="411700" y="2416840"/>
            <a:chExt cx="277873" cy="68400"/>
          </a:xfrm>
        </p:grpSpPr>
        <p:sp>
          <p:nvSpPr>
            <p:cNvPr id="1178" name="Google Shape;1178;p6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9" name="Google Shape;1179;p6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0" name="Google Shape;1180;p6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81" name="Google Shape;1181;p68"/>
          <p:cNvSpPr txBox="1"/>
          <p:nvPr/>
        </p:nvSpPr>
        <p:spPr>
          <a:xfrm>
            <a:off x="209775" y="163775"/>
            <a:ext cx="9045900" cy="1403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sz="4400">
              <a:solidFill>
                <a:schemeClr val="dk1"/>
              </a:solidFill>
              <a:latin typeface="Calibri"/>
              <a:ea typeface="Calibri"/>
              <a:cs typeface="Calibri"/>
              <a:sym typeface="Calibri"/>
            </a:endParaRPr>
          </a:p>
        </p:txBody>
      </p:sp>
      <p:sp>
        <p:nvSpPr>
          <p:cNvPr id="1182" name="Google Shape;1182;p6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83" name="Google Shape;1183;p6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69"/>
          <p:cNvSpPr/>
          <p:nvPr/>
        </p:nvSpPr>
        <p:spPr>
          <a:xfrm>
            <a:off x="-25500" y="-61025"/>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89" name="Google Shape;1189;p6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90" name="Google Shape;1190;p69"/>
          <p:cNvSpPr txBox="1"/>
          <p:nvPr/>
        </p:nvSpPr>
        <p:spPr>
          <a:xfrm>
            <a:off x="8472258" y="457176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191" name="Google Shape;1191;p69"/>
          <p:cNvGrpSpPr/>
          <p:nvPr/>
        </p:nvGrpSpPr>
        <p:grpSpPr>
          <a:xfrm>
            <a:off x="50480" y="122879"/>
            <a:ext cx="277873" cy="68400"/>
            <a:chOff x="411700" y="2416840"/>
            <a:chExt cx="277873" cy="68400"/>
          </a:xfrm>
        </p:grpSpPr>
        <p:sp>
          <p:nvSpPr>
            <p:cNvPr id="1192" name="Google Shape;1192;p6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3" name="Google Shape;1193;p6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4" name="Google Shape;1194;p6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95" name="Google Shape;1195;p69"/>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196" name="Google Shape;1196;p6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97" name="Google Shape;1197;p6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1198" name="Google Shape;1198;p69"/>
          <p:cNvGrpSpPr/>
          <p:nvPr/>
        </p:nvGrpSpPr>
        <p:grpSpPr>
          <a:xfrm>
            <a:off x="3510195" y="1353898"/>
            <a:ext cx="5510761" cy="2680336"/>
            <a:chOff x="1371600" y="2590800"/>
            <a:chExt cx="7108825" cy="3200401"/>
          </a:xfrm>
        </p:grpSpPr>
        <p:pic>
          <p:nvPicPr>
            <p:cNvPr descr="http://upload.wikimedia.org/wikipedia/commons/thumb/6/66/3x8_decoder_symbol.svg/512px-3x8_decoder_symbol.svg.png" id="1199" name="Google Shape;1199;p69"/>
            <p:cNvPicPr preferRelativeResize="0"/>
            <p:nvPr/>
          </p:nvPicPr>
          <p:blipFill rotWithShape="1">
            <a:blip r:embed="rId4">
              <a:alphaModFix/>
            </a:blip>
            <a:srcRect b="0" l="0" r="0" t="0"/>
            <a:stretch/>
          </p:blipFill>
          <p:spPr>
            <a:xfrm>
              <a:off x="1371600" y="2590800"/>
              <a:ext cx="3200401" cy="3200401"/>
            </a:xfrm>
            <a:prstGeom prst="rect">
              <a:avLst/>
            </a:prstGeom>
            <a:noFill/>
            <a:ln>
              <a:noFill/>
            </a:ln>
          </p:spPr>
        </p:pic>
        <p:pic>
          <p:nvPicPr>
            <p:cNvPr id="1200" name="Google Shape;1200;p69"/>
            <p:cNvPicPr preferRelativeResize="0"/>
            <p:nvPr/>
          </p:nvPicPr>
          <p:blipFill rotWithShape="1">
            <a:blip r:embed="rId5">
              <a:alphaModFix/>
            </a:blip>
            <a:srcRect b="0" l="0" r="0" t="0"/>
            <a:stretch/>
          </p:blipFill>
          <p:spPr>
            <a:xfrm>
              <a:off x="5867400" y="3200400"/>
              <a:ext cx="2613025" cy="1733550"/>
            </a:xfrm>
            <a:prstGeom prst="rect">
              <a:avLst/>
            </a:prstGeom>
            <a:noFill/>
            <a:ln>
              <a:noFill/>
            </a:ln>
          </p:spPr>
        </p:pic>
      </p:grpSp>
      <p:cxnSp>
        <p:nvCxnSpPr>
          <p:cNvPr id="1201" name="Google Shape;1201;p69"/>
          <p:cNvCxnSpPr/>
          <p:nvPr/>
        </p:nvCxnSpPr>
        <p:spPr>
          <a:xfrm>
            <a:off x="5843760" y="1746969"/>
            <a:ext cx="1181700" cy="383100"/>
          </a:xfrm>
          <a:prstGeom prst="straightConnector1">
            <a:avLst/>
          </a:prstGeom>
          <a:noFill/>
          <a:ln cap="flat" cmpd="sng" w="9525">
            <a:solidFill>
              <a:srgbClr val="5B9BD5"/>
            </a:solidFill>
            <a:prstDash val="solid"/>
            <a:miter lim="800000"/>
            <a:headEnd len="sm" w="sm" type="none"/>
            <a:tailEnd len="sm" w="sm" type="none"/>
          </a:ln>
        </p:spPr>
      </p:cxnSp>
      <p:cxnSp>
        <p:nvCxnSpPr>
          <p:cNvPr id="1202" name="Google Shape;1202;p69"/>
          <p:cNvCxnSpPr/>
          <p:nvPr/>
        </p:nvCxnSpPr>
        <p:spPr>
          <a:xfrm>
            <a:off x="5755152" y="2002236"/>
            <a:ext cx="1240500" cy="383100"/>
          </a:xfrm>
          <a:prstGeom prst="straightConnector1">
            <a:avLst/>
          </a:prstGeom>
          <a:noFill/>
          <a:ln cap="flat" cmpd="sng" w="9525">
            <a:solidFill>
              <a:srgbClr val="5B9BD5"/>
            </a:solidFill>
            <a:prstDash val="solid"/>
            <a:miter lim="800000"/>
            <a:headEnd len="sm" w="sm" type="none"/>
            <a:tailEnd len="sm" w="sm" type="none"/>
          </a:ln>
        </p:spPr>
      </p:cxnSp>
      <p:cxnSp>
        <p:nvCxnSpPr>
          <p:cNvPr id="1203" name="Google Shape;1203;p69"/>
          <p:cNvCxnSpPr/>
          <p:nvPr/>
        </p:nvCxnSpPr>
        <p:spPr>
          <a:xfrm>
            <a:off x="5784688" y="2321320"/>
            <a:ext cx="1240500" cy="64200"/>
          </a:xfrm>
          <a:prstGeom prst="straightConnector1">
            <a:avLst/>
          </a:prstGeom>
          <a:noFill/>
          <a:ln cap="flat" cmpd="sng" w="9525">
            <a:solidFill>
              <a:srgbClr val="5B9BD5"/>
            </a:solidFill>
            <a:prstDash val="solid"/>
            <a:miter lim="800000"/>
            <a:headEnd len="sm" w="sm" type="none"/>
            <a:tailEnd len="sm" w="sm" type="none"/>
          </a:ln>
        </p:spPr>
      </p:cxnSp>
      <p:cxnSp>
        <p:nvCxnSpPr>
          <p:cNvPr id="1204" name="Google Shape;1204;p69"/>
          <p:cNvCxnSpPr/>
          <p:nvPr/>
        </p:nvCxnSpPr>
        <p:spPr>
          <a:xfrm>
            <a:off x="5799456" y="2528180"/>
            <a:ext cx="1181700" cy="191700"/>
          </a:xfrm>
          <a:prstGeom prst="straightConnector1">
            <a:avLst/>
          </a:prstGeom>
          <a:noFill/>
          <a:ln cap="flat" cmpd="sng" w="9525">
            <a:solidFill>
              <a:srgbClr val="5B9BD5"/>
            </a:solidFill>
            <a:prstDash val="solid"/>
            <a:miter lim="800000"/>
            <a:headEnd len="sm" w="sm" type="none"/>
            <a:tailEnd len="sm" w="sm" type="none"/>
          </a:ln>
        </p:spPr>
      </p:cxnSp>
      <p:cxnSp>
        <p:nvCxnSpPr>
          <p:cNvPr id="1205" name="Google Shape;1205;p69"/>
          <p:cNvCxnSpPr/>
          <p:nvPr/>
        </p:nvCxnSpPr>
        <p:spPr>
          <a:xfrm flipH="1" rot="10800000">
            <a:off x="5784688" y="2385154"/>
            <a:ext cx="1210800" cy="446700"/>
          </a:xfrm>
          <a:prstGeom prst="straightConnector1">
            <a:avLst/>
          </a:prstGeom>
          <a:noFill/>
          <a:ln cap="flat" cmpd="sng" w="9525">
            <a:solidFill>
              <a:srgbClr val="5B9BD5"/>
            </a:solidFill>
            <a:prstDash val="solid"/>
            <a:miter lim="800000"/>
            <a:headEnd len="sm" w="sm" type="none"/>
            <a:tailEnd len="sm" w="sm" type="none"/>
          </a:ln>
        </p:spPr>
      </p:cxnSp>
      <p:cxnSp>
        <p:nvCxnSpPr>
          <p:cNvPr id="1206" name="Google Shape;1206;p69"/>
          <p:cNvCxnSpPr/>
          <p:nvPr/>
        </p:nvCxnSpPr>
        <p:spPr>
          <a:xfrm flipH="1" rot="10800000">
            <a:off x="5799456" y="2751530"/>
            <a:ext cx="1181700" cy="351000"/>
          </a:xfrm>
          <a:prstGeom prst="straightConnector1">
            <a:avLst/>
          </a:prstGeom>
          <a:noFill/>
          <a:ln cap="flat" cmpd="sng" w="9525">
            <a:solidFill>
              <a:srgbClr val="5B9BD5"/>
            </a:solidFill>
            <a:prstDash val="solid"/>
            <a:miter lim="800000"/>
            <a:headEnd len="sm" w="sm" type="none"/>
            <a:tailEnd len="sm" w="sm" type="none"/>
          </a:ln>
        </p:spPr>
      </p:cxnSp>
      <p:cxnSp>
        <p:nvCxnSpPr>
          <p:cNvPr id="1207" name="Google Shape;1207;p69"/>
          <p:cNvCxnSpPr/>
          <p:nvPr/>
        </p:nvCxnSpPr>
        <p:spPr>
          <a:xfrm flipH="1" rot="10800000">
            <a:off x="5769920" y="2751743"/>
            <a:ext cx="1210800" cy="590100"/>
          </a:xfrm>
          <a:prstGeom prst="straightConnector1">
            <a:avLst/>
          </a:prstGeom>
          <a:noFill/>
          <a:ln cap="flat" cmpd="sng" w="9525">
            <a:solidFill>
              <a:srgbClr val="5B9BD5"/>
            </a:solidFill>
            <a:prstDash val="solid"/>
            <a:miter lim="800000"/>
            <a:headEnd len="sm" w="sm" type="none"/>
            <a:tailEnd len="sm" w="sm" type="none"/>
          </a:ln>
        </p:spPr>
      </p:cxnSp>
      <p:cxnSp>
        <p:nvCxnSpPr>
          <p:cNvPr id="1208" name="Google Shape;1208;p69"/>
          <p:cNvCxnSpPr/>
          <p:nvPr/>
        </p:nvCxnSpPr>
        <p:spPr>
          <a:xfrm flipH="1" rot="10800000">
            <a:off x="5769920" y="3134456"/>
            <a:ext cx="1210800" cy="446700"/>
          </a:xfrm>
          <a:prstGeom prst="straightConnector1">
            <a:avLst/>
          </a:prstGeom>
          <a:noFill/>
          <a:ln cap="flat" cmpd="sng" w="9525">
            <a:solidFill>
              <a:srgbClr val="5B9BD5"/>
            </a:solidFill>
            <a:prstDash val="solid"/>
            <a:miter lim="800000"/>
            <a:headEnd len="sm" w="sm" type="none"/>
            <a:tailEnd len="sm" w="sm" type="none"/>
          </a:ln>
        </p:spPr>
      </p:cxnSp>
      <p:graphicFrame>
        <p:nvGraphicFramePr>
          <p:cNvPr id="1209" name="Google Shape;1209;p69"/>
          <p:cNvGraphicFramePr/>
          <p:nvPr/>
        </p:nvGraphicFramePr>
        <p:xfrm>
          <a:off x="328350" y="1312863"/>
          <a:ext cx="3000000" cy="3000000"/>
        </p:xfrm>
        <a:graphic>
          <a:graphicData uri="http://schemas.openxmlformats.org/drawingml/2006/table">
            <a:tbl>
              <a:tblPr>
                <a:noFill/>
                <a:tableStyleId>{031C2276-671B-496E-B77D-804DC5F1F2AA}</a:tableStyleId>
              </a:tblPr>
              <a:tblGrid>
                <a:gridCol w="523650"/>
                <a:gridCol w="523650"/>
                <a:gridCol w="523650"/>
                <a:gridCol w="523650"/>
                <a:gridCol w="523650"/>
              </a:tblGrid>
              <a:tr h="309275">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X</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Y</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Z</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C</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S</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r>
              <a:tr h="309275">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3092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7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15" name="Google Shape;1215;p7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16" name="Google Shape;1216;p7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217" name="Google Shape;1217;p70"/>
          <p:cNvSpPr txBox="1"/>
          <p:nvPr/>
        </p:nvSpPr>
        <p:spPr>
          <a:xfrm>
            <a:off x="256650" y="972850"/>
            <a:ext cx="84285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2-bit parallel adder where you have to use appropriate encoders and decoders to build the internal circuit.</a:t>
            </a:r>
            <a:endParaRPr sz="1900">
              <a:solidFill>
                <a:schemeClr val="dk1"/>
              </a:solidFill>
              <a:latin typeface="Lexend"/>
              <a:ea typeface="Lexend"/>
              <a:cs typeface="Lexend"/>
              <a:sym typeface="Lexend"/>
            </a:endParaRPr>
          </a:p>
        </p:txBody>
      </p:sp>
      <p:grpSp>
        <p:nvGrpSpPr>
          <p:cNvPr id="1218" name="Google Shape;1218;p70"/>
          <p:cNvGrpSpPr/>
          <p:nvPr/>
        </p:nvGrpSpPr>
        <p:grpSpPr>
          <a:xfrm>
            <a:off x="50480" y="122879"/>
            <a:ext cx="277873" cy="68400"/>
            <a:chOff x="411700" y="2416840"/>
            <a:chExt cx="277873" cy="68400"/>
          </a:xfrm>
        </p:grpSpPr>
        <p:sp>
          <p:nvSpPr>
            <p:cNvPr id="1219" name="Google Shape;1219;p7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0" name="Google Shape;1220;p7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1" name="Google Shape;1221;p7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22" name="Google Shape;1222;p70"/>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223" name="Google Shape;1223;p7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24" name="Google Shape;1224;p7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71"/>
          <p:cNvSpPr/>
          <p:nvPr/>
        </p:nvSpPr>
        <p:spPr>
          <a:xfrm>
            <a:off x="10375" y="-29225"/>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30" name="Google Shape;1230;p7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31" name="Google Shape;1231;p71"/>
          <p:cNvSpPr txBox="1"/>
          <p:nvPr/>
        </p:nvSpPr>
        <p:spPr>
          <a:xfrm>
            <a:off x="8472458" y="4622342"/>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232" name="Google Shape;1232;p71"/>
          <p:cNvGrpSpPr/>
          <p:nvPr/>
        </p:nvGrpSpPr>
        <p:grpSpPr>
          <a:xfrm>
            <a:off x="50480" y="122879"/>
            <a:ext cx="277873" cy="68400"/>
            <a:chOff x="411700" y="2416840"/>
            <a:chExt cx="277873" cy="68400"/>
          </a:xfrm>
        </p:grpSpPr>
        <p:sp>
          <p:nvSpPr>
            <p:cNvPr id="1233" name="Google Shape;1233;p7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4" name="Google Shape;1234;p7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5" name="Google Shape;1235;p7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36" name="Google Shape;1236;p71"/>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237" name="Google Shape;1237;p7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38" name="Google Shape;1238;p7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1239" name="Google Shape;1239;p71" title="B6E8F9D6-CAC0-47AB-90C5-4A9171CAFC30.jpeg"/>
          <p:cNvPicPr preferRelativeResize="0"/>
          <p:nvPr/>
        </p:nvPicPr>
        <p:blipFill rotWithShape="1">
          <a:blip r:embed="rId4">
            <a:alphaModFix/>
          </a:blip>
          <a:srcRect b="4451" l="0" r="0" t="5255"/>
          <a:stretch/>
        </p:blipFill>
        <p:spPr>
          <a:xfrm>
            <a:off x="2401825" y="0"/>
            <a:ext cx="5102374" cy="4746401"/>
          </a:xfrm>
          <a:prstGeom prst="rect">
            <a:avLst/>
          </a:prstGeom>
          <a:noFill/>
          <a:ln>
            <a:noFill/>
          </a:ln>
        </p:spPr>
      </p:pic>
      <p:sp>
        <p:nvSpPr>
          <p:cNvPr id="1240" name="Google Shape;1240;p71"/>
          <p:cNvSpPr txBox="1"/>
          <p:nvPr/>
        </p:nvSpPr>
        <p:spPr>
          <a:xfrm>
            <a:off x="5383075" y="159812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
        <p:nvSpPr>
          <p:cNvPr id="1241" name="Google Shape;1241;p71"/>
          <p:cNvSpPr txBox="1"/>
          <p:nvPr/>
        </p:nvSpPr>
        <p:spPr>
          <a:xfrm>
            <a:off x="5612975" y="159812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2</a:t>
            </a:r>
            <a:endParaRPr sz="1200">
              <a:solidFill>
                <a:schemeClr val="dk2"/>
              </a:solidFill>
            </a:endParaRPr>
          </a:p>
        </p:txBody>
      </p:sp>
      <p:sp>
        <p:nvSpPr>
          <p:cNvPr id="1242" name="Google Shape;1242;p71"/>
          <p:cNvSpPr txBox="1"/>
          <p:nvPr/>
        </p:nvSpPr>
        <p:spPr>
          <a:xfrm>
            <a:off x="5593250" y="3383750"/>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2</a:t>
            </a:r>
            <a:endParaRPr sz="1200">
              <a:solidFill>
                <a:schemeClr val="dk2"/>
              </a:solidFill>
            </a:endParaRPr>
          </a:p>
        </p:txBody>
      </p:sp>
      <p:sp>
        <p:nvSpPr>
          <p:cNvPr id="1243" name="Google Shape;1243;p71"/>
          <p:cNvSpPr txBox="1"/>
          <p:nvPr/>
        </p:nvSpPr>
        <p:spPr>
          <a:xfrm>
            <a:off x="5370400" y="3383750"/>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7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49" name="Google Shape;1249;p7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50" name="Google Shape;1250;p7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251" name="Google Shape;1251;p72"/>
          <p:cNvSpPr txBox="1"/>
          <p:nvPr/>
        </p:nvSpPr>
        <p:spPr>
          <a:xfrm>
            <a:off x="256650" y="972850"/>
            <a:ext cx="8428500" cy="974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7 person voting system using encoder(s) and decoder(s) and parallel adder(s). You can not use full adders. Meaning, for the inputs, you MUST use encoder(s) and decoder(s) as required. </a:t>
            </a:r>
            <a:endParaRPr sz="1900">
              <a:solidFill>
                <a:schemeClr val="dk1"/>
              </a:solidFill>
              <a:latin typeface="Lexend"/>
              <a:ea typeface="Lexend"/>
              <a:cs typeface="Lexend"/>
              <a:sym typeface="Lexend"/>
            </a:endParaRPr>
          </a:p>
        </p:txBody>
      </p:sp>
      <p:grpSp>
        <p:nvGrpSpPr>
          <p:cNvPr id="1252" name="Google Shape;1252;p72"/>
          <p:cNvGrpSpPr/>
          <p:nvPr/>
        </p:nvGrpSpPr>
        <p:grpSpPr>
          <a:xfrm>
            <a:off x="50480" y="122879"/>
            <a:ext cx="277873" cy="68400"/>
            <a:chOff x="411700" y="2416840"/>
            <a:chExt cx="277873" cy="68400"/>
          </a:xfrm>
        </p:grpSpPr>
        <p:sp>
          <p:nvSpPr>
            <p:cNvPr id="1253" name="Google Shape;1253;p7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4" name="Google Shape;1254;p7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5" name="Google Shape;1255;p7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56" name="Google Shape;1256;p72"/>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257" name="Google Shape;1257;p7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58" name="Google Shape;1258;p7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73"/>
          <p:cNvSpPr/>
          <p:nvPr/>
        </p:nvSpPr>
        <p:spPr>
          <a:xfrm>
            <a:off x="10375" y="-29225"/>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64" name="Google Shape;1264;p7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65" name="Google Shape;1265;p73"/>
          <p:cNvSpPr txBox="1"/>
          <p:nvPr/>
        </p:nvSpPr>
        <p:spPr>
          <a:xfrm>
            <a:off x="8472458" y="4622342"/>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266" name="Google Shape;1266;p73"/>
          <p:cNvGrpSpPr/>
          <p:nvPr/>
        </p:nvGrpSpPr>
        <p:grpSpPr>
          <a:xfrm>
            <a:off x="50480" y="122879"/>
            <a:ext cx="277873" cy="68400"/>
            <a:chOff x="411700" y="2416840"/>
            <a:chExt cx="277873" cy="68400"/>
          </a:xfrm>
        </p:grpSpPr>
        <p:sp>
          <p:nvSpPr>
            <p:cNvPr id="1267" name="Google Shape;1267;p7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8" name="Google Shape;1268;p7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9" name="Google Shape;1269;p7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70" name="Google Shape;1270;p73"/>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271" name="Google Shape;1271;p7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72" name="Google Shape;1272;p7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1273" name="Google Shape;1273;p73" title="253B1B5E-4815-4BD3-ACA1-4F89DF189E72.jpeg"/>
          <p:cNvPicPr preferRelativeResize="0"/>
          <p:nvPr/>
        </p:nvPicPr>
        <p:blipFill>
          <a:blip r:embed="rId4">
            <a:alphaModFix/>
          </a:blip>
          <a:stretch>
            <a:fillRect/>
          </a:stretch>
        </p:blipFill>
        <p:spPr>
          <a:xfrm>
            <a:off x="10375" y="969111"/>
            <a:ext cx="9144001" cy="3744053"/>
          </a:xfrm>
          <a:prstGeom prst="rect">
            <a:avLst/>
          </a:prstGeom>
          <a:noFill/>
          <a:ln>
            <a:noFill/>
          </a:ln>
        </p:spPr>
      </p:pic>
      <p:sp>
        <p:nvSpPr>
          <p:cNvPr id="1274" name="Google Shape;1274;p73"/>
          <p:cNvSpPr txBox="1"/>
          <p:nvPr/>
        </p:nvSpPr>
        <p:spPr>
          <a:xfrm>
            <a:off x="2408875" y="166622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
        <p:nvSpPr>
          <p:cNvPr id="1275" name="Google Shape;1275;p73"/>
          <p:cNvSpPr txBox="1"/>
          <p:nvPr/>
        </p:nvSpPr>
        <p:spPr>
          <a:xfrm>
            <a:off x="2626500" y="166622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2</a:t>
            </a:r>
            <a:endParaRPr sz="1200">
              <a:solidFill>
                <a:schemeClr val="dk2"/>
              </a:solidFill>
            </a:endParaRPr>
          </a:p>
        </p:txBody>
      </p:sp>
      <p:sp>
        <p:nvSpPr>
          <p:cNvPr id="1276" name="Google Shape;1276;p73"/>
          <p:cNvSpPr txBox="1"/>
          <p:nvPr/>
        </p:nvSpPr>
        <p:spPr>
          <a:xfrm>
            <a:off x="2566475" y="317007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2</a:t>
            </a:r>
            <a:endParaRPr sz="1200">
              <a:solidFill>
                <a:schemeClr val="dk2"/>
              </a:solidFill>
            </a:endParaRPr>
          </a:p>
        </p:txBody>
      </p:sp>
      <p:sp>
        <p:nvSpPr>
          <p:cNvPr id="1277" name="Google Shape;1277;p73"/>
          <p:cNvSpPr txBox="1"/>
          <p:nvPr/>
        </p:nvSpPr>
        <p:spPr>
          <a:xfrm>
            <a:off x="2371050" y="317007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7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83" name="Google Shape;1283;p7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84" name="Google Shape;1284;p7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285" name="Google Shape;1285;p74"/>
          <p:cNvSpPr txBox="1"/>
          <p:nvPr/>
        </p:nvSpPr>
        <p:spPr>
          <a:xfrm>
            <a:off x="256650" y="972850"/>
            <a:ext cx="8428500" cy="1237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19 person voting system using encoder(s) and decoder(s) and parallel adder(s). You can not use full adders. Meaning, for the inputs, you MUST use encoder(s) and decoder(s) as required. Make sure your circuit is optimized.</a:t>
            </a:r>
            <a:endParaRPr sz="1900">
              <a:solidFill>
                <a:schemeClr val="dk1"/>
              </a:solidFill>
              <a:latin typeface="Lexend"/>
              <a:ea typeface="Lexend"/>
              <a:cs typeface="Lexend"/>
              <a:sym typeface="Lexend"/>
            </a:endParaRPr>
          </a:p>
        </p:txBody>
      </p:sp>
      <p:grpSp>
        <p:nvGrpSpPr>
          <p:cNvPr id="1286" name="Google Shape;1286;p74"/>
          <p:cNvGrpSpPr/>
          <p:nvPr/>
        </p:nvGrpSpPr>
        <p:grpSpPr>
          <a:xfrm>
            <a:off x="50480" y="122879"/>
            <a:ext cx="277873" cy="68400"/>
            <a:chOff x="411700" y="2416840"/>
            <a:chExt cx="277873" cy="68400"/>
          </a:xfrm>
        </p:grpSpPr>
        <p:sp>
          <p:nvSpPr>
            <p:cNvPr id="1287" name="Google Shape;1287;p7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8" name="Google Shape;1288;p7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9" name="Google Shape;1289;p7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90" name="Google Shape;1290;p74"/>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Try Yourself</a:t>
            </a:r>
            <a:r>
              <a:rPr lang="en" sz="4400">
                <a:solidFill>
                  <a:schemeClr val="dk1"/>
                </a:solidFill>
                <a:latin typeface="Calibri"/>
                <a:ea typeface="Calibri"/>
                <a:cs typeface="Calibri"/>
                <a:sym typeface="Calibri"/>
              </a:rPr>
              <a:t>!</a:t>
            </a:r>
            <a:endParaRPr sz="4400">
              <a:solidFill>
                <a:schemeClr val="dk1"/>
              </a:solidFill>
              <a:latin typeface="Calibri"/>
              <a:ea typeface="Calibri"/>
              <a:cs typeface="Calibri"/>
              <a:sym typeface="Calibri"/>
            </a:endParaRPr>
          </a:p>
        </p:txBody>
      </p:sp>
      <p:sp>
        <p:nvSpPr>
          <p:cNvPr id="1291" name="Google Shape;1291;p7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92" name="Google Shape;1292;p7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